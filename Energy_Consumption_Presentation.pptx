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Household Electric Power</a:t>
            </a:r>
            <a:br/>
            <a:r>
              <a:t>Consumption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C7293"/>
                </a:solidFill>
              </a:defRPr>
            </a:pPr>
            <a:r>
              <a:t>Predictive Analysis Using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2F2F2"/>
                </a:solidFill>
              </a:defRPr>
            </a:pPr>
            <a:r>
              <a:t>Data Science Project | Energy Sector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C7293"/>
                </a:solidFill>
              </a:defRPr>
            </a:pPr>
            <a:r>
              <a:t>Business Context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Optimize household energy consumption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Predict electricity usage patterns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Enable smart grid management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Support renewable energy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C7293"/>
                </a:solidFill>
              </a:defRPr>
            </a:pPr>
            <a:r>
              <a:t>Project Objectives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Analyze consumption patterns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Develop predictive models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Compare ML algorithms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Identify key features</a:t>
            </a:r>
          </a:p>
          <a:p>
            <a:pPr>
              <a:spcAft>
                <a:spcPts val="800"/>
              </a:spcAft>
              <a:defRPr sz="1400">
                <a:solidFill>
                  <a:srgbClr val="363636"/>
                </a:solidFill>
              </a:defRPr>
            </a:pPr>
            <a:r>
              <a:t>• Provide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Dataset Description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828800" cy="10972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Observations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1828800" cy="10972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011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371600"/>
            <a:ext cx="1828800" cy="10972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554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Sampling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371600"/>
            <a:ext cx="1828800" cy="10972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554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011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Time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5A82"/>
                </a:solidFill>
              </a:defRPr>
            </a:pPr>
            <a:r>
              <a:t>Key Variables</a:t>
            </a:r>
          </a:p>
          <a:p>
            <a:pPr>
              <a:spcAft>
                <a:spcPts val="600"/>
              </a:spcAft>
              <a:defRPr sz="1400">
                <a:solidFill>
                  <a:srgbClr val="363636"/>
                </a:solidFill>
              </a:defRPr>
            </a:pPr>
            <a:r>
              <a:t>• Global Active Power (kW) - Target variable</a:t>
            </a:r>
          </a:p>
          <a:p>
            <a:pPr>
              <a:spcAft>
                <a:spcPts val="600"/>
              </a:spcAft>
              <a:defRPr sz="1400">
                <a:solidFill>
                  <a:srgbClr val="363636"/>
                </a:solidFill>
              </a:defRPr>
            </a:pPr>
            <a:r>
              <a:t>• Global Intensity (A) - Current measurement</a:t>
            </a:r>
          </a:p>
          <a:p>
            <a:pPr>
              <a:spcAft>
                <a:spcPts val="600"/>
              </a:spcAft>
              <a:defRPr sz="1400">
                <a:solidFill>
                  <a:srgbClr val="363636"/>
                </a:solidFill>
              </a:defRPr>
            </a:pPr>
            <a:r>
              <a:t>• Voltage (V) - Electrical tension</a:t>
            </a:r>
          </a:p>
          <a:p>
            <a:pPr>
              <a:spcAft>
                <a:spcPts val="600"/>
              </a:spcAft>
              <a:defRPr sz="1400">
                <a:solidFill>
                  <a:srgbClr val="363636"/>
                </a:solidFill>
              </a:defRPr>
            </a:pPr>
            <a:r>
              <a:t>• Sub-metering 1, 2, 3 - Kitchen, Laundry, Climate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Methodology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8872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Data Collection &amp; Cleaning</a:t>
            </a:r>
          </a:p>
          <a:p>
            <a:pPr>
              <a:defRPr sz="1200">
                <a:solidFill>
                  <a:srgbClr val="363636"/>
                </a:solidFill>
              </a:defRPr>
            </a:pPr>
            <a:r>
              <a:t>UCI ML Repository, handling missing values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Feature Engineering</a:t>
            </a:r>
          </a:p>
          <a:p>
            <a:pPr>
              <a:defRPr sz="1200">
                <a:solidFill>
                  <a:srgbClr val="363636"/>
                </a:solidFill>
              </a:defRPr>
            </a:pPr>
            <a:r>
              <a:t>Temporal features, derived variables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60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Exploratory Analysis</a:t>
            </a:r>
          </a:p>
          <a:p>
            <a:pPr>
              <a:defRPr sz="1200">
                <a:solidFill>
                  <a:srgbClr val="363636"/>
                </a:solidFill>
              </a:defRPr>
            </a:pPr>
            <a:r>
              <a:t>Patterns, correlations, distributions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383279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7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39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Model Development</a:t>
            </a:r>
          </a:p>
          <a:p>
            <a:pPr>
              <a:defRPr sz="1200">
                <a:solidFill>
                  <a:srgbClr val="363636"/>
                </a:solidFill>
              </a:defRPr>
            </a:pPr>
            <a:r>
              <a:t>3 ML algorithms, cross-validation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14799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1479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59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Evaluation &amp; Insights</a:t>
            </a:r>
          </a:p>
          <a:p>
            <a:pPr>
              <a:defRPr sz="1200">
                <a:solidFill>
                  <a:srgbClr val="363636"/>
                </a:solidFill>
              </a:defRPr>
            </a:pPr>
            <a:r>
              <a:t>Performance metrics,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Machine Learning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2560320" cy="27432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5A82"/>
                </a:solidFill>
              </a:defRPr>
            </a:pPr>
            <a:r>
              <a:t>Linear</a:t>
            </a:r>
            <a:br/>
            <a:r>
              <a:t>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011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363636"/>
                </a:solidFill>
              </a:defRPr>
            </a:pPr>
            <a:r>
              <a:t>• Baseline model</a:t>
            </a:r>
          </a:p>
          <a:p>
            <a:pPr>
              <a:spcAft>
                <a:spcPts val="400"/>
              </a:spcAft>
              <a:defRPr sz="1100">
                <a:solidFill>
                  <a:srgbClr val="363636"/>
                </a:solidFill>
              </a:defRPr>
            </a:pPr>
            <a:r>
              <a:t>• Interpretable</a:t>
            </a:r>
          </a:p>
          <a:p>
            <a:pPr>
              <a:spcAft>
                <a:spcPts val="400"/>
              </a:spcAft>
              <a:defRPr sz="1100">
                <a:solidFill>
                  <a:srgbClr val="363636"/>
                </a:solidFill>
              </a:defRPr>
            </a:pPr>
            <a:r>
              <a:t>• Fast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188720"/>
            <a:ext cx="2560320" cy="27432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5A82"/>
                </a:solidFill>
              </a:defRPr>
            </a:pPr>
            <a:r>
              <a:t>Random</a:t>
            </a:r>
            <a:br/>
            <a:r>
              <a:t>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377440"/>
            <a:ext cx="2011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363636"/>
                </a:solidFill>
              </a:defRPr>
            </a:pPr>
            <a:r>
              <a:t>• Non-linear patterns</a:t>
            </a:r>
          </a:p>
          <a:p>
            <a:pPr>
              <a:spcAft>
                <a:spcPts val="400"/>
              </a:spcAft>
              <a:defRPr sz="1100">
                <a:solidFill>
                  <a:srgbClr val="363636"/>
                </a:solidFill>
              </a:defRPr>
            </a:pPr>
            <a:r>
              <a:t>• Feature importance</a:t>
            </a:r>
          </a:p>
          <a:p>
            <a:pPr>
              <a:spcAft>
                <a:spcPts val="400"/>
              </a:spcAft>
              <a:defRPr sz="1100">
                <a:solidFill>
                  <a:srgbClr val="363636"/>
                </a:solidFill>
              </a:defRPr>
            </a:pPr>
            <a:r>
              <a:t>• Ensemble method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188720"/>
            <a:ext cx="2560320" cy="27432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5A82"/>
                </a:solidFill>
              </a:defRPr>
            </a:pPr>
            <a:r>
              <a:t>Gradient</a:t>
            </a:r>
            <a:br/>
            <a:r>
              <a:t>Boosting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377440"/>
            <a:ext cx="2011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363636"/>
                </a:solidFill>
              </a:defRPr>
            </a:pPr>
            <a:r>
              <a:t>• Sequential learning</a:t>
            </a:r>
          </a:p>
          <a:p>
            <a:pPr>
              <a:spcAft>
                <a:spcPts val="400"/>
              </a:spcAft>
              <a:defRPr sz="1100">
                <a:solidFill>
                  <a:srgbClr val="363636"/>
                </a:solidFill>
              </a:defRPr>
            </a:pPr>
            <a:r>
              <a:t>• High accuracy</a:t>
            </a:r>
          </a:p>
          <a:p>
            <a:pPr>
              <a:spcAft>
                <a:spcPts val="400"/>
              </a:spcAft>
              <a:defRPr sz="1100">
                <a:solidFill>
                  <a:srgbClr val="363636"/>
                </a:solidFill>
              </a:defRPr>
            </a:pPr>
            <a:r>
              <a:t>• Complex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63636"/>
                </a:solidFill>
              </a:defRPr>
            </a:pPr>
            <a:r>
              <a:t>Problem Type: Regression | Target: Global Active Power (kW) | Split: 80/20 Train/Test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Model Performance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28600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21031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371600"/>
            <a:ext cx="182880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1463040"/>
            <a:ext cx="16459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RMSE (kW)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371600"/>
            <a:ext cx="182880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59" y="1463040"/>
            <a:ext cx="16459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MAE (kW)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371600"/>
            <a:ext cx="182880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1463040"/>
            <a:ext cx="16459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R²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21031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C7293"/>
                </a:solidFill>
              </a:defRPr>
            </a:pPr>
            <a:r>
              <a:t>Linear Regression 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920240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011680"/>
            <a:ext cx="16459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1.93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920240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59" y="2011680"/>
            <a:ext cx="16459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1.57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920240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2011680"/>
            <a:ext cx="16459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-0.004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468880"/>
            <a:ext cx="22860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560320"/>
            <a:ext cx="21031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363636"/>
                </a:solidFill>
              </a:defRPr>
            </a:pPr>
            <a:r>
              <a:t>Random Forest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468880"/>
            <a:ext cx="18288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560320"/>
            <a:ext cx="16459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1.94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2468880"/>
            <a:ext cx="18288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59" y="2560320"/>
            <a:ext cx="16459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1.58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468880"/>
            <a:ext cx="18288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59" y="2560320"/>
            <a:ext cx="16459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-0.014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0175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108960"/>
            <a:ext cx="21031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363636"/>
                </a:solidFill>
              </a:defRPr>
            </a:pPr>
            <a:r>
              <a:t>Gradient Boosting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3017520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3108960"/>
            <a:ext cx="16459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1.95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3017520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59" y="3108960"/>
            <a:ext cx="16459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1.59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3017520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59" y="3108960"/>
            <a:ext cx="164592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63636"/>
                </a:solidFill>
              </a:defRPr>
            </a:pPr>
            <a:r>
              <a:t>-0.022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65A82"/>
                </a:solidFill>
              </a:defRPr>
            </a:pPr>
            <a:r>
              <a:t>Key Insights</a:t>
            </a:r>
          </a:p>
          <a:p>
            <a:pPr>
              <a:spcAft>
                <a:spcPts val="400"/>
              </a:spcAft>
              <a:defRPr sz="1100">
                <a:solidFill>
                  <a:srgbClr val="363636"/>
                </a:solidFill>
              </a:defRPr>
            </a:pPr>
            <a:r>
              <a:t>• Linear Regression achieved best performance (lowest RMSE &amp; MAE)</a:t>
            </a:r>
          </a:p>
          <a:p>
            <a:pPr>
              <a:spcAft>
                <a:spcPts val="400"/>
              </a:spcAft>
              <a:defRPr sz="1100">
                <a:solidFill>
                  <a:srgbClr val="363636"/>
                </a:solidFill>
              </a:defRPr>
            </a:pPr>
            <a:r>
              <a:t>• Similar performance across models indicates linear relationships dominate</a:t>
            </a:r>
          </a:p>
          <a:p>
            <a:pPr>
              <a:spcAft>
                <a:spcPts val="400"/>
              </a:spcAft>
              <a:defRPr sz="1100">
                <a:solidFill>
                  <a:srgbClr val="363636"/>
                </a:solidFill>
              </a:defRPr>
            </a:pPr>
            <a:r>
              <a:t>• Minute-level predictions challenging due to high temporal variability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Feature Importance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363636"/>
                </a:solidFill>
              </a:defRPr>
            </a:pPr>
            <a:r>
              <a:t>Global_intensity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234440"/>
            <a:ext cx="440055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92390" y="11887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17.5%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363636"/>
                </a:solidFill>
              </a:defRPr>
            </a:pPr>
            <a:r>
              <a:t>Global_reactive_power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28800"/>
            <a:ext cx="3621024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12864" y="1783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14.4%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363636"/>
                </a:solidFill>
              </a:defRPr>
            </a:pPr>
            <a:r>
              <a:t>Voltage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423160"/>
            <a:ext cx="3419856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23774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13.6%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363636"/>
                </a:solidFill>
              </a:defRPr>
            </a:pPr>
            <a:r>
              <a:t>Voltage_Deviation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017520"/>
            <a:ext cx="3218688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7" y="2971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12.8%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66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363636"/>
                </a:solidFill>
              </a:defRPr>
            </a:pPr>
            <a:r>
              <a:t>Hour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611880"/>
            <a:ext cx="2212848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4688" y="3566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8.8%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363636"/>
                </a:solidFill>
              </a:defRPr>
            </a:pPr>
            <a:r>
              <a:t>Total_SubMetering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4206240"/>
            <a:ext cx="188595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7790" y="41605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5A82"/>
                </a:solidFill>
              </a:defRPr>
            </a:pPr>
            <a:r>
              <a:t>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63636"/>
                </a:solidFill>
              </a:defRPr>
            </a:pPr>
            <a:r>
              <a:rPr b="1"/>
              <a:t>Interpretation: </a:t>
            </a:r>
            <a:r>
              <a:t>Global_intensity is the strongest predictor (17.5%), confirming the physical relationship P = V × I. Voltage-related features account for 26.4% combined importance. Temporal patterns (Hour) contribute significantly at 8.8%.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Key Insights &amp;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2560320" cy="3200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560320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Temporal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000">
                <a:solidFill>
                  <a:srgbClr val="363636"/>
                </a:solidFill>
              </a:defRPr>
            </a:pPr>
            <a:r>
              <a:t>• Peak consumption: 18:00-22:00 (evening)</a:t>
            </a:r>
          </a:p>
          <a:p>
            <a:pPr>
              <a:spcAft>
                <a:spcPts val="600"/>
              </a:spcAft>
              <a:defRPr sz="1000">
                <a:solidFill>
                  <a:srgbClr val="363636"/>
                </a:solidFill>
              </a:defRPr>
            </a:pPr>
            <a:r>
              <a:t>• Morning spike: 7:00-9:00</a:t>
            </a:r>
          </a:p>
          <a:p>
            <a:pPr>
              <a:spcAft>
                <a:spcPts val="600"/>
              </a:spcAft>
              <a:defRPr sz="1000">
                <a:solidFill>
                  <a:srgbClr val="363636"/>
                </a:solidFill>
              </a:defRPr>
            </a:pPr>
            <a:r>
              <a:t>• Minimal usage: 0:00-6:00 (night)</a:t>
            </a:r>
          </a:p>
          <a:p>
            <a:pPr>
              <a:spcAft>
                <a:spcPts val="600"/>
              </a:spcAft>
              <a:defRPr sz="1000">
                <a:solidFill>
                  <a:srgbClr val="363636"/>
                </a:solidFill>
              </a:defRPr>
            </a:pPr>
            <a:r>
              <a:t>• Weekend vs weekday differences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59" y="1097280"/>
            <a:ext cx="2560320" cy="3200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59" y="1097280"/>
            <a:ext cx="2560320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Consumption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8288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000">
                <a:solidFill>
                  <a:srgbClr val="363636"/>
                </a:solidFill>
              </a:defRPr>
            </a:pPr>
            <a:r>
              <a:t>• Mean: 3.53 kW</a:t>
            </a:r>
          </a:p>
          <a:p>
            <a:pPr>
              <a:spcAft>
                <a:spcPts val="600"/>
              </a:spcAft>
              <a:defRPr sz="1000">
                <a:solidFill>
                  <a:srgbClr val="363636"/>
                </a:solidFill>
              </a:defRPr>
            </a:pPr>
            <a:r>
              <a:t>• Median: 3.49 kW</a:t>
            </a:r>
          </a:p>
          <a:p>
            <a:pPr>
              <a:spcAft>
                <a:spcPts val="600"/>
              </a:spcAft>
              <a:defRPr sz="1000">
                <a:solidFill>
                  <a:srgbClr val="363636"/>
                </a:solidFill>
              </a:defRPr>
            </a:pPr>
            <a:r>
              <a:t>• Range: 0.10 - 11.00 kW</a:t>
            </a:r>
          </a:p>
          <a:p>
            <a:pPr>
              <a:spcAft>
                <a:spcPts val="600"/>
              </a:spcAft>
              <a:defRPr sz="1000">
                <a:solidFill>
                  <a:srgbClr val="363636"/>
                </a:solidFill>
              </a:defRPr>
            </a:pPr>
            <a:r>
              <a:t>• Right-skewed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097280"/>
            <a:ext cx="2560320" cy="3200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097280"/>
            <a:ext cx="2560320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188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Feature Correlations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000">
                <a:solidFill>
                  <a:srgbClr val="363636"/>
                </a:solidFill>
              </a:defRPr>
            </a:pPr>
            <a:r>
              <a:t>• Strong: Global_intensity ↔ Active_power</a:t>
            </a:r>
          </a:p>
          <a:p>
            <a:pPr>
              <a:spcAft>
                <a:spcPts val="600"/>
              </a:spcAft>
              <a:defRPr sz="1000">
                <a:solidFill>
                  <a:srgbClr val="363636"/>
                </a:solidFill>
              </a:defRPr>
            </a:pPr>
            <a:r>
              <a:t>• Climate control = largest sub-system</a:t>
            </a:r>
          </a:p>
          <a:p>
            <a:pPr>
              <a:spcAft>
                <a:spcPts val="600"/>
              </a:spcAft>
              <a:defRPr sz="1000">
                <a:solidFill>
                  <a:srgbClr val="363636"/>
                </a:solidFill>
              </a:defRPr>
            </a:pPr>
            <a:r>
              <a:t>• Voltage stability impacts consumption</a:t>
            </a:r>
          </a:p>
          <a:p>
            <a:pPr>
              <a:spcAft>
                <a:spcPts val="600"/>
              </a:spcAft>
              <a:defRPr sz="1000">
                <a:solidFill>
                  <a:srgbClr val="363636"/>
                </a:solidFill>
              </a:defRPr>
            </a:pPr>
            <a:r>
              <a:t>• Sub-metering crucial for predictions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C7293"/>
                </a:solidFill>
              </a:defRPr>
            </a:pPr>
            <a:r>
              <a:t>Technical Improvements</a:t>
            </a:r>
          </a:p>
          <a:p>
            <a:pPr>
              <a:spcAft>
                <a:spcPts val="800"/>
              </a:spcAft>
              <a:defRPr sz="1300">
                <a:solidFill>
                  <a:srgbClr val="363636"/>
                </a:solidFill>
              </a:defRPr>
            </a:pPr>
            <a:r>
              <a:t>• Aggregate to hourly/daily predictions</a:t>
            </a:r>
          </a:p>
          <a:p>
            <a:pPr>
              <a:spcAft>
                <a:spcPts val="800"/>
              </a:spcAft>
              <a:defRPr sz="1300">
                <a:solidFill>
                  <a:srgbClr val="363636"/>
                </a:solidFill>
              </a:defRPr>
            </a:pPr>
            <a:r>
              <a:t>• Incorporate weather &amp; occupancy data</a:t>
            </a:r>
          </a:p>
          <a:p>
            <a:pPr>
              <a:spcAft>
                <a:spcPts val="800"/>
              </a:spcAft>
              <a:defRPr sz="1300">
                <a:solidFill>
                  <a:srgbClr val="363636"/>
                </a:solidFill>
              </a:defRPr>
            </a:pPr>
            <a:r>
              <a:t>• Implement time-series models (LSTM)</a:t>
            </a:r>
          </a:p>
          <a:p>
            <a:pPr>
              <a:spcAft>
                <a:spcPts val="800"/>
              </a:spcAft>
              <a:defRPr sz="1300">
                <a:solidFill>
                  <a:srgbClr val="363636"/>
                </a:solidFill>
              </a:defRPr>
            </a:pPr>
            <a:r>
              <a:t>• Expand to multi-household dataset</a:t>
            </a:r>
          </a:p>
          <a:p>
            <a:pPr>
              <a:spcAft>
                <a:spcPts val="800"/>
              </a:spcAft>
              <a:defRPr sz="1300">
                <a:solidFill>
                  <a:srgbClr val="363636"/>
                </a:solidFill>
              </a:defRPr>
            </a:pPr>
            <a:r>
              <a:t>• Apply ensemble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C7293"/>
                </a:solidFill>
              </a:defRPr>
            </a:pPr>
            <a:r>
              <a:t>Business Actions</a:t>
            </a:r>
          </a:p>
          <a:p>
            <a:pPr>
              <a:spcAft>
                <a:spcPts val="800"/>
              </a:spcAft>
              <a:defRPr sz="1300">
                <a:solidFill>
                  <a:srgbClr val="363636"/>
                </a:solidFill>
              </a:defRPr>
            </a:pPr>
            <a:r>
              <a:t>• Real-time monitoring for peak hours</a:t>
            </a:r>
          </a:p>
          <a:p>
            <a:pPr>
              <a:spcAft>
                <a:spcPts val="800"/>
              </a:spcAft>
              <a:defRPr sz="1300">
                <a:solidFill>
                  <a:srgbClr val="363636"/>
                </a:solidFill>
              </a:defRPr>
            </a:pPr>
            <a:r>
              <a:t>• Smart load shifting automation</a:t>
            </a:r>
          </a:p>
          <a:p>
            <a:pPr>
              <a:spcAft>
                <a:spcPts val="800"/>
              </a:spcAft>
              <a:defRPr sz="1300">
                <a:solidFill>
                  <a:srgbClr val="363636"/>
                </a:solidFill>
              </a:defRPr>
            </a:pPr>
            <a:r>
              <a:t>• Consumer feedback mechanisms</a:t>
            </a:r>
          </a:p>
          <a:p>
            <a:pPr>
              <a:spcAft>
                <a:spcPts val="800"/>
              </a:spcAft>
              <a:defRPr sz="1300">
                <a:solidFill>
                  <a:srgbClr val="363636"/>
                </a:solidFill>
              </a:defRPr>
            </a:pPr>
            <a:r>
              <a:t>• Focus on climate control efficiency</a:t>
            </a:r>
          </a:p>
          <a:p>
            <a:pPr>
              <a:spcAft>
                <a:spcPts val="800"/>
              </a:spcAft>
              <a:defRPr sz="1300">
                <a:solidFill>
                  <a:srgbClr val="363636"/>
                </a:solidFill>
              </a:defRPr>
            </a:pPr>
            <a:r>
              <a:t>• Time-of-use pricing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✓ Successfully developed predictive models for household energy consumption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✓ Linear Regression achieved best performance with 1.93 kW RMSE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✓ Identified key drivers: Global_intensity, voltage stability, temporal patterns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✓ Demonstrated complete data science workflow from EDA to recommendations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✓ Provided actionable insights for energy optimization and smart grid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C7293"/>
                </a:solidFill>
              </a:defRPr>
            </a:pPr>
            <a:r>
              <a:t>Thank you |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