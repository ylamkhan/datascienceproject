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0" r:id="rId23"/>
    <p:sldId id="277" r:id="rId24"/>
    <p:sldId id="278" r:id="rId25"/>
    <p:sldId id="28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A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89831" autoAdjust="0"/>
  </p:normalViewPr>
  <p:slideViewPr>
    <p:cSldViewPr snapToGrid="0" snapToObjects="1">
      <p:cViewPr varScale="1">
        <p:scale>
          <a:sx n="99" d="100"/>
          <a:sy n="99" d="100"/>
        </p:scale>
        <p:origin x="46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07B07-2C59-4B7F-B014-A7C1F1DEF2DC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F9F8C-C2F0-47BE-869B-A56261F7714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530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4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7468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278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037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8900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90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00187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45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6590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796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0278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60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30982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810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686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1512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4253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99240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7555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30143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Youssef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51198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8430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37328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0440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9905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6274C-2624-4B13-811C-EFB085CCF3EF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61260-BAD4-4847-8E7D-0379CF53B020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1C9F4-2B18-46D4-8F3B-E77EFFCAD3EA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15A3C-9776-463D-A332-A8A70B8D76BF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3EC8-06A0-4213-9614-0D62C459D808}" type="datetime1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55F93-0982-48EE-AD53-201E7E1563F7}" type="datetime1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DDA1F-E858-4086-9D09-77E99A3BDA63}" type="datetime1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0094A-DB6B-491B-AE74-BF72E06B4F8F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CE1A-1371-4799-8192-7F4692E49A7A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21BD-A266-4643-8A00-A07ACDC90931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B6238-3A0E-4865-AC95-269FDB4AE8BC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882518-A012-45B3-9A1F-D1E283A43FAF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9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7" Type="http://schemas.openxmlformats.org/officeDocument/2006/relationships/image" Target="../media/image4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9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jp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jpg"/><Relationship Id="rId5" Type="http://schemas.openxmlformats.org/officeDocument/2006/relationships/image" Target="../media/image81.jpg"/><Relationship Id="rId4" Type="http://schemas.openxmlformats.org/officeDocument/2006/relationships/image" Target="../media/image80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jpg"/><Relationship Id="rId5" Type="http://schemas.openxmlformats.org/officeDocument/2006/relationships/image" Target="../media/image57.png"/><Relationship Id="rId4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858153" y="-1609724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1047" y="2685161"/>
            <a:ext cx="200019" cy="228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 rot="5400000">
            <a:off x="3208209" y="2890087"/>
            <a:ext cx="76198" cy="266700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50604" y="1680446"/>
            <a:ext cx="6251968" cy="21734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820"/>
              </a:spcAft>
            </a:pPr>
            <a:r>
              <a:rPr sz="3468" b="1" dirty="0" err="1">
                <a:solidFill>
                  <a:srgbClr val="212121"/>
                </a:solidFill>
                <a:latin typeface="Montserrat"/>
              </a:rPr>
              <a:t>Prédiction</a:t>
            </a:r>
            <a:r>
              <a:rPr sz="3468" b="1" dirty="0">
                <a:solidFill>
                  <a:srgbClr val="212121"/>
                </a:solidFill>
                <a:latin typeface="Montserrat"/>
              </a:rPr>
              <a:t> de la</a:t>
            </a:r>
            <a:r>
              <a:rPr sz="1104" dirty="0"/>
              <a:t>
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Consommation</a:t>
            </a:r>
            <a:r>
              <a:rPr sz="3468" b="1" dirty="0">
                <a:solidFill>
                  <a:srgbClr val="42A5F5"/>
                </a:solidFill>
                <a:latin typeface="Montserrat"/>
              </a:rPr>
              <a:t> 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Électrique</a:t>
            </a:r>
            <a:r>
              <a:rPr sz="1104" dirty="0"/>
              <a:t>
</a:t>
            </a:r>
            <a:r>
              <a:rPr sz="3468" b="1" dirty="0" err="1">
                <a:solidFill>
                  <a:srgbClr val="212121"/>
                </a:solidFill>
                <a:latin typeface="Montserrat"/>
              </a:rPr>
              <a:t>Journalière</a:t>
            </a:r>
            <a:endParaRPr sz="3468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50604" y="3769762"/>
            <a:ext cx="8705632" cy="35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0"/>
              </a:spcAft>
            </a:pPr>
            <a:r>
              <a:rPr sz="1435" b="0" dirty="0" err="1">
                <a:solidFill>
                  <a:srgbClr val="757575"/>
                </a:solidFill>
                <a:latin typeface="Roboto Slab"/>
              </a:rPr>
              <a:t>Approche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par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: Random Forest, Gradient Boosting,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Linéaire</a:t>
            </a:r>
            <a:endParaRPr sz="1435" b="0" dirty="0">
              <a:solidFill>
                <a:srgbClr val="757575"/>
              </a:solidFill>
              <a:latin typeface="Roboto Slab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479748"/>
            <a:ext cx="123821" cy="1428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016" y="5406018"/>
            <a:ext cx="1143198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AZZA Imane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484106"/>
            <a:ext cx="142871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1761" y="5410376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494266"/>
            <a:ext cx="104772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30762" y="5420536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9" name="Picture 9" descr="image.png">
            <a:extLst>
              <a:ext uri="{FF2B5EF4-FFF2-40B4-BE49-F238E27FC236}">
                <a16:creationId xmlns:a16="http://schemas.microsoft.com/office/drawing/2014/main" id="{6BE18F11-DDF8-FFD8-30FA-EDA73EC8484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741685"/>
            <a:ext cx="123821" cy="142875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8F21C5E2-5765-C028-732B-0BC15DB83625}"/>
              </a:ext>
            </a:extLst>
          </p:cNvPr>
          <p:cNvSpPr txBox="1"/>
          <p:nvPr/>
        </p:nvSpPr>
        <p:spPr>
          <a:xfrm>
            <a:off x="821016" y="5667955"/>
            <a:ext cx="199118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LAMKHANTAR Youssef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22" name="Picture 12" descr="image.png">
            <a:extLst>
              <a:ext uri="{FF2B5EF4-FFF2-40B4-BE49-F238E27FC236}">
                <a16:creationId xmlns:a16="http://schemas.microsoft.com/office/drawing/2014/main" id="{9F6EFE4D-1720-1B40-8F42-F9B9C5431EB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746043"/>
            <a:ext cx="142871" cy="142875"/>
          </a:xfrm>
          <a:prstGeom prst="rect">
            <a:avLst/>
          </a:prstGeom>
        </p:spPr>
      </p:pic>
      <p:sp>
        <p:nvSpPr>
          <p:cNvPr id="23" name="TextBox 13">
            <a:extLst>
              <a:ext uri="{FF2B5EF4-FFF2-40B4-BE49-F238E27FC236}">
                <a16:creationId xmlns:a16="http://schemas.microsoft.com/office/drawing/2014/main" id="{198DEE7C-D8D6-497F-B647-3B9737DDD1A3}"/>
              </a:ext>
            </a:extLst>
          </p:cNvPr>
          <p:cNvSpPr txBox="1"/>
          <p:nvPr/>
        </p:nvSpPr>
        <p:spPr>
          <a:xfrm>
            <a:off x="3381761" y="5672313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25" name="Picture 15" descr="image.png">
            <a:extLst>
              <a:ext uri="{FF2B5EF4-FFF2-40B4-BE49-F238E27FC236}">
                <a16:creationId xmlns:a16="http://schemas.microsoft.com/office/drawing/2014/main" id="{7A6FA493-8D99-9457-804F-6304D78075E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756203"/>
            <a:ext cx="104772" cy="142875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71271453-9BBA-8F17-DD15-C3C403FED572}"/>
              </a:ext>
            </a:extLst>
          </p:cNvPr>
          <p:cNvSpPr txBox="1"/>
          <p:nvPr/>
        </p:nvSpPr>
        <p:spPr>
          <a:xfrm>
            <a:off x="5730762" y="5682473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27" name="Picture 9" descr="image.png">
            <a:extLst>
              <a:ext uri="{FF2B5EF4-FFF2-40B4-BE49-F238E27FC236}">
                <a16:creationId xmlns:a16="http://schemas.microsoft.com/office/drawing/2014/main" id="{67EC8201-A854-879D-3DE9-304F1E0E0B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986462"/>
            <a:ext cx="123821" cy="142875"/>
          </a:xfrm>
          <a:prstGeom prst="rect">
            <a:avLst/>
          </a:prstGeom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70A26E4B-8CF9-345F-2E58-7BB865C3F250}"/>
              </a:ext>
            </a:extLst>
          </p:cNvPr>
          <p:cNvSpPr txBox="1"/>
          <p:nvPr/>
        </p:nvSpPr>
        <p:spPr>
          <a:xfrm>
            <a:off x="821016" y="5912732"/>
            <a:ext cx="196874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MANI Mohammed Adil</a:t>
            </a:r>
          </a:p>
        </p:txBody>
      </p:sp>
      <p:pic>
        <p:nvPicPr>
          <p:cNvPr id="30" name="Picture 12" descr="image.png">
            <a:extLst>
              <a:ext uri="{FF2B5EF4-FFF2-40B4-BE49-F238E27FC236}">
                <a16:creationId xmlns:a16="http://schemas.microsoft.com/office/drawing/2014/main" id="{0AB20BE5-1366-A9D1-C635-D6DAADD1711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990820"/>
            <a:ext cx="142871" cy="142875"/>
          </a:xfrm>
          <a:prstGeom prst="rect">
            <a:avLst/>
          </a:prstGeom>
        </p:spPr>
      </p:pic>
      <p:sp>
        <p:nvSpPr>
          <p:cNvPr id="31" name="TextBox 13">
            <a:extLst>
              <a:ext uri="{FF2B5EF4-FFF2-40B4-BE49-F238E27FC236}">
                <a16:creationId xmlns:a16="http://schemas.microsoft.com/office/drawing/2014/main" id="{6E9EFE2D-7432-E1D7-8A47-2D864B52766B}"/>
              </a:ext>
            </a:extLst>
          </p:cNvPr>
          <p:cNvSpPr txBox="1"/>
          <p:nvPr/>
        </p:nvSpPr>
        <p:spPr>
          <a:xfrm>
            <a:off x="3381761" y="5917090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33" name="Picture 15" descr="image.png">
            <a:extLst>
              <a:ext uri="{FF2B5EF4-FFF2-40B4-BE49-F238E27FC236}">
                <a16:creationId xmlns:a16="http://schemas.microsoft.com/office/drawing/2014/main" id="{E185047C-03B0-6BA4-3885-A8D2678AF046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6000980"/>
            <a:ext cx="104772" cy="142875"/>
          </a:xfrm>
          <a:prstGeom prst="rect">
            <a:avLst/>
          </a:prstGeom>
        </p:spPr>
      </p:pic>
      <p:sp>
        <p:nvSpPr>
          <p:cNvPr id="34" name="TextBox 16">
            <a:extLst>
              <a:ext uri="{FF2B5EF4-FFF2-40B4-BE49-F238E27FC236}">
                <a16:creationId xmlns:a16="http://schemas.microsoft.com/office/drawing/2014/main" id="{10856705-4BBB-1318-9B11-EAC13263CE9E}"/>
              </a:ext>
            </a:extLst>
          </p:cNvPr>
          <p:cNvSpPr txBox="1"/>
          <p:nvPr/>
        </p:nvSpPr>
        <p:spPr>
          <a:xfrm>
            <a:off x="5730762" y="5927250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026" name="Picture 2" descr="Aperçu - SupMTI">
            <a:extLst>
              <a:ext uri="{FF2B5EF4-FFF2-40B4-BE49-F238E27FC236}">
                <a16:creationId xmlns:a16="http://schemas.microsoft.com/office/drawing/2014/main" id="{7C790388-CA73-09BB-0296-0B7B9DD3A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557" y="290056"/>
            <a:ext cx="1973460" cy="105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D2AE3A84-28BF-896C-7BC7-3B8B949A146D}"/>
              </a:ext>
            </a:extLst>
          </p:cNvPr>
          <p:cNvSpPr txBox="1"/>
          <p:nvPr/>
        </p:nvSpPr>
        <p:spPr>
          <a:xfrm>
            <a:off x="9501905" y="6150840"/>
            <a:ext cx="2690095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Année Universitaire : 2025/2026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B0EB4C3A-A21E-63C8-9385-F035AF485BE4}"/>
              </a:ext>
            </a:extLst>
          </p:cNvPr>
          <p:cNvSpPr txBox="1"/>
          <p:nvPr/>
        </p:nvSpPr>
        <p:spPr>
          <a:xfrm>
            <a:off x="539042" y="4927024"/>
            <a:ext cx="1407693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Présentée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138618A2-4019-890B-22CD-BE18A2A7A862}"/>
              </a:ext>
            </a:extLst>
          </p:cNvPr>
          <p:cNvSpPr txBox="1"/>
          <p:nvPr/>
        </p:nvSpPr>
        <p:spPr>
          <a:xfrm>
            <a:off x="8776486" y="5028167"/>
            <a:ext cx="134517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Encadrée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37" name="Picture 9" descr="image.png">
            <a:extLst>
              <a:ext uri="{FF2B5EF4-FFF2-40B4-BE49-F238E27FC236}">
                <a16:creationId xmlns:a16="http://schemas.microsoft.com/office/drawing/2014/main" id="{62F8AB19-8CE2-C0C4-B2CA-1CC38C04579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18682" y="5553478"/>
            <a:ext cx="123821" cy="142875"/>
          </a:xfrm>
          <a:prstGeom prst="rect">
            <a:avLst/>
          </a:prstGeom>
        </p:spPr>
      </p:pic>
      <p:sp>
        <p:nvSpPr>
          <p:cNvPr id="38" name="TextBox 10">
            <a:extLst>
              <a:ext uri="{FF2B5EF4-FFF2-40B4-BE49-F238E27FC236}">
                <a16:creationId xmlns:a16="http://schemas.microsoft.com/office/drawing/2014/main" id="{74AB6FB3-1BC3-2FFC-C2B6-D289084AC30F}"/>
              </a:ext>
            </a:extLst>
          </p:cNvPr>
          <p:cNvSpPr txBox="1"/>
          <p:nvPr/>
        </p:nvSpPr>
        <p:spPr>
          <a:xfrm>
            <a:off x="9037752" y="5479748"/>
            <a:ext cx="176676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 err="1">
                <a:solidFill>
                  <a:srgbClr val="616161"/>
                </a:solidFill>
                <a:latin typeface="Montserrat"/>
              </a:rPr>
              <a:t>Pr.ELALAMI</a:t>
            </a:r>
            <a:r>
              <a:rPr lang="fr-FR" sz="1200" b="1" dirty="0">
                <a:solidFill>
                  <a:srgbClr val="616161"/>
                </a:solidFill>
                <a:latin typeface="Montserrat"/>
              </a:rPr>
              <a:t> YASSER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9" name="Rounded Rectangle 6">
            <a:extLst>
              <a:ext uri="{FF2B5EF4-FFF2-40B4-BE49-F238E27FC236}">
                <a16:creationId xmlns:a16="http://schemas.microsoft.com/office/drawing/2014/main" id="{A9D02373-72BB-E691-BC61-34B49A1BE5E1}"/>
              </a:ext>
            </a:extLst>
          </p:cNvPr>
          <p:cNvSpPr/>
          <p:nvPr/>
        </p:nvSpPr>
        <p:spPr>
          <a:xfrm rot="5400000">
            <a:off x="937936" y="4880289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6">
            <a:extLst>
              <a:ext uri="{FF2B5EF4-FFF2-40B4-BE49-F238E27FC236}">
                <a16:creationId xmlns:a16="http://schemas.microsoft.com/office/drawing/2014/main" id="{D056D6D3-9883-B264-824D-17C22307DC46}"/>
              </a:ext>
            </a:extLst>
          </p:cNvPr>
          <p:cNvSpPr/>
          <p:nvPr/>
        </p:nvSpPr>
        <p:spPr>
          <a:xfrm rot="5400000">
            <a:off x="9182536" y="5011481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2651624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1485" y="3200400"/>
            <a:ext cx="3047923" cy="533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1950"/>
              </a:spcAft>
            </a:pPr>
            <a:r>
              <a:rPr sz="3348" b="1">
                <a:solidFill>
                  <a:srgbClr val="212121"/>
                </a:solidFill>
                <a:latin typeface="Montserrat"/>
              </a:rPr>
              <a:t>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485" y="4019549"/>
            <a:ext cx="571485" cy="57150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52" y="186055"/>
            <a:ext cx="152396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 amt="5000"/>
          </a:blip>
          <a:stretch>
            <a:fillRect/>
          </a:stretch>
        </p:blipFill>
        <p:spPr>
          <a:xfrm>
            <a:off x="8382096" y="3045100"/>
            <a:ext cx="3809904" cy="3809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78782" y="1716538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4666" y="1567956"/>
            <a:ext cx="150227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4666" y="1821789"/>
            <a:ext cx="154394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Contexte et objectifs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6637" y="4821688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DB6AC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DB6AC"/>
                </a:solidFill>
                <a:latin typeface="Montserrat"/>
              </a:rPr>
              <a:t>5</a:t>
            </a:r>
            <a:endParaRPr sz="32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52522" y="4673106"/>
            <a:ext cx="265162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Modèle 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2522" y="4926939"/>
            <a:ext cx="20264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Premier modèle, DJU, Lag-1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8782" y="2469013"/>
            <a:ext cx="668709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4666" y="2320431"/>
            <a:ext cx="131151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Hypothèse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4666" y="2574266"/>
            <a:ext cx="2781467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dirty="0">
                <a:solidFill>
                  <a:srgbClr val="9E9E9E"/>
                </a:solidFill>
                <a:latin typeface="Montserrat"/>
              </a:rPr>
              <a:t>Relation avec la météo et le calendrier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86637" y="5663674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6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167263" y="5530358"/>
            <a:ext cx="211782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Gradient Boosting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263" y="5784192"/>
            <a:ext cx="19126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Entraînement et résultats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8782" y="3221489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AB47BC"/>
                </a:solidFill>
                <a:latin typeface="Montserra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4666" y="3072905"/>
            <a:ext cx="245445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Collecte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4666" y="3326741"/>
            <a:ext cx="3541290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E9E9E"/>
                </a:solidFill>
                <a:latin typeface="Montserrat"/>
              </a:rPr>
              <a:t>Dataset</a:t>
            </a:r>
            <a:r>
              <a:rPr lang="fr-FR" sz="1200" b="0" dirty="0">
                <a:solidFill>
                  <a:srgbClr val="9E9E9E"/>
                </a:solidFill>
                <a:latin typeface="Montserrat"/>
              </a:rPr>
              <a:t> Consommation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Météo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Jours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fériés</a:t>
            </a:r>
            <a:endParaRPr sz="120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98992" y="1676223"/>
            <a:ext cx="6815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2A5F5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2A5F5"/>
                </a:solidFill>
                <a:latin typeface="Montserrat"/>
              </a:rPr>
              <a:t>7</a:t>
            </a:r>
            <a:endParaRPr sz="32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79618" y="1542905"/>
            <a:ext cx="226850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Régression Linéaire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618" y="1796740"/>
            <a:ext cx="1973554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Comparaison des modèles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8782" y="3983488"/>
            <a:ext cx="708784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DB6AC"/>
                </a:solidFill>
                <a:latin typeface="Montserrat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44666" y="3834905"/>
            <a:ext cx="242239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Analyse des 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44666" y="4079215"/>
            <a:ext cx="162409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Graphes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et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293" y="4025486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9919" y="3892169"/>
            <a:ext cx="1271438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 err="1">
                <a:solidFill>
                  <a:srgbClr val="424242"/>
                </a:solidFill>
                <a:latin typeface="Montserrat"/>
              </a:rPr>
              <a:t>Prédiction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09919" y="4136479"/>
            <a:ext cx="153593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Résultats et erreurs</a:t>
            </a:r>
          </a:p>
        </p:txBody>
      </p:sp>
      <p:sp>
        <p:nvSpPr>
          <p:cNvPr id="43" name="TextBox 33">
            <a:extLst>
              <a:ext uri="{FF2B5EF4-FFF2-40B4-BE49-F238E27FC236}">
                <a16:creationId xmlns:a16="http://schemas.microsoft.com/office/drawing/2014/main" id="{0DBBC0C6-85F5-DBA9-79FC-1D067AE83267}"/>
              </a:ext>
            </a:extLst>
          </p:cNvPr>
          <p:cNvSpPr txBox="1"/>
          <p:nvPr/>
        </p:nvSpPr>
        <p:spPr>
          <a:xfrm>
            <a:off x="8198993" y="2438225"/>
            <a:ext cx="69756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8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44" name="TextBox 34">
            <a:extLst>
              <a:ext uri="{FF2B5EF4-FFF2-40B4-BE49-F238E27FC236}">
                <a16:creationId xmlns:a16="http://schemas.microsoft.com/office/drawing/2014/main" id="{2F6A7F37-C56C-CEAD-2AD1-4EAA3E97C575}"/>
              </a:ext>
            </a:extLst>
          </p:cNvPr>
          <p:cNvSpPr txBox="1"/>
          <p:nvPr/>
        </p:nvSpPr>
        <p:spPr>
          <a:xfrm>
            <a:off x="9079618" y="2304908"/>
            <a:ext cx="157761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Comparaison</a:t>
            </a:r>
          </a:p>
        </p:txBody>
      </p:sp>
      <p:sp>
        <p:nvSpPr>
          <p:cNvPr id="45" name="TextBox 35">
            <a:extLst>
              <a:ext uri="{FF2B5EF4-FFF2-40B4-BE49-F238E27FC236}">
                <a16:creationId xmlns:a16="http://schemas.microsoft.com/office/drawing/2014/main" id="{44EC8FF6-3A07-F0AB-E718-4BF375E51319}"/>
              </a:ext>
            </a:extLst>
          </p:cNvPr>
          <p:cNvSpPr txBox="1"/>
          <p:nvPr/>
        </p:nvSpPr>
        <p:spPr>
          <a:xfrm>
            <a:off x="9079618" y="2549217"/>
            <a:ext cx="18661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Métriques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R², RMSE, MAE</a:t>
            </a:r>
          </a:p>
        </p:txBody>
      </p:sp>
      <p:sp>
        <p:nvSpPr>
          <p:cNvPr id="47" name="TextBox 36">
            <a:extLst>
              <a:ext uri="{FF2B5EF4-FFF2-40B4-BE49-F238E27FC236}">
                <a16:creationId xmlns:a16="http://schemas.microsoft.com/office/drawing/2014/main" id="{39BF449D-582B-95AD-35D4-38A919713B44}"/>
              </a:ext>
            </a:extLst>
          </p:cNvPr>
          <p:cNvSpPr txBox="1"/>
          <p:nvPr/>
        </p:nvSpPr>
        <p:spPr>
          <a:xfrm>
            <a:off x="8304612" y="5475834"/>
            <a:ext cx="550087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2</a:t>
            </a:r>
            <a:endParaRPr sz="3200" b="1" dirty="0">
              <a:solidFill>
                <a:schemeClr val="accent3">
                  <a:lumMod val="75000"/>
                </a:schemeClr>
              </a:solidFill>
              <a:latin typeface="Montserrat"/>
            </a:endParaRPr>
          </a:p>
        </p:txBody>
      </p:sp>
      <p:sp>
        <p:nvSpPr>
          <p:cNvPr id="48" name="TextBox 37">
            <a:extLst>
              <a:ext uri="{FF2B5EF4-FFF2-40B4-BE49-F238E27FC236}">
                <a16:creationId xmlns:a16="http://schemas.microsoft.com/office/drawing/2014/main" id="{8F3EF052-D244-12BE-ED63-3C63FBD53679}"/>
              </a:ext>
            </a:extLst>
          </p:cNvPr>
          <p:cNvSpPr txBox="1"/>
          <p:nvPr/>
        </p:nvSpPr>
        <p:spPr>
          <a:xfrm>
            <a:off x="8864667" y="5468729"/>
            <a:ext cx="1346779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Conclusion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TextBox 36">
            <a:extLst>
              <a:ext uri="{FF2B5EF4-FFF2-40B4-BE49-F238E27FC236}">
                <a16:creationId xmlns:a16="http://schemas.microsoft.com/office/drawing/2014/main" id="{FB0F9D8D-91C7-32BA-288F-6ED8B1585804}"/>
              </a:ext>
            </a:extLst>
          </p:cNvPr>
          <p:cNvSpPr txBox="1"/>
          <p:nvPr/>
        </p:nvSpPr>
        <p:spPr>
          <a:xfrm>
            <a:off x="8309600" y="4749287"/>
            <a:ext cx="4683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rgbClr val="AB47BC"/>
                </a:solidFill>
                <a:latin typeface="Montserrat"/>
              </a:rPr>
              <a:t>1</a:t>
            </a:r>
            <a:endParaRPr sz="3200" b="1" dirty="0">
              <a:solidFill>
                <a:srgbClr val="AB47BC"/>
              </a:solidFill>
              <a:latin typeface="Montserrat"/>
            </a:endParaRPr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DBE6896A-23BC-429C-04BD-C251AE717BA4}"/>
              </a:ext>
            </a:extLst>
          </p:cNvPr>
          <p:cNvSpPr txBox="1"/>
          <p:nvPr/>
        </p:nvSpPr>
        <p:spPr>
          <a:xfrm>
            <a:off x="9122349" y="4632361"/>
            <a:ext cx="1532727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>
                <a:solidFill>
                  <a:srgbClr val="424242"/>
                </a:solidFill>
                <a:latin typeface="Montserrat"/>
              </a:rPr>
              <a:t>Perspectives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E19D345D-E6CF-45D2-C4C9-A796A9AF84C4}"/>
              </a:ext>
            </a:extLst>
          </p:cNvPr>
          <p:cNvSpPr txBox="1"/>
          <p:nvPr/>
        </p:nvSpPr>
        <p:spPr>
          <a:xfrm>
            <a:off x="9122349" y="4876670"/>
            <a:ext cx="147181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Recommandations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6" name="TextBox 36">
            <a:extLst>
              <a:ext uri="{FF2B5EF4-FFF2-40B4-BE49-F238E27FC236}">
                <a16:creationId xmlns:a16="http://schemas.microsoft.com/office/drawing/2014/main" id="{89326ACE-E94B-BAB4-FCB3-D5D760748363}"/>
              </a:ext>
            </a:extLst>
          </p:cNvPr>
          <p:cNvSpPr txBox="1"/>
          <p:nvPr/>
        </p:nvSpPr>
        <p:spPr>
          <a:xfrm>
            <a:off x="8250033" y="3221489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10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955DE5F3-BFF2-A1F9-12DB-878597CE6675}"/>
              </a:ext>
            </a:extLst>
          </p:cNvPr>
          <p:cNvSpPr txBox="1"/>
          <p:nvPr/>
        </p:nvSpPr>
        <p:spPr>
          <a:xfrm>
            <a:off x="9079618" y="3178687"/>
            <a:ext cx="93961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Limites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95399"/>
            <a:ext cx="57148" cy="761999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1057248" y="1573634"/>
            <a:ext cx="2851999" cy="51033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12121"/>
                </a:solidFill>
                <a:latin typeface="Montserrat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029" y="24577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802" y="2562479"/>
            <a:ext cx="171445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4622" y="2242448"/>
            <a:ext cx="201042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Gestion de la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demande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85842" y="2500582"/>
            <a:ext cx="4333766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Prédiction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facturation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efficacité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énergétique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0029" y="3362579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5277" y="3467355"/>
            <a:ext cx="190495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06176" y="3124920"/>
            <a:ext cx="199759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Foyer à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Sceaux</a:t>
            </a:r>
            <a:r>
              <a:rPr sz="1200" b="1" dirty="0">
                <a:solidFill>
                  <a:srgbClr val="424242"/>
                </a:solidFill>
                <a:latin typeface="Montserrat"/>
              </a:rPr>
              <a:t>, France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5842" y="3491731"/>
            <a:ext cx="4333766" cy="27712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Données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minute-level UCI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029" y="4267454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802" y="4372230"/>
            <a:ext cx="171445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5842" y="4130038"/>
            <a:ext cx="188538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Modèle de régression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5842" y="4419150"/>
            <a:ext cx="3983719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Expliquer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prédire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via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météo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calendrier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0029" y="49723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802" y="5077080"/>
            <a:ext cx="171445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5842" y="4834888"/>
            <a:ext cx="199920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Métriques d'évaluation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5842" y="5135814"/>
            <a:ext cx="4333766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Documentation impact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nettoyage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, feature engineering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filtrage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(R², RMSE, MAE)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824516" y="158503"/>
            <a:ext cx="1916535" cy="2001574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F39F89F9-A23B-29E5-B495-4FA37A3B54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8163" y="2932220"/>
            <a:ext cx="3746121" cy="1816681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8" name="Rounded Rectangle 27"/>
          <p:cNvSpPr/>
          <p:nvPr/>
        </p:nvSpPr>
        <p:spPr>
          <a:xfrm>
            <a:off x="8552093" y="3651900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/>
          <p:cNvSpPr txBox="1"/>
          <p:nvPr/>
        </p:nvSpPr>
        <p:spPr>
          <a:xfrm>
            <a:off x="8742589" y="3957334"/>
            <a:ext cx="72321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4DB6AC"/>
                </a:solidFill>
                <a:latin typeface="Montserrat"/>
              </a:rPr>
              <a:t>4</a:t>
            </a:r>
            <a:r>
              <a:rPr lang="fr-FR" sz="1600" b="1" dirty="0">
                <a:solidFill>
                  <a:srgbClr val="4DB6AC"/>
                </a:solidFill>
                <a:latin typeface="Montserrat"/>
              </a:rPr>
              <a:t> ans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80462" y="4128149"/>
            <a:ext cx="14317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 chaque minute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79646" y="3869880"/>
            <a:ext cx="2521781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Consommation d’une maison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C817DC14-76DE-90D7-0732-14B23FD656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272508">
            <a:off x="7456363" y="3543600"/>
            <a:ext cx="701195" cy="701195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7ACBD629-C826-A5AF-5143-ECA91599619D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7686"/>
          <a:stretch/>
        </p:blipFill>
        <p:spPr>
          <a:xfrm>
            <a:off x="7637855" y="5305093"/>
            <a:ext cx="4320224" cy="723900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41A3B13-41D1-AC5F-4215-52EE14CB3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5334" y="346464"/>
            <a:ext cx="1733163" cy="173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ounded Rectangle 27">
            <a:extLst>
              <a:ext uri="{FF2B5EF4-FFF2-40B4-BE49-F238E27FC236}">
                <a16:creationId xmlns:a16="http://schemas.microsoft.com/office/drawing/2014/main" id="{A0AE331F-AD46-51B3-DD7D-639617B6D533}"/>
              </a:ext>
            </a:extLst>
          </p:cNvPr>
          <p:cNvSpPr/>
          <p:nvPr/>
        </p:nvSpPr>
        <p:spPr>
          <a:xfrm>
            <a:off x="6709486" y="1326066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2" name="TextBox 28">
            <a:extLst>
              <a:ext uri="{FF2B5EF4-FFF2-40B4-BE49-F238E27FC236}">
                <a16:creationId xmlns:a16="http://schemas.microsoft.com/office/drawing/2014/main" id="{CA9BFFB0-68A8-C8FC-F15D-D8180AA7751C}"/>
              </a:ext>
            </a:extLst>
          </p:cNvPr>
          <p:cNvSpPr txBox="1"/>
          <p:nvPr/>
        </p:nvSpPr>
        <p:spPr>
          <a:xfrm>
            <a:off x="6899982" y="1631500"/>
            <a:ext cx="485967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Mr.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3" name="TextBox 30">
            <a:extLst>
              <a:ext uri="{FF2B5EF4-FFF2-40B4-BE49-F238E27FC236}">
                <a16:creationId xmlns:a16="http://schemas.microsoft.com/office/drawing/2014/main" id="{8A9AEC65-6AE5-9205-7CEB-7CE6EC2C526B}"/>
              </a:ext>
            </a:extLst>
          </p:cNvPr>
          <p:cNvSpPr txBox="1"/>
          <p:nvPr/>
        </p:nvSpPr>
        <p:spPr>
          <a:xfrm>
            <a:off x="7637855" y="1784171"/>
            <a:ext cx="2220416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Chercheur senior en « Science 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des Données » à EDF R&amp;D</a:t>
            </a:r>
            <a:endParaRPr lang="fr-FR"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4" name="TextBox 29">
            <a:extLst>
              <a:ext uri="{FF2B5EF4-FFF2-40B4-BE49-F238E27FC236}">
                <a16:creationId xmlns:a16="http://schemas.microsoft.com/office/drawing/2014/main" id="{FC38576D-7917-12D6-D240-19BC76A0DC16}"/>
              </a:ext>
            </a:extLst>
          </p:cNvPr>
          <p:cNvSpPr txBox="1"/>
          <p:nvPr/>
        </p:nvSpPr>
        <p:spPr>
          <a:xfrm>
            <a:off x="7637039" y="1448844"/>
            <a:ext cx="1442959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Georges </a:t>
            </a:r>
            <a:r>
              <a:rPr lang="fr-FR" sz="1200" b="1" dirty="0" err="1">
                <a:solidFill>
                  <a:srgbClr val="424242"/>
                </a:solidFill>
                <a:latin typeface="Montserrat"/>
              </a:rPr>
              <a:t>Hébrail</a:t>
            </a:r>
            <a:endParaRPr lang="fr-FR"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6" name="Rounded Rectangle 27">
            <a:extLst>
              <a:ext uri="{FF2B5EF4-FFF2-40B4-BE49-F238E27FC236}">
                <a16:creationId xmlns:a16="http://schemas.microsoft.com/office/drawing/2014/main" id="{02EB26D9-C0B9-BC52-BFCA-C1E78FEEE61A}"/>
              </a:ext>
            </a:extLst>
          </p:cNvPr>
          <p:cNvSpPr/>
          <p:nvPr/>
        </p:nvSpPr>
        <p:spPr>
          <a:xfrm>
            <a:off x="6224965" y="5753983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28">
            <a:extLst>
              <a:ext uri="{FF2B5EF4-FFF2-40B4-BE49-F238E27FC236}">
                <a16:creationId xmlns:a16="http://schemas.microsoft.com/office/drawing/2014/main" id="{CEF48195-F5C7-34FD-36FD-11252A84F567}"/>
              </a:ext>
            </a:extLst>
          </p:cNvPr>
          <p:cNvSpPr txBox="1"/>
          <p:nvPr/>
        </p:nvSpPr>
        <p:spPr>
          <a:xfrm>
            <a:off x="6415461" y="6059417"/>
            <a:ext cx="532453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334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8" name="TextBox 30">
            <a:extLst>
              <a:ext uri="{FF2B5EF4-FFF2-40B4-BE49-F238E27FC236}">
                <a16:creationId xmlns:a16="http://schemas.microsoft.com/office/drawing/2014/main" id="{238FC58A-6781-669E-F4AA-6415B5AA2305}"/>
              </a:ext>
            </a:extLst>
          </p:cNvPr>
          <p:cNvSpPr txBox="1"/>
          <p:nvPr/>
        </p:nvSpPr>
        <p:spPr>
          <a:xfrm>
            <a:off x="7153334" y="6230232"/>
            <a:ext cx="1221745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Google Scholar 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9" name="TextBox 29">
            <a:extLst>
              <a:ext uri="{FF2B5EF4-FFF2-40B4-BE49-F238E27FC236}">
                <a16:creationId xmlns:a16="http://schemas.microsoft.com/office/drawing/2014/main" id="{BE32394A-DCD8-3109-8184-038A799989B8}"/>
              </a:ext>
            </a:extLst>
          </p:cNvPr>
          <p:cNvSpPr txBox="1"/>
          <p:nvPr/>
        </p:nvSpPr>
        <p:spPr>
          <a:xfrm>
            <a:off x="7152518" y="5971963"/>
            <a:ext cx="788934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Citation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Espace réservé du numéro de diapositive 39">
            <a:extLst>
              <a:ext uri="{FF2B5EF4-FFF2-40B4-BE49-F238E27FC236}">
                <a16:creationId xmlns:a16="http://schemas.microsoft.com/office/drawing/2014/main" id="{74FCEEB8-7E6A-9617-F747-84D11B29F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97967" y="638401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3</a:t>
            </a:fld>
            <a:endParaRPr lang="en-US" sz="14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8" grpId="0" animBg="1"/>
      <p:bldP spid="29" grpId="0"/>
      <p:bldP spid="31" grpId="0"/>
      <p:bldP spid="30" grpId="0"/>
      <p:bldP spid="41" grpId="0" animBg="1"/>
      <p:bldP spid="42" grpId="0"/>
      <p:bldP spid="43" grpId="0"/>
      <p:bldP spid="44" grpId="0"/>
      <p:bldP spid="46" grpId="0" animBg="1"/>
      <p:bldP spid="47" grpId="0"/>
      <p:bldP spid="48" grpId="0"/>
      <p:bldP spid="4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620009" y="-1143000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71485" y="5238749"/>
            <a:ext cx="2381190" cy="2381250"/>
          </a:xfrm>
          <a:prstGeom prst="roundRect">
            <a:avLst>
              <a:gd name="adj" fmla="val 50000"/>
            </a:avLst>
          </a:prstGeom>
          <a:solidFill>
            <a:srgbClr val="E0F2F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241928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241928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Hypothèse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113" y="162790"/>
            <a:ext cx="152396" cy="171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1980" y="1714500"/>
            <a:ext cx="5095747" cy="1476375"/>
          </a:xfrm>
          <a:prstGeom prst="roundRect">
            <a:avLst>
              <a:gd name="adj" fmla="val 15483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106343" y="2370137"/>
            <a:ext cx="1476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5347" y="2000250"/>
            <a:ext cx="44766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975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HYPOTHÈSE PRINCIPALE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47" y="2333624"/>
            <a:ext cx="4476638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>
                <a:solidFill>
                  <a:srgbClr val="212121"/>
                </a:solidFill>
                <a:latin typeface="Montserrat"/>
              </a:rPr>
              <a:t>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température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n'est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pas le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seul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critère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déterminant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consommation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d'énergie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3429000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0099" y="36194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1545" y="3752849"/>
            <a:ext cx="133346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47783" y="3619499"/>
            <a:ext cx="311459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 dirty="0" err="1">
                <a:solidFill>
                  <a:srgbClr val="424242"/>
                </a:solidFill>
                <a:latin typeface="Montserrat"/>
              </a:rPr>
              <a:t>Température</a:t>
            </a:r>
            <a:endParaRPr sz="107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47783" y="3914775"/>
            <a:ext cx="311459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757575"/>
                </a:solidFill>
                <a:latin typeface="Montserrat"/>
              </a:rPr>
              <a:t>Facteur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principal de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chauffage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climatisation</a:t>
            </a:r>
            <a:endParaRPr sz="83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61980" y="4524374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099" y="47243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2971" y="4857750"/>
            <a:ext cx="18097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7783" y="4714875"/>
            <a:ext cx="3467013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Jours fériés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7783" y="5010149"/>
            <a:ext cx="346701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Périodes de présence accrue et activités spécifiques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1980" y="5629275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00099" y="58197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7783" y="5819775"/>
            <a:ext cx="369560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Type de jour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7783" y="6115050"/>
            <a:ext cx="369560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Week-ends vs jours ouvrables influencent les habitudes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91135" y="3166935"/>
            <a:ext cx="200019" cy="2666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05452" y="3123379"/>
            <a:ext cx="2297360" cy="35381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212121"/>
                </a:solidFill>
                <a:latin typeface="Montserrat"/>
              </a:rPr>
              <a:t>Validation </a:t>
            </a:r>
            <a:r>
              <a:rPr sz="1600" b="1" dirty="0" err="1">
                <a:solidFill>
                  <a:srgbClr val="212121"/>
                </a:solidFill>
                <a:latin typeface="Montserrat"/>
              </a:rPr>
              <a:t>attendue</a:t>
            </a:r>
            <a:endParaRPr sz="1600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91134" y="3432782"/>
            <a:ext cx="4838885" cy="172598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424242"/>
                </a:solidFill>
                <a:latin typeface="Montserrat"/>
              </a:rPr>
              <a:t>Les pics de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surviennent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principalement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lors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des week-ends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en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hiver,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confirmant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l'impact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combiné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du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calendrier</a:t>
            </a:r>
            <a:r>
              <a:rPr b="0" dirty="0">
                <a:solidFill>
                  <a:srgbClr val="424242"/>
                </a:solidFill>
                <a:latin typeface="Montserrat"/>
              </a:rPr>
              <a:t> et de la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saisonnalité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.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41B58365-92DB-5D45-418C-F8E2114D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044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4</a:t>
            </a:fld>
            <a:endParaRPr lang="en-US" sz="1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6199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61999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047749"/>
            <a:ext cx="247643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11" y="1921733"/>
            <a:ext cx="3886102" cy="1162050"/>
          </a:xfrm>
          <a:prstGeom prst="roundRect">
            <a:avLst>
              <a:gd name="adj" fmla="val 1639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28736" y="2420208"/>
            <a:ext cx="11620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2954" y="2159859"/>
            <a:ext cx="336224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DATASET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954" y="2398679"/>
            <a:ext cx="3362240" cy="41857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UCI/Kaggle - Individual Household Electric Power Consumption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638550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703" y="3724274"/>
            <a:ext cx="133346" cy="1333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1070" y="3590473"/>
            <a:ext cx="1499065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Mesures à la minute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1070" y="3839788"/>
            <a:ext cx="3467013" cy="2547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Puissance active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(kW), Tension (V), Courant (A)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287873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6753" y="4373598"/>
            <a:ext cx="104772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1070" y="4239798"/>
            <a:ext cx="152150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Format des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1070" y="4474824"/>
            <a:ext cx="2276521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Valeurs séparées par ";", décimale: ","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94347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47703" y="5029200"/>
            <a:ext cx="133346" cy="1333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81070" y="4895398"/>
            <a:ext cx="853054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 dirty="0" err="1">
                <a:solidFill>
                  <a:srgbClr val="424242"/>
                </a:solidFill>
                <a:latin typeface="Montserrat"/>
              </a:rPr>
              <a:t>Nettoyage</a:t>
            </a:r>
            <a:endParaRPr sz="10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81070" y="5101766"/>
            <a:ext cx="3467013" cy="4086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manquantes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: "?", suppression des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incomplètes</a:t>
            </a:r>
            <a:endParaRPr sz="9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61980" y="568642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1181070" y="5638348"/>
            <a:ext cx="166577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Agrégation journalière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1070" y="5882900"/>
            <a:ext cx="2967415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Index datetime,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somme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Global_active_power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/60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52CCEA3D-0B92-3614-CA41-94B669EED1B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24153" r="52885" b="26405"/>
          <a:stretch/>
        </p:blipFill>
        <p:spPr>
          <a:xfrm>
            <a:off x="5784239" y="2407961"/>
            <a:ext cx="5337270" cy="1230589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4" name="Picture 19" descr="image.png">
            <a:extLst>
              <a:ext uri="{FF2B5EF4-FFF2-40B4-BE49-F238E27FC236}">
                <a16:creationId xmlns:a16="http://schemas.microsoft.com/office/drawing/2014/main" id="{394FFCC6-4114-E977-5360-324709D0A89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12751" y="5734050"/>
            <a:ext cx="180970" cy="209550"/>
          </a:xfrm>
          <a:prstGeom prst="rect">
            <a:avLst/>
          </a:prstGeom>
          <a:solidFill>
            <a:srgbClr val="E3F2FD"/>
          </a:solidFill>
          <a:ln>
            <a:noFill/>
          </a:ln>
        </p:spPr>
      </p:pic>
      <p:pic>
        <p:nvPicPr>
          <p:cNvPr id="2050" name="Picture 2" descr="Statlog (Image Segmentation) - UCI Machine Learning Repository">
            <a:extLst>
              <a:ext uri="{FF2B5EF4-FFF2-40B4-BE49-F238E27FC236}">
                <a16:creationId xmlns:a16="http://schemas.microsoft.com/office/drawing/2014/main" id="{8CE444EE-9DD7-6484-6998-6444BDC76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001" y="133840"/>
            <a:ext cx="1207851" cy="120785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F5F3A22B-7E84-BE39-C04F-14E2477C837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81246" b="25620"/>
          <a:stretch/>
        </p:blipFill>
        <p:spPr>
          <a:xfrm>
            <a:off x="6215773" y="4543616"/>
            <a:ext cx="1191163" cy="193357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6" name="Espace réservé du numéro de diapositive 55">
            <a:extLst>
              <a:ext uri="{FF2B5EF4-FFF2-40B4-BE49-F238E27FC236}">
                <a16:creationId xmlns:a16="http://schemas.microsoft.com/office/drawing/2014/main" id="{46D0110D-59B8-1EA9-55B9-31A47222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1647" y="638118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5</a:t>
            </a:fld>
            <a:endParaRPr lang="en-US" sz="1400" b="1" dirty="0"/>
          </a:p>
        </p:txBody>
      </p:sp>
      <p:sp>
        <p:nvSpPr>
          <p:cNvPr id="53" name="Rounded Rectangle 10">
            <a:extLst>
              <a:ext uri="{FF2B5EF4-FFF2-40B4-BE49-F238E27FC236}">
                <a16:creationId xmlns:a16="http://schemas.microsoft.com/office/drawing/2014/main" id="{9CF27321-3AE7-99A9-DCD1-BAC799761D55}"/>
              </a:ext>
            </a:extLst>
          </p:cNvPr>
          <p:cNvSpPr/>
          <p:nvPr/>
        </p:nvSpPr>
        <p:spPr>
          <a:xfrm>
            <a:off x="5886301" y="133840"/>
            <a:ext cx="5237591" cy="1028249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11">
            <a:extLst>
              <a:ext uri="{FF2B5EF4-FFF2-40B4-BE49-F238E27FC236}">
                <a16:creationId xmlns:a16="http://schemas.microsoft.com/office/drawing/2014/main" id="{10EBCAE8-E9C4-D101-EE27-64D40AFBC617}"/>
              </a:ext>
            </a:extLst>
          </p:cNvPr>
          <p:cNvSpPr txBox="1"/>
          <p:nvPr/>
        </p:nvSpPr>
        <p:spPr>
          <a:xfrm>
            <a:off x="5995638" y="334712"/>
            <a:ext cx="5311699" cy="54874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["datetime"] =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pd.to_datetime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(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rgbClr val="E8E8E8"/>
                </a:solidFill>
                <a:latin typeface="Courier New"/>
              </a:rPr>
              <a:t>   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["Date"] + " " +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["Time"], format="%d/%m/%Y %H:%M:%S")</a:t>
            </a:r>
            <a:endParaRPr lang="fr-FR" sz="1050" b="0" dirty="0">
              <a:solidFill>
                <a:srgbClr val="E8E8E8"/>
              </a:solidFill>
              <a:latin typeface="Courier New"/>
            </a:endParaRPr>
          </a:p>
        </p:txBody>
      </p:sp>
      <p:sp>
        <p:nvSpPr>
          <p:cNvPr id="57" name="Rounded Rectangle 10">
            <a:extLst>
              <a:ext uri="{FF2B5EF4-FFF2-40B4-BE49-F238E27FC236}">
                <a16:creationId xmlns:a16="http://schemas.microsoft.com/office/drawing/2014/main" id="{27FAFC3D-0556-599A-FFA6-153A3AEBE0D9}"/>
              </a:ext>
            </a:extLst>
          </p:cNvPr>
          <p:cNvSpPr/>
          <p:nvPr/>
        </p:nvSpPr>
        <p:spPr>
          <a:xfrm>
            <a:off x="5893973" y="1249779"/>
            <a:ext cx="5237591" cy="959635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11">
            <a:extLst>
              <a:ext uri="{FF2B5EF4-FFF2-40B4-BE49-F238E27FC236}">
                <a16:creationId xmlns:a16="http://schemas.microsoft.com/office/drawing/2014/main" id="{5CDC0303-1F59-A310-CC92-B3B1BE029ED2}"/>
              </a:ext>
            </a:extLst>
          </p:cNvPr>
          <p:cNvSpPr txBox="1"/>
          <p:nvPr/>
        </p:nvSpPr>
        <p:spPr>
          <a:xfrm>
            <a:off x="6065334" y="1593516"/>
            <a:ext cx="5311699" cy="26661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df.resample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("D").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agg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({“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energy_kwh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": “sum"})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CD2327DB-F282-5EF1-41D8-F4B5875D9BBD}"/>
              </a:ext>
            </a:extLst>
          </p:cNvPr>
          <p:cNvCxnSpPr>
            <a:cxnSpLocks/>
          </p:cNvCxnSpPr>
          <p:nvPr/>
        </p:nvCxnSpPr>
        <p:spPr>
          <a:xfrm>
            <a:off x="6512560" y="3673679"/>
            <a:ext cx="140108" cy="76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71EF82D-8751-4446-78F1-1501292EF965}"/>
              </a:ext>
            </a:extLst>
          </p:cNvPr>
          <p:cNvCxnSpPr>
            <a:cxnSpLocks/>
          </p:cNvCxnSpPr>
          <p:nvPr/>
        </p:nvCxnSpPr>
        <p:spPr>
          <a:xfrm flipH="1">
            <a:off x="6791051" y="3673679"/>
            <a:ext cx="837453" cy="76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19">
            <a:extLst>
              <a:ext uri="{FF2B5EF4-FFF2-40B4-BE49-F238E27FC236}">
                <a16:creationId xmlns:a16="http://schemas.microsoft.com/office/drawing/2014/main" id="{61B42ABF-7CF5-5C50-74B1-C360571B646F}"/>
              </a:ext>
            </a:extLst>
          </p:cNvPr>
          <p:cNvSpPr txBox="1"/>
          <p:nvPr/>
        </p:nvSpPr>
        <p:spPr>
          <a:xfrm>
            <a:off x="6582614" y="3722432"/>
            <a:ext cx="776110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F316DC16-3073-2173-E1C2-E680A3AA8F96}"/>
              </a:ext>
            </a:extLst>
          </p:cNvPr>
          <p:cNvCxnSpPr>
            <a:cxnSpLocks/>
          </p:cNvCxnSpPr>
          <p:nvPr/>
        </p:nvCxnSpPr>
        <p:spPr>
          <a:xfrm>
            <a:off x="9356331" y="3724274"/>
            <a:ext cx="424137" cy="649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19">
            <a:extLst>
              <a:ext uri="{FF2B5EF4-FFF2-40B4-BE49-F238E27FC236}">
                <a16:creationId xmlns:a16="http://schemas.microsoft.com/office/drawing/2014/main" id="{982ACAF7-24BC-0713-092D-8C94A92C02E8}"/>
              </a:ext>
            </a:extLst>
          </p:cNvPr>
          <p:cNvSpPr txBox="1"/>
          <p:nvPr/>
        </p:nvSpPr>
        <p:spPr>
          <a:xfrm>
            <a:off x="9869332" y="3806378"/>
            <a:ext cx="159043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Consommation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 journalière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44797DC3-3179-ADCC-1798-57A5F001D7C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b="24956"/>
          <a:stretch/>
        </p:blipFill>
        <p:spPr>
          <a:xfrm>
            <a:off x="9540898" y="4506376"/>
            <a:ext cx="1123652" cy="197081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76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76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CALENDAR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561974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Jours Fériés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152650"/>
            <a:ext cx="4248043" cy="1171575"/>
          </a:xfrm>
          <a:prstGeom prst="roundRect">
            <a:avLst>
              <a:gd name="adj" fmla="val 1626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58743" y="2655887"/>
            <a:ext cx="11715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390774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EF5350"/>
                </a:solidFill>
                <a:latin typeface="Montserrat"/>
              </a:rPr>
              <a:t>BIBLIOTHÈQUE PYTHON HOLIDAYS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686050"/>
            <a:ext cx="372418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Jours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fériés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français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2006-2010</a:t>
            </a:r>
            <a:r>
              <a:rPr sz="1104" dirty="0"/>
              <a:t>
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9E9E9E"/>
                </a:solidFill>
                <a:latin typeface="Montserrat"/>
              </a:rPr>
              <a:t>holidays.France</a:t>
            </a:r>
            <a:r>
              <a:rPr sz="777" b="0" dirty="0">
                <a:solidFill>
                  <a:srgbClr val="9E9E9E"/>
                </a:solidFill>
                <a:latin typeface="Montserrat"/>
              </a:rPr>
              <a:t>(years=[2006,...,2010])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562349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" y="3733799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04912" y="3743325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912" y="3990974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Variable binaire pour les jours fériés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4448175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33426" y="4619625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04912" y="4629150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912" y="4876800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Samedi ou dimanche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6E21E47D-6315-3A03-79A5-DDB3AE50B8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966" b="25620"/>
          <a:stretch/>
        </p:blipFill>
        <p:spPr>
          <a:xfrm>
            <a:off x="6562545" y="1857524"/>
            <a:ext cx="4203853" cy="1522964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0A15B82-B5BE-FCB2-72A1-EE379B03FE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963"/>
          <a:stretch/>
        </p:blipFill>
        <p:spPr>
          <a:xfrm>
            <a:off x="6029174" y="4262036"/>
            <a:ext cx="5270597" cy="1324160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FEF2010-54FD-7DF9-A60F-7EDEEABFF09E}"/>
              </a:ext>
            </a:extLst>
          </p:cNvPr>
          <p:cNvCxnSpPr>
            <a:cxnSpLocks/>
          </p:cNvCxnSpPr>
          <p:nvPr/>
        </p:nvCxnSpPr>
        <p:spPr>
          <a:xfrm>
            <a:off x="8611428" y="3475989"/>
            <a:ext cx="0" cy="714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19">
            <a:extLst>
              <a:ext uri="{FF2B5EF4-FFF2-40B4-BE49-F238E27FC236}">
                <a16:creationId xmlns:a16="http://schemas.microsoft.com/office/drawing/2014/main" id="{79426749-7523-7DFF-97E0-14C284EDA2C5}"/>
              </a:ext>
            </a:extLst>
          </p:cNvPr>
          <p:cNvSpPr txBox="1"/>
          <p:nvPr/>
        </p:nvSpPr>
        <p:spPr>
          <a:xfrm>
            <a:off x="8664472" y="3733799"/>
            <a:ext cx="213385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Génération des Flags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FFDBD078-3918-AB00-EBA5-FF91CC70997E}"/>
              </a:ext>
            </a:extLst>
          </p:cNvPr>
          <p:cNvCxnSpPr>
            <a:cxnSpLocks/>
          </p:cNvCxnSpPr>
          <p:nvPr/>
        </p:nvCxnSpPr>
        <p:spPr>
          <a:xfrm flipH="1" flipV="1">
            <a:off x="6695164" y="5658484"/>
            <a:ext cx="559686" cy="3774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17">
            <a:extLst>
              <a:ext uri="{FF2B5EF4-FFF2-40B4-BE49-F238E27FC236}">
                <a16:creationId xmlns:a16="http://schemas.microsoft.com/office/drawing/2014/main" id="{F8B52D04-DFA8-C017-219C-DFFB9F23FD3C}"/>
              </a:ext>
            </a:extLst>
          </p:cNvPr>
          <p:cNvSpPr/>
          <p:nvPr/>
        </p:nvSpPr>
        <p:spPr>
          <a:xfrm>
            <a:off x="6975007" y="6035936"/>
            <a:ext cx="3070436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19">
            <a:extLst>
              <a:ext uri="{FF2B5EF4-FFF2-40B4-BE49-F238E27FC236}">
                <a16:creationId xmlns:a16="http://schemas.microsoft.com/office/drawing/2014/main" id="{D899E542-BC09-B379-5D8C-565DEA826F26}"/>
              </a:ext>
            </a:extLst>
          </p:cNvPr>
          <p:cNvSpPr txBox="1"/>
          <p:nvPr/>
        </p:nvSpPr>
        <p:spPr>
          <a:xfrm>
            <a:off x="7177414" y="6234226"/>
            <a:ext cx="2868029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 avec météo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8911FB78-DDC2-FDCF-59FA-B653783FC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2993" y="6397374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6</a:t>
            </a:fld>
            <a:endParaRPr lang="en-US" sz="1400" b="1" dirty="0"/>
          </a:p>
        </p:txBody>
      </p:sp>
      <p:sp>
        <p:nvSpPr>
          <p:cNvPr id="38" name="Rounded Rectangle 10">
            <a:extLst>
              <a:ext uri="{FF2B5EF4-FFF2-40B4-BE49-F238E27FC236}">
                <a16:creationId xmlns:a16="http://schemas.microsoft.com/office/drawing/2014/main" id="{7A4FC26D-9F44-D700-1E75-53BC08D84A69}"/>
              </a:ext>
            </a:extLst>
          </p:cNvPr>
          <p:cNvSpPr/>
          <p:nvPr/>
        </p:nvSpPr>
        <p:spPr>
          <a:xfrm>
            <a:off x="5873681" y="318927"/>
            <a:ext cx="5930593" cy="959635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91BFE081-8692-DE35-CB51-0DB77DF48A43}"/>
              </a:ext>
            </a:extLst>
          </p:cNvPr>
          <p:cNvSpPr txBox="1"/>
          <p:nvPr/>
        </p:nvSpPr>
        <p:spPr>
          <a:xfrm>
            <a:off x="5973857" y="504206"/>
            <a:ext cx="5730240" cy="54874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is_weekend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 = 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jour_semaine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"].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isin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([5, 6])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is_holiday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 = daily["date"].apply(lambda d: d in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fr_holidays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pic>
        <p:nvPicPr>
          <p:cNvPr id="41" name="Picture 19" descr="image.png">
            <a:extLst>
              <a:ext uri="{FF2B5EF4-FFF2-40B4-BE49-F238E27FC236}">
                <a16:creationId xmlns:a16="http://schemas.microsoft.com/office/drawing/2014/main" id="{D6D7ADDA-6F59-FB14-F622-386A97572E1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2486" y="3833084"/>
            <a:ext cx="180970" cy="209550"/>
          </a:xfrm>
          <a:prstGeom prst="rect">
            <a:avLst/>
          </a:prstGeom>
        </p:spPr>
      </p:pic>
      <p:pic>
        <p:nvPicPr>
          <p:cNvPr id="42" name="Picture 19" descr="image.png">
            <a:extLst>
              <a:ext uri="{FF2B5EF4-FFF2-40B4-BE49-F238E27FC236}">
                <a16:creationId xmlns:a16="http://schemas.microsoft.com/office/drawing/2014/main" id="{E2DA01A9-54DE-4C76-791C-F5E86E8262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3090" y="4714566"/>
            <a:ext cx="180970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625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657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657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WEATHER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42975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533649"/>
            <a:ext cx="4248043" cy="923924"/>
          </a:xfrm>
          <a:prstGeom prst="roundRect">
            <a:avLst>
              <a:gd name="adj" fmla="val 2061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382568" y="2913061"/>
            <a:ext cx="92392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771775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SOURCE DE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3047999"/>
            <a:ext cx="372418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Open-Meteo Historical Weather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743325"/>
            <a:ext cx="4248043" cy="742950"/>
          </a:xfrm>
          <a:prstGeom prst="roundRect">
            <a:avLst>
              <a:gd name="adj" fmla="val 20512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4852" y="39242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4029075"/>
            <a:ext cx="133346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14" y="3886200"/>
            <a:ext cx="1381090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Sceaux, France</a:t>
            </a:r>
            <a:r>
              <a:rPr sz="1104"/>
              <a:t>
</a:t>
            </a:r>
            <a:r>
              <a:rPr sz="777" b="1">
                <a:solidFill>
                  <a:srgbClr val="757575"/>
                </a:solidFill>
                <a:latin typeface="Montserrat"/>
              </a:rPr>
              <a:t>Lat: 48.78° | Lon: 2.29°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80" y="4724399"/>
            <a:ext cx="424804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VARIABLES RÉCUPÉRÉES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377" y="5267324"/>
            <a:ext cx="16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020" y="5222868"/>
            <a:ext cx="829010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 err="1">
                <a:solidFill>
                  <a:srgbClr val="424242"/>
                </a:solidFill>
                <a:latin typeface="Montserrat"/>
              </a:rPr>
              <a:t>Température</a:t>
            </a:r>
            <a:endParaRPr sz="77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943151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95547" y="5267324"/>
            <a:ext cx="18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240" y="5162550"/>
            <a:ext cx="1495387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Précipitations journalières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4377" y="5915025"/>
            <a:ext cx="190495" cy="152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0119" y="5895974"/>
            <a:ext cx="137156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>
                <a:solidFill>
                  <a:srgbClr val="424242"/>
                </a:solidFill>
                <a:latin typeface="Montserrat"/>
              </a:rPr>
              <a:t>Durée </a:t>
            </a:r>
            <a:r>
              <a:rPr sz="777" b="1" dirty="0" err="1">
                <a:solidFill>
                  <a:srgbClr val="424242"/>
                </a:solidFill>
                <a:latin typeface="Montserrat"/>
              </a:rPr>
              <a:t>ensoleillement</a:t>
            </a:r>
            <a:endParaRPr sz="77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943151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74" name="Picture 2" descr="Open-Meteo 🌤🌍 (@open_meteo) / Posts / X">
            <a:extLst>
              <a:ext uri="{FF2B5EF4-FFF2-40B4-BE49-F238E27FC236}">
                <a16:creationId xmlns:a16="http://schemas.microsoft.com/office/drawing/2014/main" id="{2DB63649-7563-F96A-D5A8-F33273E2D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9933" y="181000"/>
            <a:ext cx="1200133" cy="120013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Image 3072">
            <a:extLst>
              <a:ext uri="{FF2B5EF4-FFF2-40B4-BE49-F238E27FC236}">
                <a16:creationId xmlns:a16="http://schemas.microsoft.com/office/drawing/2014/main" id="{593D3060-9AFC-4565-7322-8409DF19E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661" y="3570801"/>
            <a:ext cx="6242170" cy="1496173"/>
          </a:xfrm>
          <a:prstGeom prst="rect">
            <a:avLst/>
          </a:prstGeom>
        </p:spPr>
      </p:pic>
      <p:cxnSp>
        <p:nvCxnSpPr>
          <p:cNvPr id="3077" name="Connecteur droit avec flèche 3076">
            <a:extLst>
              <a:ext uri="{FF2B5EF4-FFF2-40B4-BE49-F238E27FC236}">
                <a16:creationId xmlns:a16="http://schemas.microsoft.com/office/drawing/2014/main" id="{253C6AC9-741B-4522-6042-3C217F033FA9}"/>
              </a:ext>
            </a:extLst>
          </p:cNvPr>
          <p:cNvCxnSpPr>
            <a:cxnSpLocks/>
          </p:cNvCxnSpPr>
          <p:nvPr/>
        </p:nvCxnSpPr>
        <p:spPr>
          <a:xfrm>
            <a:off x="11144277" y="3047999"/>
            <a:ext cx="577823" cy="4513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7">
            <a:extLst>
              <a:ext uri="{FF2B5EF4-FFF2-40B4-BE49-F238E27FC236}">
                <a16:creationId xmlns:a16="http://schemas.microsoft.com/office/drawing/2014/main" id="{9AE5B237-281A-AC19-8471-37215F14179C}"/>
              </a:ext>
            </a:extLst>
          </p:cNvPr>
          <p:cNvSpPr/>
          <p:nvPr/>
        </p:nvSpPr>
        <p:spPr>
          <a:xfrm>
            <a:off x="9363147" y="2428875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19">
            <a:extLst>
              <a:ext uri="{FF2B5EF4-FFF2-40B4-BE49-F238E27FC236}">
                <a16:creationId xmlns:a16="http://schemas.microsoft.com/office/drawing/2014/main" id="{68711281-28CE-42C4-298B-75938FE9AD9C}"/>
              </a:ext>
            </a:extLst>
          </p:cNvPr>
          <p:cNvSpPr txBox="1"/>
          <p:nvPr/>
        </p:nvSpPr>
        <p:spPr>
          <a:xfrm>
            <a:off x="9565554" y="2627165"/>
            <a:ext cx="1717073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079" name="Espace réservé du numéro de diapositive 3078">
            <a:extLst>
              <a:ext uri="{FF2B5EF4-FFF2-40B4-BE49-F238E27FC236}">
                <a16:creationId xmlns:a16="http://schemas.microsoft.com/office/drawing/2014/main" id="{A6C96BBB-CD57-DFCA-E0BA-CA85AF15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85436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7</a:t>
            </a:fld>
            <a:endParaRPr lang="en-US" sz="1400" b="1" dirty="0"/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9492A4EE-4E48-CD26-3BA6-FD1AFBDA53BD}"/>
              </a:ext>
            </a:extLst>
          </p:cNvPr>
          <p:cNvSpPr/>
          <p:nvPr/>
        </p:nvSpPr>
        <p:spPr>
          <a:xfrm>
            <a:off x="5873681" y="481309"/>
            <a:ext cx="5930593" cy="1496173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1">
            <a:extLst>
              <a:ext uri="{FF2B5EF4-FFF2-40B4-BE49-F238E27FC236}">
                <a16:creationId xmlns:a16="http://schemas.microsoft.com/office/drawing/2014/main" id="{11C55066-F788-9397-58C7-08B49B15AEF2}"/>
              </a:ext>
            </a:extLst>
          </p:cNvPr>
          <p:cNvSpPr txBox="1"/>
          <p:nvPr/>
        </p:nvSpPr>
        <p:spPr>
          <a:xfrm>
            <a:off x="6655164" y="600480"/>
            <a:ext cx="5730240" cy="111299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resp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requests.get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url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, params=params)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resp.raise_for_status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data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resp.json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weather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pd.DataFrame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(data["daily"])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704729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95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9550"/>
            <a:ext cx="294315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495299"/>
            <a:ext cx="2943151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Nettoyage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593850"/>
            <a:ext cx="5707382" cy="2387600"/>
          </a:xfrm>
          <a:prstGeom prst="roundRect">
            <a:avLst>
              <a:gd name="adj" fmla="val 987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349269" y="2705098"/>
            <a:ext cx="2387600" cy="16510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1704975"/>
            <a:ext cx="3333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000250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Suppression des valeurs manquantes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443430"/>
            <a:ext cx="4519957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Élimination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avec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vides dans les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colonnes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numériques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clés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garantir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la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qualité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données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7723" y="3114675"/>
            <a:ext cx="5237591" cy="628650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7723" y="3296657"/>
            <a:ext cx="5048277" cy="26468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42A5F5"/>
                </a:solidFill>
                <a:latin typeface="Courier New"/>
              </a:rPr>
              <a:t>df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.dropna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(subset=[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</a:t>
            </a:r>
            <a:r>
              <a:rPr sz="1000" b="0" dirty="0" err="1">
                <a:solidFill>
                  <a:srgbClr val="4DB6AC"/>
                </a:solidFill>
                <a:latin typeface="Courier New"/>
              </a:rPr>
              <a:t>Global_active_power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'Voltage'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'Current'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])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4171950"/>
            <a:ext cx="5707382" cy="2295525"/>
          </a:xfrm>
          <a:prstGeom prst="roundRect">
            <a:avLst>
              <a:gd name="adj" fmla="val 995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-303232" y="5237162"/>
            <a:ext cx="22955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7723" y="4244975"/>
            <a:ext cx="39051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23" y="45053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Création de l'index temporel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850064"/>
            <a:ext cx="4418357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Fusion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colonnes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Date et Time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index datetime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l'agrégation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journalière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l'ordre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chronologique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5419725"/>
            <a:ext cx="5237591" cy="809625"/>
          </a:xfrm>
          <a:prstGeom prst="roundRect">
            <a:avLst>
              <a:gd name="adj" fmla="val 18823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7723" y="5551130"/>
            <a:ext cx="5048277" cy="54681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 =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pd.to_datetime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 +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 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 +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])</a:t>
            </a:r>
            <a:r>
              <a:rPr sz="1600" dirty="0"/>
              <a:t>
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df.set_index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inplace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=</a:t>
            </a:r>
            <a:r>
              <a:rPr sz="1000" b="0" dirty="0">
                <a:solidFill>
                  <a:srgbClr val="FF9800"/>
                </a:solidFill>
                <a:latin typeface="Courier New"/>
              </a:rPr>
              <a:t>True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)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7296" y="0"/>
            <a:ext cx="514439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3771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49388" y="202882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687507" y="221932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30378" y="2352675"/>
            <a:ext cx="180970" cy="2095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06616" y="2194168"/>
            <a:ext cx="1273041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Données</a:t>
            </a:r>
            <a:r>
              <a:rPr sz="1050" b="1" dirty="0">
                <a:solidFill>
                  <a:srgbClr val="424242"/>
                </a:solidFill>
                <a:latin typeface="Montserrat"/>
              </a:rPr>
              <a:t> brutes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6616" y="2467982"/>
            <a:ext cx="3255956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Mesures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minute-level avec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manquantes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449388" y="303847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687507" y="322897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20853" y="3362326"/>
            <a:ext cx="209544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306616" y="3194293"/>
            <a:ext cx="891526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Nettoyage</a:t>
            </a:r>
            <a:endParaRPr sz="105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6616" y="3468107"/>
            <a:ext cx="3326488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Suppression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incomplètes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+ Index datetime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49388" y="402907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687507" y="421957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0853" y="4352926"/>
            <a:ext cx="209544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06616" y="4194417"/>
            <a:ext cx="1519903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Données</a:t>
            </a:r>
            <a:r>
              <a:rPr sz="1050" b="1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1" dirty="0" err="1">
                <a:solidFill>
                  <a:srgbClr val="424242"/>
                </a:solidFill>
                <a:latin typeface="Montserrat"/>
              </a:rPr>
              <a:t>nettoyées</a:t>
            </a:r>
            <a:endParaRPr sz="105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306616" y="4468232"/>
            <a:ext cx="2359877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Prêtes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agrégation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analyse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3F577BD7-ED2C-49D6-8EA0-25CFB3C73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81923" y="640556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8</a:t>
            </a:fld>
            <a:endParaRPr lang="en-US" sz="140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3869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2160" y="327700"/>
            <a:ext cx="4696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24874"/>
            <a:ext cx="218117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MERGING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7055" y="501882"/>
            <a:ext cx="3421406" cy="465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Fusion des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392" b="1" dirty="0">
                <a:solidFill>
                  <a:srgbClr val="212121"/>
                </a:solidFill>
                <a:latin typeface="Montserrat"/>
              </a:rPr>
              <a:t>Tableaux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274" y="1181497"/>
            <a:ext cx="4248043" cy="1316062"/>
          </a:xfrm>
          <a:prstGeom prst="roundRect">
            <a:avLst>
              <a:gd name="adj" fmla="val 15686"/>
            </a:avLst>
          </a:prstGeom>
          <a:solidFill>
            <a:srgbClr val="F0F7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0443" y="1438671"/>
            <a:ext cx="373370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837" b="1">
                <a:solidFill>
                  <a:srgbClr val="42A5F5"/>
                </a:solidFill>
                <a:latin typeface="Montserrat"/>
              </a:rPr>
              <a:t> PROCESSUS DE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349" y="1417081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827" y="1698385"/>
            <a:ext cx="3733706" cy="6310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DataFrame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+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DataFrame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météo</a:t>
            </a:r>
            <a:r>
              <a:rPr sz="1400" dirty="0"/>
              <a:t>
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Jointure sur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colonne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1" dirty="0">
                <a:solidFill>
                  <a:srgbClr val="616161"/>
                </a:solidFill>
                <a:latin typeface="Montserrat"/>
              </a:rPr>
              <a:t>date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(how='left')</a:t>
            </a:r>
            <a:r>
              <a:rPr sz="1400" dirty="0"/>
              <a:t>
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Création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du tableau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fusionné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complet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218" y="4981178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74664" y="5162154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46150" y="5152628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150" y="5419329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>
                <a:solidFill>
                  <a:srgbClr val="757575"/>
                </a:solidFill>
                <a:latin typeface="Montserrat"/>
              </a:rPr>
              <a:t>Samedi </a:t>
            </a:r>
            <a:r>
              <a:rPr sz="777" b="0" dirty="0" err="1">
                <a:solidFill>
                  <a:srgbClr val="757575"/>
                </a:solidFill>
                <a:latin typeface="Montserrat"/>
              </a:rPr>
              <a:t>ou</a:t>
            </a:r>
            <a:r>
              <a:rPr sz="77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757575"/>
                </a:solidFill>
                <a:latin typeface="Montserrat"/>
              </a:rPr>
              <a:t>dimanche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3218" y="5895578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4664" y="6076554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46150" y="6067028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6150" y="6333729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Jour férié français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8696" y="0"/>
            <a:ext cx="615299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765250" y="1508936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55745" y="1699436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Consommation 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5745" y="1728011"/>
            <a:ext cx="104772" cy="1238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955745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55745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74934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74934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03649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03649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global_power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5250" y="2842436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55745" y="3032935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Météo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5745" y="3061510"/>
            <a:ext cx="16" cy="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55745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55745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74934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74934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03649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803649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56343" y="3932253"/>
            <a:ext cx="228594" cy="304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93220" y="4304214"/>
            <a:ext cx="138845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4DB6AC"/>
                </a:solidFill>
                <a:latin typeface="Montserrat"/>
              </a:rPr>
              <a:t>how='left' ON 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95" y="4665344"/>
            <a:ext cx="4571885" cy="1685925"/>
          </a:xfrm>
          <a:prstGeom prst="roundRect">
            <a:avLst>
              <a:gd name="adj" fmla="val 13559"/>
            </a:avLst>
          </a:prstGeom>
          <a:gradFill rotWithShape="1">
            <a:gsLst>
              <a:gs pos="0">
                <a:srgbClr val="FFFFFF"/>
              </a:gs>
              <a:gs pos="100000">
                <a:srgbClr val="F8F9FA"/>
              </a:gs>
            </a:gsLst>
            <a:lin ang="8100000" scaled="0"/>
          </a:gra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69463" y="4922519"/>
            <a:ext cx="405754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956" b="1">
                <a:solidFill>
                  <a:srgbClr val="212121"/>
                </a:solidFill>
                <a:latin typeface="Montserrat"/>
              </a:rPr>
              <a:t>Tableau Fusionné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38211" y="4951094"/>
            <a:ext cx="152396" cy="152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069463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069463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212121"/>
                </a:solidFill>
                <a:latin typeface="Montserrat"/>
              </a:rPr>
              <a:t>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98138" y="5293994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98138" y="5293994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5861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5861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74536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74536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69463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069463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98138" y="5732144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098138" y="5732144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5861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5861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daylight_h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74536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174536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sunshine_h</a:t>
            </a:r>
          </a:p>
        </p:txBody>
      </p:sp>
      <p:sp>
        <p:nvSpPr>
          <p:cNvPr id="63" name="Espace réservé du numéro de diapositive 62">
            <a:extLst>
              <a:ext uri="{FF2B5EF4-FFF2-40B4-BE49-F238E27FC236}">
                <a16:creationId xmlns:a16="http://schemas.microsoft.com/office/drawing/2014/main" id="{90D1DBAC-7B8E-B180-F6CF-646F300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03649" y="640922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9</a:t>
            </a:fld>
            <a:endParaRPr lang="en-US" sz="1400" b="1" dirty="0"/>
          </a:p>
        </p:txBody>
      </p:sp>
      <p:sp>
        <p:nvSpPr>
          <p:cNvPr id="64" name="Rounded Rectangle 10">
            <a:extLst>
              <a:ext uri="{FF2B5EF4-FFF2-40B4-BE49-F238E27FC236}">
                <a16:creationId xmlns:a16="http://schemas.microsoft.com/office/drawing/2014/main" id="{BA28C7F8-4F5F-AC2D-0B33-E251DF775483}"/>
              </a:ext>
            </a:extLst>
          </p:cNvPr>
          <p:cNvSpPr/>
          <p:nvPr/>
        </p:nvSpPr>
        <p:spPr>
          <a:xfrm>
            <a:off x="6342493" y="316321"/>
            <a:ext cx="5386512" cy="980666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1">
            <a:extLst>
              <a:ext uri="{FF2B5EF4-FFF2-40B4-BE49-F238E27FC236}">
                <a16:creationId xmlns:a16="http://schemas.microsoft.com/office/drawing/2014/main" id="{34F747FD-CAAF-1CAD-F2CF-1C822CC6FCF9}"/>
              </a:ext>
            </a:extLst>
          </p:cNvPr>
          <p:cNvSpPr txBox="1"/>
          <p:nvPr/>
        </p:nvSpPr>
        <p:spPr>
          <a:xfrm>
            <a:off x="6765250" y="636085"/>
            <a:ext cx="5730240" cy="26661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daily.merge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(weather, on="date", how="left")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sp>
        <p:nvSpPr>
          <p:cNvPr id="66" name="Rounded Rectangle 14">
            <a:extLst>
              <a:ext uri="{FF2B5EF4-FFF2-40B4-BE49-F238E27FC236}">
                <a16:creationId xmlns:a16="http://schemas.microsoft.com/office/drawing/2014/main" id="{2B6F209F-7C87-BDD3-E5F2-90535241D752}"/>
              </a:ext>
            </a:extLst>
          </p:cNvPr>
          <p:cNvSpPr/>
          <p:nvPr/>
        </p:nvSpPr>
        <p:spPr>
          <a:xfrm>
            <a:off x="803218" y="3232960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15">
            <a:extLst>
              <a:ext uri="{FF2B5EF4-FFF2-40B4-BE49-F238E27FC236}">
                <a16:creationId xmlns:a16="http://schemas.microsoft.com/office/drawing/2014/main" id="{39D82BD1-68DE-7D15-274E-88914D514E29}"/>
              </a:ext>
            </a:extLst>
          </p:cNvPr>
          <p:cNvSpPr/>
          <p:nvPr/>
        </p:nvSpPr>
        <p:spPr>
          <a:xfrm>
            <a:off x="974664" y="3413936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17">
            <a:extLst>
              <a:ext uri="{FF2B5EF4-FFF2-40B4-BE49-F238E27FC236}">
                <a16:creationId xmlns:a16="http://schemas.microsoft.com/office/drawing/2014/main" id="{CE679F20-0C08-2DCA-EB18-75FFA5D53474}"/>
              </a:ext>
            </a:extLst>
          </p:cNvPr>
          <p:cNvSpPr txBox="1"/>
          <p:nvPr/>
        </p:nvSpPr>
        <p:spPr>
          <a:xfrm>
            <a:off x="1546150" y="3371234"/>
            <a:ext cx="2140266" cy="294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956" b="1" dirty="0">
                <a:solidFill>
                  <a:srgbClr val="424242"/>
                </a:solidFill>
                <a:latin typeface="Montserrat"/>
              </a:rPr>
              <a:t>Données originales du </a:t>
            </a:r>
            <a:r>
              <a:rPr lang="fr-FR" sz="956" b="1" dirty="0" err="1">
                <a:solidFill>
                  <a:srgbClr val="424242"/>
                </a:solidFill>
                <a:latin typeface="Montserrat"/>
              </a:rPr>
              <a:t>DataSet</a:t>
            </a:r>
            <a:endParaRPr sz="95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69" name="TextBox 18">
            <a:extLst>
              <a:ext uri="{FF2B5EF4-FFF2-40B4-BE49-F238E27FC236}">
                <a16:creationId xmlns:a16="http://schemas.microsoft.com/office/drawing/2014/main" id="{0DD4C0C1-4A6D-9148-BFD8-35A3AFE1C2DC}"/>
              </a:ext>
            </a:extLst>
          </p:cNvPr>
          <p:cNvSpPr txBox="1"/>
          <p:nvPr/>
        </p:nvSpPr>
        <p:spPr>
          <a:xfrm>
            <a:off x="1546150" y="3640942"/>
            <a:ext cx="1027782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77" dirty="0">
                <a:solidFill>
                  <a:srgbClr val="757575"/>
                </a:solidFill>
                <a:latin typeface="Montserrat"/>
              </a:rPr>
              <a:t>Avec </a:t>
            </a:r>
            <a:r>
              <a:rPr lang="fr-FR" sz="777" dirty="0" err="1">
                <a:solidFill>
                  <a:srgbClr val="757575"/>
                </a:solidFill>
                <a:latin typeface="Montserrat"/>
              </a:rPr>
              <a:t>agrégartion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pic>
        <p:nvPicPr>
          <p:cNvPr id="70" name="Picture 23" descr="image.png">
            <a:extLst>
              <a:ext uri="{FF2B5EF4-FFF2-40B4-BE49-F238E27FC236}">
                <a16:creationId xmlns:a16="http://schemas.microsoft.com/office/drawing/2014/main" id="{0B81166F-ACFE-32AD-FC44-CD40ADDAD7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2298" y="3562610"/>
            <a:ext cx="104772" cy="123824"/>
          </a:xfrm>
          <a:prstGeom prst="rect">
            <a:avLst/>
          </a:prstGeom>
        </p:spPr>
      </p:pic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053D9A65-00BC-8DC5-A88B-A7808D69969C}"/>
              </a:ext>
            </a:extLst>
          </p:cNvPr>
          <p:cNvSpPr/>
          <p:nvPr/>
        </p:nvSpPr>
        <p:spPr>
          <a:xfrm>
            <a:off x="803218" y="4106096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15">
            <a:extLst>
              <a:ext uri="{FF2B5EF4-FFF2-40B4-BE49-F238E27FC236}">
                <a16:creationId xmlns:a16="http://schemas.microsoft.com/office/drawing/2014/main" id="{01479354-B491-36B8-6E64-5B714268F890}"/>
              </a:ext>
            </a:extLst>
          </p:cNvPr>
          <p:cNvSpPr/>
          <p:nvPr/>
        </p:nvSpPr>
        <p:spPr>
          <a:xfrm>
            <a:off x="974664" y="4287072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E8EF4D9D-EA8D-E0F3-2D9D-D95CF3789D1A}"/>
              </a:ext>
            </a:extLst>
          </p:cNvPr>
          <p:cNvSpPr txBox="1"/>
          <p:nvPr/>
        </p:nvSpPr>
        <p:spPr>
          <a:xfrm>
            <a:off x="1546150" y="4244370"/>
            <a:ext cx="1157625" cy="294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956" b="1" dirty="0">
                <a:solidFill>
                  <a:srgbClr val="424242"/>
                </a:solidFill>
                <a:latin typeface="Montserrat"/>
              </a:rPr>
              <a:t>Données Météo</a:t>
            </a:r>
            <a:endParaRPr sz="95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91127182-AFFB-8349-F182-495C9A536A25}"/>
              </a:ext>
            </a:extLst>
          </p:cNvPr>
          <p:cNvSpPr txBox="1"/>
          <p:nvPr/>
        </p:nvSpPr>
        <p:spPr>
          <a:xfrm>
            <a:off x="1546150" y="4514078"/>
            <a:ext cx="1114344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77" dirty="0" err="1">
                <a:solidFill>
                  <a:srgbClr val="757575"/>
                </a:solidFill>
                <a:latin typeface="Montserrat"/>
              </a:rPr>
              <a:t>Fusionées</a:t>
            </a:r>
            <a:r>
              <a:rPr lang="fr-FR" sz="777" dirty="0">
                <a:solidFill>
                  <a:srgbClr val="757575"/>
                </a:solidFill>
                <a:latin typeface="Montserrat"/>
              </a:rPr>
              <a:t> par date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76" name="TextBox 4">
            <a:extLst>
              <a:ext uri="{FF2B5EF4-FFF2-40B4-BE49-F238E27FC236}">
                <a16:creationId xmlns:a16="http://schemas.microsoft.com/office/drawing/2014/main" id="{B2C96773-7C4F-0875-833E-8B7F283D11E9}"/>
              </a:ext>
            </a:extLst>
          </p:cNvPr>
          <p:cNvSpPr txBox="1"/>
          <p:nvPr/>
        </p:nvSpPr>
        <p:spPr>
          <a:xfrm>
            <a:off x="723274" y="2631914"/>
            <a:ext cx="3421406" cy="44678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 err="1">
                <a:solidFill>
                  <a:srgbClr val="212121"/>
                </a:solidFill>
                <a:latin typeface="Montserrat"/>
              </a:rPr>
              <a:t>DataSet</a:t>
            </a:r>
            <a:r>
              <a:rPr lang="fr-FR" sz="1600" b="1" dirty="0">
                <a:solidFill>
                  <a:srgbClr val="212121"/>
                </a:solidFill>
                <a:latin typeface="Montserrat"/>
              </a:rPr>
              <a:t> Final : </a:t>
            </a:r>
            <a:endParaRPr sz="1600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77" name="Picture 21" descr="image.png">
            <a:extLst>
              <a:ext uri="{FF2B5EF4-FFF2-40B4-BE49-F238E27FC236}">
                <a16:creationId xmlns:a16="http://schemas.microsoft.com/office/drawing/2014/main" id="{4DB6594F-D013-2CF6-DB99-0954A0D4268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79436" y="4428941"/>
            <a:ext cx="190495" cy="152400"/>
          </a:xfrm>
          <a:prstGeom prst="rect">
            <a:avLst/>
          </a:prstGeom>
        </p:spPr>
      </p:pic>
      <p:pic>
        <p:nvPicPr>
          <p:cNvPr id="78" name="Picture 19" descr="image.png">
            <a:extLst>
              <a:ext uri="{FF2B5EF4-FFF2-40B4-BE49-F238E27FC236}">
                <a16:creationId xmlns:a16="http://schemas.microsoft.com/office/drawing/2014/main" id="{6B981B38-1AE0-F004-A82F-DFB27B5B1C2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88961" y="5276453"/>
            <a:ext cx="180970" cy="209550"/>
          </a:xfrm>
          <a:prstGeom prst="rect">
            <a:avLst/>
          </a:prstGeom>
        </p:spPr>
      </p:pic>
      <p:pic>
        <p:nvPicPr>
          <p:cNvPr id="79" name="Picture 19" descr="image.png">
            <a:extLst>
              <a:ext uri="{FF2B5EF4-FFF2-40B4-BE49-F238E27FC236}">
                <a16:creationId xmlns:a16="http://schemas.microsoft.com/office/drawing/2014/main" id="{4065A43F-72FD-F87C-DDB0-F53B3C700F6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98486" y="6136243"/>
            <a:ext cx="180970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761980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0990" y="38100"/>
            <a:ext cx="5333866" cy="329565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3861" y="180975"/>
            <a:ext cx="504812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Consommation moyenne par tranche de température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861" y="476249"/>
            <a:ext cx="5048123" cy="247649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74447" y="2990393"/>
            <a:ext cx="3146952" cy="2390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fonction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 la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température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80990" y="3524250"/>
            <a:ext cx="5333866" cy="3197225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77554" y="3631138"/>
            <a:ext cx="1540743" cy="2719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lang="fr-FR" sz="837" b="1" dirty="0">
                <a:solidFill>
                  <a:srgbClr val="424242"/>
                </a:solidFill>
                <a:latin typeface="Montserrat"/>
              </a:rPr>
              <a:t>Consommation par jours</a:t>
            </a:r>
            <a:endParaRPr sz="83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42903" y="6476543"/>
            <a:ext cx="1810047" cy="2390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lang="fr-FR" sz="1000" b="0" dirty="0">
                <a:solidFill>
                  <a:srgbClr val="757575"/>
                </a:solidFill>
                <a:latin typeface="Montserrat"/>
              </a:rPr>
              <a:t>TOP 10 de consommation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19709" y="771206"/>
            <a:ext cx="504812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390"/>
              </a:spcAft>
            </a:pPr>
            <a:r>
              <a:rPr sz="897" b="0">
                <a:solidFill>
                  <a:srgbClr val="4DB6AC"/>
                </a:solidFill>
                <a:latin typeface="Roboto Slab"/>
              </a:rPr>
              <a:t>HYPOTHESIS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9709" y="1047432"/>
            <a:ext cx="5048123" cy="666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1913" b="1">
                <a:solidFill>
                  <a:srgbClr val="212121"/>
                </a:solidFill>
                <a:latin typeface="Montserrat"/>
              </a:rPr>
              <a:t>Graphes pour valider</a:t>
            </a:r>
            <a:r>
              <a:rPr sz="1104"/>
              <a:t>
</a:t>
            </a:r>
            <a:r>
              <a:rPr sz="1913" b="1">
                <a:solidFill>
                  <a:srgbClr val="212121"/>
                </a:solidFill>
                <a:latin typeface="Montserrat"/>
              </a:rPr>
              <a:t>l'hypothèse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656" y="2270364"/>
            <a:ext cx="2270109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Consommation vs Température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1656" y="2528460"/>
            <a:ext cx="4743331" cy="4086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Relation non linéaire : consommation forte en froid extrême et chaleur excessive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36868" y="3071113"/>
            <a:ext cx="17144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962607" y="3032365"/>
            <a:ext cx="1561581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Variation saisonnière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2607" y="3286440"/>
            <a:ext cx="4164858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Consommation élevée en hiver (déc, jan, nov), faible en été (juil, août)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27342" y="3664063"/>
            <a:ext cx="190495" cy="1904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1656" y="3622915"/>
            <a:ext cx="167699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Pics de consommation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656" y="3867466"/>
            <a:ext cx="4228978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Les jours de forte consommation sont souvent des week-ends en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333" y="4686299"/>
            <a:ext cx="5048123" cy="1163623"/>
          </a:xfrm>
          <a:prstGeom prst="roundRect">
            <a:avLst>
              <a:gd name="adj" fmla="val 15841"/>
            </a:avLst>
          </a:prstGeom>
          <a:solidFill>
            <a:srgbClr val="FFF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137908" y="5215725"/>
            <a:ext cx="1163622" cy="1047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76878" y="4806466"/>
            <a:ext cx="104772" cy="1333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9115" y="4773129"/>
            <a:ext cx="198115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FF6F00"/>
                </a:solidFill>
                <a:latin typeface="Montserrat"/>
              </a:rPr>
              <a:t>Confirmation de </a:t>
            </a:r>
            <a:r>
              <a:rPr sz="837" b="1" dirty="0" err="1">
                <a:solidFill>
                  <a:srgbClr val="FF6F00"/>
                </a:solidFill>
                <a:latin typeface="Montserrat"/>
              </a:rPr>
              <a:t>l'hypothèse</a:t>
            </a:r>
            <a:endParaRPr sz="837" b="1" dirty="0">
              <a:solidFill>
                <a:srgbClr val="FF6F00"/>
              </a:solidFill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876878" y="5009667"/>
            <a:ext cx="4667133" cy="57246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température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n'est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pas le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seul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critère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: </a:t>
            </a:r>
            <a:r>
              <a:rPr lang="fr-FR" sz="1000" b="0" dirty="0">
                <a:solidFill>
                  <a:srgbClr val="616161"/>
                </a:solidFill>
                <a:latin typeface="Montserrat"/>
              </a:rPr>
              <a:t>le type de jour 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(week-end</a:t>
            </a:r>
            <a:r>
              <a:rPr lang="fr-FR" sz="1000" dirty="0">
                <a:solidFill>
                  <a:srgbClr val="616161"/>
                </a:solidFill>
                <a:latin typeface="Montserrat"/>
              </a:rPr>
              <a:t> ou non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) et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saisonnalité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influencent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significativement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24E27699-99E9-AB2D-9C44-272C88E26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26320" y="641350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10</a:t>
            </a:fld>
            <a:endParaRPr lang="en-US" sz="1400" b="1"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7C1BDE04-6728-53EC-84F9-987F543D7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306" y="3967160"/>
            <a:ext cx="3155066" cy="23145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4662" y="123825"/>
            <a:ext cx="57148" cy="5619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3" y="186344"/>
            <a:ext cx="4248043" cy="465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Choix de la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392" b="1" dirty="0" err="1">
                <a:solidFill>
                  <a:srgbClr val="212121"/>
                </a:solidFill>
                <a:latin typeface="Montserrat"/>
              </a:rPr>
              <a:t>Régression</a:t>
            </a:r>
            <a:endParaRPr sz="239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3407" y="876301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-84155" y="1693863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19150" y="1114425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3447" y="1228725"/>
            <a:ext cx="190495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9150" y="16859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Relation Linéaire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150" y="2011614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résultats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montrent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une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relation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linéaire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entre les variables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explicatives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et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cible</a:t>
            </a:r>
            <a:endParaRPr sz="1000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3407" y="2867025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84155" y="3684587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19150" y="3105151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2022" y="3228976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9150" y="3676651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Interprétabilité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150" y="4002339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Modèle simple et interprétable pour expliquer l'impact de chaque variable sur la consommation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407" y="4857750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-84155" y="5675312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19150" y="5095876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3447" y="5210176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9150" y="5667376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Efficacité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50" y="5993065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Approche efficace et éprouvée pour les tâches de prévision numérique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0813" y="1475925"/>
            <a:ext cx="1670586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1000" b="1">
                <a:solidFill>
                  <a:srgbClr val="4DB6AC"/>
                </a:solidFill>
                <a:latin typeface="Montserrat"/>
              </a:rPr>
              <a:t>ALGORITHMES TESTÉS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1328" y="1759810"/>
            <a:ext cx="2829557" cy="3475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2121"/>
                </a:solidFill>
                <a:latin typeface="Montserrat"/>
              </a:rPr>
              <a:t>Trois Modèles de Régression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500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Rounded Rectangle 27"/>
          <p:cNvSpPr/>
          <p:nvPr/>
        </p:nvSpPr>
        <p:spPr>
          <a:xfrm>
            <a:off x="6524461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57808" y="2895600"/>
            <a:ext cx="304792" cy="26669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2575" y="3428549"/>
            <a:ext cx="117525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8403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8410364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543711" y="2895600"/>
            <a:ext cx="304792" cy="2666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38899" y="3443556"/>
            <a:ext cx="1314417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4306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Rounded Rectangle 39"/>
          <p:cNvSpPr/>
          <p:nvPr/>
        </p:nvSpPr>
        <p:spPr>
          <a:xfrm>
            <a:off x="10296267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467713" y="2895600"/>
            <a:ext cx="238119" cy="2666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24801" y="3445127"/>
            <a:ext cx="1314417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62500" y="4686300"/>
            <a:ext cx="5467213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6" name="Round Same Side Corner Rectangle 45"/>
          <p:cNvSpPr/>
          <p:nvPr/>
        </p:nvSpPr>
        <p:spPr>
          <a:xfrm rot="16200000">
            <a:off x="5699928" y="4948872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46"/>
          <p:cNvSpPr txBox="1"/>
          <p:nvPr/>
        </p:nvSpPr>
        <p:spPr>
          <a:xfrm>
            <a:off x="6191095" y="4805625"/>
            <a:ext cx="5048123" cy="41857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dirty="0"/>
              <a:t>  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Tous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les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modèles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sont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adaptés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aux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problèmes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régression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et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permettent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prédire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une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valeur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continue (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en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kWh) 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191095" y="4857750"/>
            <a:ext cx="123821" cy="123824"/>
          </a:xfrm>
          <a:prstGeom prst="rect">
            <a:avLst/>
          </a:prstGeom>
        </p:spPr>
      </p:pic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828EBF3-2E7A-EC50-0BC4-CD0E63CCF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24801" y="641000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11</a:t>
            </a:fld>
            <a:endParaRPr lang="en-US" sz="1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-952476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8EAF6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334266" y="4476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531481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PROPOSED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531481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3 Algorithmes proposés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67673" y="981074"/>
            <a:ext cx="133346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77218" y="971550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485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9604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624" y="2047874"/>
            <a:ext cx="266693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604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604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1782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57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d'ensemble construisant plusieurs arbres de décision et les combinant par vote ou moyennage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604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Robuste au surapprentissage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143375"/>
            <a:ext cx="95247" cy="95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9604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Gère les relations non linéaires 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429125"/>
            <a:ext cx="95247" cy="952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9604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Haute performance par défaut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705350"/>
            <a:ext cx="95247" cy="9524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352816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90935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52856" y="2047874"/>
            <a:ext cx="342891" cy="304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90935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90935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4233113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7190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séquentielle construisant des arbres un par un, chaque modèle corrigeant les erreurs du précédent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935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Modèle puissant et régularisable 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143375"/>
            <a:ext cx="95247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90935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Contrôle du taux d'apprentissage 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429125"/>
            <a:ext cx="95247" cy="9524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90935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Early stopping intégré 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705350"/>
            <a:ext cx="95247" cy="9524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124621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62740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543711" y="2047874"/>
            <a:ext cx="304792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62740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2740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8004918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43711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linéaire simple supposant une relation linéaire entre les variables explicatives et la cible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2740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Simple et interprétable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143375"/>
            <a:ext cx="95247" cy="9524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362740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Estimation par moindres carrés 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429125"/>
            <a:ext cx="95247" cy="9524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362740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Limité pour données non linéaires 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705350"/>
            <a:ext cx="95247" cy="95249"/>
          </a:xfrm>
          <a:prstGeom prst="rect">
            <a:avLst/>
          </a:prstGeom>
        </p:spPr>
      </p:pic>
      <p:sp>
        <p:nvSpPr>
          <p:cNvPr id="48" name="Espace réservé du numéro de diapositive 47">
            <a:extLst>
              <a:ext uri="{FF2B5EF4-FFF2-40B4-BE49-F238E27FC236}">
                <a16:creationId xmlns:a16="http://schemas.microsoft.com/office/drawing/2014/main" id="{CFFC1506-1847-6209-F577-98BB966B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7441" y="6377304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12</a:t>
            </a:fld>
            <a:endParaRPr lang="en-US" sz="1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001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200150"/>
            <a:ext cx="32193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FIRST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485900"/>
            <a:ext cx="3219369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Premier Modèle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657475"/>
            <a:ext cx="4248043" cy="1924049"/>
          </a:xfrm>
          <a:prstGeom prst="roundRect">
            <a:avLst>
              <a:gd name="adj" fmla="val 11881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17494" y="3536949"/>
            <a:ext cx="19240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933699"/>
            <a:ext cx="12382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6793" y="2895600"/>
            <a:ext cx="1209644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Variables brutes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1070" y="3248024"/>
            <a:ext cx="157158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temp_min/max/moyenne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725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5072" y="3248024"/>
            <a:ext cx="113344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précipitation_sum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7723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1070" y="3552825"/>
            <a:ext cx="92390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daylight_hours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725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5072" y="3552825"/>
            <a:ext cx="115249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sunshine_duration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1070" y="3848099"/>
            <a:ext cx="8381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jour_semaine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725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5072" y="3848099"/>
            <a:ext cx="72388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7723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1070" y="4152899"/>
            <a:ext cx="6095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71725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05072" y="4152899"/>
            <a:ext cx="30479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4762500"/>
            <a:ext cx="4248043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2476" y="5124449"/>
            <a:ext cx="170493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Découpage chronologique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1220" y="4935711"/>
            <a:ext cx="532454" cy="3774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35" b="1" dirty="0">
                <a:solidFill>
                  <a:srgbClr val="42A5F5"/>
                </a:solidFill>
                <a:latin typeface="Montserrat"/>
              </a:rPr>
              <a:t>75</a:t>
            </a:r>
            <a:r>
              <a:rPr sz="1435" b="1" dirty="0">
                <a:solidFill>
                  <a:srgbClr val="42A5F5"/>
                </a:solidFill>
                <a:latin typeface="Montserrat"/>
              </a:rPr>
              <a:t>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0279" y="5295899"/>
            <a:ext cx="51433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8933" y="4935711"/>
            <a:ext cx="527645" cy="3774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42A5F5"/>
                </a:solidFill>
                <a:latin typeface="Montserrat"/>
              </a:rPr>
              <a:t>2</a:t>
            </a:r>
            <a:r>
              <a:rPr lang="fr-FR" sz="1435" b="1" dirty="0">
                <a:solidFill>
                  <a:srgbClr val="42A5F5"/>
                </a:solidFill>
                <a:latin typeface="Montserrat"/>
              </a:rPr>
              <a:t>5</a:t>
            </a:r>
            <a:r>
              <a:rPr sz="1435" b="1" dirty="0">
                <a:solidFill>
                  <a:srgbClr val="42A5F5"/>
                </a:solidFill>
                <a:latin typeface="Montserrat"/>
              </a:rPr>
              <a:t>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112" y="5295899"/>
            <a:ext cx="49528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1857375"/>
            <a:ext cx="142871" cy="14287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00619" y="1819275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62500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 rot="16200000">
            <a:off x="5502125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8243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8243" y="2781300"/>
            <a:ext cx="211449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EF5350"/>
                </a:solidFill>
                <a:latin typeface="Montserrat"/>
              </a:rPr>
              <a:t>0.23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91355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 rot="16200000">
            <a:off x="8330980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77098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7098" y="2749874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7.31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648074"/>
            <a:ext cx="5467213" cy="1390650"/>
          </a:xfrm>
          <a:prstGeom prst="roundRect">
            <a:avLst>
              <a:gd name="adj" fmla="val 16438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349725" y="4260849"/>
            <a:ext cx="13906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48243" y="3952874"/>
            <a:ext cx="266693" cy="26669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248243" y="4400550"/>
            <a:ext cx="494335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616161"/>
                </a:solidFill>
                <a:latin typeface="Montserrat"/>
              </a:rPr>
              <a:t>Prédiction non satisfaisante. Le modèle nécessite des améliorations significatives avec de nouvelles variables et du nettoyage.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9AD82590-7F95-0E90-950B-5E8931F0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4071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13</a:t>
            </a:fld>
            <a:endParaRPr lang="en-US" sz="14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0955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DEGREES-JOURS UNIFIÉS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095547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 dirty="0"/>
              <a:t>
</a:t>
            </a:r>
            <a:r>
              <a:rPr sz="2392" b="1" dirty="0" err="1">
                <a:solidFill>
                  <a:srgbClr val="212121"/>
                </a:solidFill>
                <a:latin typeface="Montserrat"/>
              </a:rPr>
              <a:t>Calcul</a:t>
            </a:r>
            <a:r>
              <a:rPr sz="2392" b="1" dirty="0">
                <a:solidFill>
                  <a:srgbClr val="212121"/>
                </a:solidFill>
                <a:latin typeface="Montserrat"/>
              </a:rPr>
              <a:t> de DJU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2257425"/>
          </a:xfrm>
          <a:prstGeom prst="roundRect">
            <a:avLst>
              <a:gd name="adj" fmla="val 10126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84182" y="2951161"/>
            <a:ext cx="22574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181225"/>
            <a:ext cx="15" cy="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4242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842" y="2143125"/>
            <a:ext cx="29145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Relation Température - Consommation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250507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2971" y="2590799"/>
            <a:ext cx="133346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95387" y="2505074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Froid extrême (-2°C)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Chauffage augmente fortement la consommation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7723" y="2990849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2971" y="3076574"/>
            <a:ext cx="152396" cy="152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95387" y="2990849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Chaleur extrême (30°C)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Climatisation augmente la consommation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723" y="347662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62020" y="3571875"/>
            <a:ext cx="95247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95387" y="3476624"/>
            <a:ext cx="29812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Zone de confort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Consommation plus faible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980" y="4352924"/>
            <a:ext cx="4248043" cy="217170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42A5F5"/>
              </a:gs>
              <a:gs pos="100000">
                <a:srgbClr val="1E88E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0099" y="4629150"/>
            <a:ext cx="114297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09644" y="4591050"/>
            <a:ext cx="213354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Degrés-Jours Unifiés (DJU)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0099" y="4933950"/>
            <a:ext cx="3771805" cy="600075"/>
          </a:xfrm>
          <a:prstGeom prst="roundRect">
            <a:avLst>
              <a:gd name="adj" fmla="val 25396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0099" y="5056791"/>
            <a:ext cx="3771805" cy="35439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780"/>
              </a:spcAft>
            </a:pPr>
            <a:r>
              <a:rPr sz="1315" b="1" dirty="0">
                <a:solidFill>
                  <a:srgbClr val="FFFFFF"/>
                </a:solidFill>
                <a:latin typeface="Roboto Slab"/>
              </a:rPr>
              <a:t> DJU = max(0, 18 </a:t>
            </a:r>
            <a:r>
              <a:rPr lang="fr-FR" sz="1315" b="1" dirty="0">
                <a:solidFill>
                  <a:srgbClr val="FFFFFF"/>
                </a:solidFill>
                <a:latin typeface="Roboto Slab"/>
              </a:rPr>
              <a:t>–</a:t>
            </a:r>
            <a:r>
              <a:rPr sz="1315" b="1" dirty="0">
                <a:solidFill>
                  <a:srgbClr val="FFFFFF"/>
                </a:solidFill>
                <a:latin typeface="Roboto Slab"/>
              </a:rPr>
              <a:t> T</a:t>
            </a:r>
            <a:r>
              <a:rPr lang="fr-FR" sz="956" b="1" dirty="0">
                <a:solidFill>
                  <a:srgbClr val="FFFFFF"/>
                </a:solidFill>
                <a:latin typeface="Roboto Slab"/>
              </a:rPr>
              <a:t> du jour)</a:t>
            </a:r>
            <a:r>
              <a:rPr sz="1315" b="1" dirty="0">
                <a:solidFill>
                  <a:srgbClr val="FFFFFF"/>
                </a:solidFill>
                <a:latin typeface="Roboto Slab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099" y="5547086"/>
            <a:ext cx="3771805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Seuil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confort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: </a:t>
            </a:r>
            <a:r>
              <a:rPr sz="1050" b="1" dirty="0">
                <a:solidFill>
                  <a:srgbClr val="FFFFFF"/>
                </a:solidFill>
                <a:latin typeface="Montserrat"/>
              </a:rPr>
              <a:t>18°C</a:t>
            </a:r>
            <a:endParaRPr lang="fr-FR" sz="1050" b="1" dirty="0">
              <a:solidFill>
                <a:srgbClr val="FFFFFF"/>
              </a:solidFill>
              <a:latin typeface="Montserrat"/>
            </a:endParaRP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dirty="0"/>
              <a:t>
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Relation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approximativement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linéaire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avec la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consommation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chauffage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578330" y="335914"/>
            <a:ext cx="6460994" cy="40005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57866" y="460266"/>
            <a:ext cx="4657915" cy="318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 err="1">
                <a:solidFill>
                  <a:srgbClr val="212121"/>
                </a:solidFill>
                <a:latin typeface="Montserrat"/>
              </a:rPr>
              <a:t>Température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Consommation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F2690F59-D028-AF84-5068-D04A2F56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41745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14</a:t>
            </a:fld>
            <a:endParaRPr lang="en-US" sz="1400" b="1" dirty="0"/>
          </a:p>
        </p:txBody>
      </p:sp>
      <p:pic>
        <p:nvPicPr>
          <p:cNvPr id="47" name="Picture 33" descr="image.png">
            <a:extLst>
              <a:ext uri="{FF2B5EF4-FFF2-40B4-BE49-F238E27FC236}">
                <a16:creationId xmlns:a16="http://schemas.microsoft.com/office/drawing/2014/main" id="{9E0AB653-F03A-C0A3-8A51-A6B907D05EE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48242" y="5010150"/>
            <a:ext cx="142871" cy="142875"/>
          </a:xfrm>
          <a:prstGeom prst="rect">
            <a:avLst/>
          </a:prstGeom>
        </p:spPr>
      </p:pic>
      <p:sp>
        <p:nvSpPr>
          <p:cNvPr id="48" name="TextBox 34">
            <a:extLst>
              <a:ext uri="{FF2B5EF4-FFF2-40B4-BE49-F238E27FC236}">
                <a16:creationId xmlns:a16="http://schemas.microsoft.com/office/drawing/2014/main" id="{7921D8DE-A0F2-322C-15E7-976DC2EA1BEF}"/>
              </a:ext>
            </a:extLst>
          </p:cNvPr>
          <p:cNvSpPr txBox="1"/>
          <p:nvPr/>
        </p:nvSpPr>
        <p:spPr>
          <a:xfrm>
            <a:off x="6486361" y="4972050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Résultats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du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modèle</a:t>
            </a:r>
            <a:endParaRPr sz="89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9" name="Rounded Rectangle 35">
            <a:extLst>
              <a:ext uri="{FF2B5EF4-FFF2-40B4-BE49-F238E27FC236}">
                <a16:creationId xmlns:a16="http://schemas.microsoft.com/office/drawing/2014/main" id="{8E0D7021-B4F5-CE28-9556-0F12182FEBD7}"/>
              </a:ext>
            </a:extLst>
          </p:cNvPr>
          <p:cNvSpPr/>
          <p:nvPr/>
        </p:nvSpPr>
        <p:spPr>
          <a:xfrm>
            <a:off x="6248242" y="542924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 Same Side Corner Rectangle 36">
            <a:extLst>
              <a:ext uri="{FF2B5EF4-FFF2-40B4-BE49-F238E27FC236}">
                <a16:creationId xmlns:a16="http://schemas.microsoft.com/office/drawing/2014/main" id="{4617EC37-F372-082D-6C3A-3D708F00D844}"/>
              </a:ext>
            </a:extLst>
          </p:cNvPr>
          <p:cNvSpPr/>
          <p:nvPr/>
        </p:nvSpPr>
        <p:spPr>
          <a:xfrm rot="16200000">
            <a:off x="5787867" y="588962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37">
            <a:extLst>
              <a:ext uri="{FF2B5EF4-FFF2-40B4-BE49-F238E27FC236}">
                <a16:creationId xmlns:a16="http://schemas.microsoft.com/office/drawing/2014/main" id="{DA892F1A-61B8-2A1B-0C62-893F86BBF43E}"/>
              </a:ext>
            </a:extLst>
          </p:cNvPr>
          <p:cNvSpPr txBox="1"/>
          <p:nvPr/>
        </p:nvSpPr>
        <p:spPr>
          <a:xfrm>
            <a:off x="6533985" y="566737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F1E25D7E-A572-5748-6EA1-9D088AC8567B}"/>
              </a:ext>
            </a:extLst>
          </p:cNvPr>
          <p:cNvSpPr txBox="1"/>
          <p:nvPr/>
        </p:nvSpPr>
        <p:spPr>
          <a:xfrm>
            <a:off x="6533985" y="5902649"/>
            <a:ext cx="75847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0.</a:t>
            </a:r>
            <a:r>
              <a:rPr lang="fr-FR" sz="2152" b="1" dirty="0">
                <a:solidFill>
                  <a:srgbClr val="EF5350"/>
                </a:solidFill>
                <a:latin typeface="Montserrat"/>
              </a:rPr>
              <a:t>30</a:t>
            </a:r>
            <a:endParaRPr sz="2152" b="1" dirty="0">
              <a:solidFill>
                <a:srgbClr val="EF5350"/>
              </a:solidFill>
              <a:latin typeface="Montserrat"/>
            </a:endParaRPr>
          </a:p>
        </p:txBody>
      </p:sp>
      <p:sp>
        <p:nvSpPr>
          <p:cNvPr id="53" name="Rounded Rectangle 39">
            <a:extLst>
              <a:ext uri="{FF2B5EF4-FFF2-40B4-BE49-F238E27FC236}">
                <a16:creationId xmlns:a16="http://schemas.microsoft.com/office/drawing/2014/main" id="{CBCF639B-956F-DA26-6463-F9AA891B0362}"/>
              </a:ext>
            </a:extLst>
          </p:cNvPr>
          <p:cNvSpPr/>
          <p:nvPr/>
        </p:nvSpPr>
        <p:spPr>
          <a:xfrm>
            <a:off x="9077097" y="542924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 Same Side Corner Rectangle 40">
            <a:extLst>
              <a:ext uri="{FF2B5EF4-FFF2-40B4-BE49-F238E27FC236}">
                <a16:creationId xmlns:a16="http://schemas.microsoft.com/office/drawing/2014/main" id="{9C5E495B-AA6D-F5C4-0B64-99BD784A655B}"/>
              </a:ext>
            </a:extLst>
          </p:cNvPr>
          <p:cNvSpPr/>
          <p:nvPr/>
        </p:nvSpPr>
        <p:spPr>
          <a:xfrm rot="16200000">
            <a:off x="8616722" y="588962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41">
            <a:extLst>
              <a:ext uri="{FF2B5EF4-FFF2-40B4-BE49-F238E27FC236}">
                <a16:creationId xmlns:a16="http://schemas.microsoft.com/office/drawing/2014/main" id="{9BF68AD1-0958-8C04-663A-92C202F376E6}"/>
              </a:ext>
            </a:extLst>
          </p:cNvPr>
          <p:cNvSpPr txBox="1"/>
          <p:nvPr/>
        </p:nvSpPr>
        <p:spPr>
          <a:xfrm>
            <a:off x="9362840" y="566737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56" name="TextBox 42">
            <a:extLst>
              <a:ext uri="{FF2B5EF4-FFF2-40B4-BE49-F238E27FC236}">
                <a16:creationId xmlns:a16="http://schemas.microsoft.com/office/drawing/2014/main" id="{EF2CF217-7E39-6548-4010-5CAF05E2BE76}"/>
              </a:ext>
            </a:extLst>
          </p:cNvPr>
          <p:cNvSpPr txBox="1"/>
          <p:nvPr/>
        </p:nvSpPr>
        <p:spPr>
          <a:xfrm>
            <a:off x="9362840" y="5902649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52" b="1" dirty="0">
                <a:solidFill>
                  <a:srgbClr val="EF5350"/>
                </a:solidFill>
                <a:latin typeface="Montserrat"/>
              </a:rPr>
              <a:t>6.2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18C9B0E5-736F-4212-7407-1923108437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4366" y="981155"/>
            <a:ext cx="6112933" cy="2907451"/>
          </a:xfrm>
          <a:prstGeom prst="rect">
            <a:avLst/>
          </a:prstGeom>
        </p:spPr>
      </p:pic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1F315056-E955-096A-2390-F48774EC58FB}"/>
              </a:ext>
            </a:extLst>
          </p:cNvPr>
          <p:cNvSpPr/>
          <p:nvPr/>
        </p:nvSpPr>
        <p:spPr>
          <a:xfrm>
            <a:off x="5594215" y="335913"/>
            <a:ext cx="6460994" cy="40005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27">
            <a:extLst>
              <a:ext uri="{FF2B5EF4-FFF2-40B4-BE49-F238E27FC236}">
                <a16:creationId xmlns:a16="http://schemas.microsoft.com/office/drawing/2014/main" id="{A819B3A6-9171-7291-2E0D-CFFDCB99450B}"/>
              </a:ext>
            </a:extLst>
          </p:cNvPr>
          <p:cNvSpPr txBox="1"/>
          <p:nvPr/>
        </p:nvSpPr>
        <p:spPr>
          <a:xfrm>
            <a:off x="7716485" y="486577"/>
            <a:ext cx="4657915" cy="318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76" b="1" dirty="0">
                <a:solidFill>
                  <a:srgbClr val="212121"/>
                </a:solidFill>
                <a:latin typeface="Montserrat"/>
              </a:rPr>
              <a:t>DJU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Consommation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61" name="Image 60">
            <a:extLst>
              <a:ext uri="{FF2B5EF4-FFF2-40B4-BE49-F238E27FC236}">
                <a16:creationId xmlns:a16="http://schemas.microsoft.com/office/drawing/2014/main" id="{F364F870-B0F2-DEC6-A488-7528E2E58E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074" y="1016427"/>
            <a:ext cx="5877052" cy="29119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95306" y="642828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2000" y="642828"/>
            <a:ext cx="132394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LAG VARIABLE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00" y="928578"/>
            <a:ext cx="1323941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Lag-1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06" y="1690577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58719" y="2327164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8394" y="1938228"/>
            <a:ext cx="156206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>
                <a:solidFill>
                  <a:srgbClr val="42A5F5"/>
                </a:solidFill>
                <a:latin typeface="Montserrat"/>
              </a:rPr>
              <a:t>Variable de </a:t>
            </a:r>
            <a:r>
              <a:rPr sz="897" b="1" dirty="0" err="1">
                <a:solidFill>
                  <a:srgbClr val="42A5F5"/>
                </a:solidFill>
                <a:latin typeface="Montserrat"/>
              </a:rPr>
              <a:t>décalage</a:t>
            </a:r>
            <a:endParaRPr sz="897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81049" y="2357328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52495" y="2290652"/>
            <a:ext cx="329556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1">
                <a:solidFill>
                  <a:srgbClr val="424242"/>
                </a:solidFill>
                <a:latin typeface="Montserrat"/>
              </a:rPr>
              <a:t>energy_kwh_lag1</a:t>
            </a:r>
            <a:r>
              <a:rPr sz="777" b="0">
                <a:solidFill>
                  <a:srgbClr val="616161"/>
                </a:solidFill>
                <a:latin typeface="Montserrat"/>
              </a:rPr>
              <a:t> : Consommation du jour précédent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1049" y="2662127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495" y="2585928"/>
            <a:ext cx="255263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Suppression des lignes sans valeur de lag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306" y="3319352"/>
            <a:ext cx="4248043" cy="1666874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1" y="3557478"/>
            <a:ext cx="133346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3445" y="3528903"/>
            <a:ext cx="1914477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Encodage cyclique du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851" y="3871803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9148" y="3986103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sin_mois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148" y="4224227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sinusoïdale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6002" y="3871803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00299" y="3986103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cos_mois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299" y="4224227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cosinus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51" y="4605228"/>
            <a:ext cx="382895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→ Décembre et janvier sont proches dans l'espace cyclique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72A4C754-8DE1-E233-3F19-A2321FC4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42069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15</a:t>
            </a:fld>
            <a:endParaRPr lang="en-US" sz="1400" b="1" dirty="0"/>
          </a:p>
        </p:txBody>
      </p:sp>
      <p:pic>
        <p:nvPicPr>
          <p:cNvPr id="37" name="Picture 33" descr="image.png">
            <a:extLst>
              <a:ext uri="{FF2B5EF4-FFF2-40B4-BE49-F238E27FC236}">
                <a16:creationId xmlns:a16="http://schemas.microsoft.com/office/drawing/2014/main" id="{FD5C653B-FAD4-8103-FB95-B42288AAB1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57747" y="356870"/>
            <a:ext cx="142871" cy="142875"/>
          </a:xfrm>
          <a:prstGeom prst="rect">
            <a:avLst/>
          </a:prstGeom>
        </p:spPr>
      </p:pic>
      <p:sp>
        <p:nvSpPr>
          <p:cNvPr id="38" name="TextBox 34">
            <a:extLst>
              <a:ext uri="{FF2B5EF4-FFF2-40B4-BE49-F238E27FC236}">
                <a16:creationId xmlns:a16="http://schemas.microsoft.com/office/drawing/2014/main" id="{E21D56CC-B539-9523-73AD-68CB4BE4CBEB}"/>
              </a:ext>
            </a:extLst>
          </p:cNvPr>
          <p:cNvSpPr txBox="1"/>
          <p:nvPr/>
        </p:nvSpPr>
        <p:spPr>
          <a:xfrm>
            <a:off x="6295866" y="318770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Résultats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du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modèle</a:t>
            </a:r>
            <a:endParaRPr sz="89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9" name="Rounded Rectangle 35">
            <a:extLst>
              <a:ext uri="{FF2B5EF4-FFF2-40B4-BE49-F238E27FC236}">
                <a16:creationId xmlns:a16="http://schemas.microsoft.com/office/drawing/2014/main" id="{B5C9E56D-8968-50EA-5F98-D46A51FA15F0}"/>
              </a:ext>
            </a:extLst>
          </p:cNvPr>
          <p:cNvSpPr/>
          <p:nvPr/>
        </p:nvSpPr>
        <p:spPr>
          <a:xfrm>
            <a:off x="6057747" y="77596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6">
            <a:extLst>
              <a:ext uri="{FF2B5EF4-FFF2-40B4-BE49-F238E27FC236}">
                <a16:creationId xmlns:a16="http://schemas.microsoft.com/office/drawing/2014/main" id="{15A21795-9527-A5B2-FABC-36ED49AD6CD5}"/>
              </a:ext>
            </a:extLst>
          </p:cNvPr>
          <p:cNvSpPr/>
          <p:nvPr/>
        </p:nvSpPr>
        <p:spPr>
          <a:xfrm rot="16200000">
            <a:off x="5597372" y="123634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CAE4F7B2-1EB3-CDBA-B6EE-0E4862AE6042}"/>
              </a:ext>
            </a:extLst>
          </p:cNvPr>
          <p:cNvSpPr txBox="1"/>
          <p:nvPr/>
        </p:nvSpPr>
        <p:spPr>
          <a:xfrm>
            <a:off x="6343490" y="101409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45354C20-EC11-D8CE-8EE3-1D6E667A9205}"/>
              </a:ext>
            </a:extLst>
          </p:cNvPr>
          <p:cNvSpPr txBox="1"/>
          <p:nvPr/>
        </p:nvSpPr>
        <p:spPr>
          <a:xfrm>
            <a:off x="6343490" y="1249369"/>
            <a:ext cx="761683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0.</a:t>
            </a:r>
            <a:r>
              <a:rPr lang="fr-FR" sz="2152" b="1" dirty="0">
                <a:solidFill>
                  <a:srgbClr val="EF5350"/>
                </a:solidFill>
                <a:latin typeface="Montserrat"/>
              </a:rPr>
              <a:t>43</a:t>
            </a:r>
            <a:endParaRPr sz="2152" b="1" dirty="0">
              <a:solidFill>
                <a:srgbClr val="EF5350"/>
              </a:solidFill>
              <a:latin typeface="Montserrat"/>
            </a:endParaRPr>
          </a:p>
        </p:txBody>
      </p:sp>
      <p:sp>
        <p:nvSpPr>
          <p:cNvPr id="43" name="Rounded Rectangle 39">
            <a:extLst>
              <a:ext uri="{FF2B5EF4-FFF2-40B4-BE49-F238E27FC236}">
                <a16:creationId xmlns:a16="http://schemas.microsoft.com/office/drawing/2014/main" id="{DFA2B1B2-7286-8C4D-D5EB-B9BEE9483771}"/>
              </a:ext>
            </a:extLst>
          </p:cNvPr>
          <p:cNvSpPr/>
          <p:nvPr/>
        </p:nvSpPr>
        <p:spPr>
          <a:xfrm>
            <a:off x="8886602" y="77596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 Same Side Corner Rectangle 40">
            <a:extLst>
              <a:ext uri="{FF2B5EF4-FFF2-40B4-BE49-F238E27FC236}">
                <a16:creationId xmlns:a16="http://schemas.microsoft.com/office/drawing/2014/main" id="{089EC456-6BAD-E67E-FE55-961430983E81}"/>
              </a:ext>
            </a:extLst>
          </p:cNvPr>
          <p:cNvSpPr/>
          <p:nvPr/>
        </p:nvSpPr>
        <p:spPr>
          <a:xfrm rot="16200000">
            <a:off x="8426227" y="123634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1">
            <a:extLst>
              <a:ext uri="{FF2B5EF4-FFF2-40B4-BE49-F238E27FC236}">
                <a16:creationId xmlns:a16="http://schemas.microsoft.com/office/drawing/2014/main" id="{DDDDF28C-C717-40CD-6B8E-0FE7C53BD58E}"/>
              </a:ext>
            </a:extLst>
          </p:cNvPr>
          <p:cNvSpPr txBox="1"/>
          <p:nvPr/>
        </p:nvSpPr>
        <p:spPr>
          <a:xfrm>
            <a:off x="9172345" y="101409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6" name="TextBox 42">
            <a:extLst>
              <a:ext uri="{FF2B5EF4-FFF2-40B4-BE49-F238E27FC236}">
                <a16:creationId xmlns:a16="http://schemas.microsoft.com/office/drawing/2014/main" id="{78595D41-9B1F-CF0F-E5D3-747EDB7A4A0B}"/>
              </a:ext>
            </a:extLst>
          </p:cNvPr>
          <p:cNvSpPr txBox="1"/>
          <p:nvPr/>
        </p:nvSpPr>
        <p:spPr>
          <a:xfrm>
            <a:off x="9172345" y="1249369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52" b="1" dirty="0">
                <a:solidFill>
                  <a:srgbClr val="EF5350"/>
                </a:solidFill>
                <a:latin typeface="Montserrat"/>
              </a:rPr>
              <a:t>6.2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48" name="Rounded Rectangle 25">
            <a:extLst>
              <a:ext uri="{FF2B5EF4-FFF2-40B4-BE49-F238E27FC236}">
                <a16:creationId xmlns:a16="http://schemas.microsoft.com/office/drawing/2014/main" id="{C3C3BB03-260B-9C45-585A-0BD7166C1ED3}"/>
              </a:ext>
            </a:extLst>
          </p:cNvPr>
          <p:cNvSpPr/>
          <p:nvPr/>
        </p:nvSpPr>
        <p:spPr>
          <a:xfrm>
            <a:off x="5838678" y="2060574"/>
            <a:ext cx="6086323" cy="4375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5A6F6D8F-7074-F5EB-7E58-B91FC9B86940}"/>
              </a:ext>
            </a:extLst>
          </p:cNvPr>
          <p:cNvSpPr txBox="1"/>
          <p:nvPr/>
        </p:nvSpPr>
        <p:spPr>
          <a:xfrm>
            <a:off x="6084682" y="2296050"/>
            <a:ext cx="202877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>
                <a:solidFill>
                  <a:srgbClr val="212121"/>
                </a:solidFill>
                <a:latin typeface="Montserrat"/>
              </a:rPr>
              <a:t>Relation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Réel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Prédit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50" name="Image 49">
            <a:extLst>
              <a:ext uri="{FF2B5EF4-FFF2-40B4-BE49-F238E27FC236}">
                <a16:creationId xmlns:a16="http://schemas.microsoft.com/office/drawing/2014/main" id="{9BB902C8-960D-CCCE-CA6A-D1D377540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782" y="2678430"/>
            <a:ext cx="5473403" cy="348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9022" y="125729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895350"/>
            <a:ext cx="37432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181099"/>
            <a:ext cx="3743231" cy="800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Filtrage et</a:t>
            </a:r>
            <a:r>
              <a:rPr sz="1104"/>
              <a:t>
</a:t>
            </a:r>
            <a:r>
              <a:rPr sz="2272" b="1">
                <a:solidFill>
                  <a:srgbClr val="212121"/>
                </a:solidFill>
                <a:latin typeface="Montserrat"/>
              </a:rPr>
              <a:t>Choix Automatique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257425"/>
            <a:ext cx="4076598" cy="1581149"/>
          </a:xfrm>
          <a:prstGeom prst="roundRect">
            <a:avLst>
              <a:gd name="adj" fmla="val 14457"/>
            </a:avLst>
          </a:prstGeom>
          <a:gradFill rotWithShape="1">
            <a:gsLst>
              <a:gs pos="0">
                <a:srgbClr val="F0F7FF"/>
              </a:gs>
              <a:gs pos="100000">
                <a:srgbClr val="E3F2FD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41291" y="2965449"/>
            <a:ext cx="15811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486025"/>
            <a:ext cx="133346" cy="1333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4397" y="2447924"/>
            <a:ext cx="193352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Filtrage des jours atypiques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852" y="2762249"/>
            <a:ext cx="3647983" cy="885825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7723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23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Min kWh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4557" y="3038475"/>
            <a:ext cx="19049" cy="33337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33606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06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Max 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4029075"/>
            <a:ext cx="4076598" cy="1943100"/>
          </a:xfrm>
          <a:prstGeom prst="roundRect">
            <a:avLst>
              <a:gd name="adj" fmla="val 11764"/>
            </a:avLst>
          </a:prstGeom>
          <a:solidFill>
            <a:srgbClr val="F8F9FA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7703" y="4238624"/>
            <a:ext cx="123821" cy="1238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7723" y="4179880"/>
            <a:ext cx="1898212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>
                <a:solidFill>
                  <a:srgbClr val="424242"/>
                </a:solidFill>
                <a:latin typeface="Montserrat"/>
              </a:rPr>
              <a:t>Importance des variables (Top </a:t>
            </a:r>
            <a:r>
              <a:rPr lang="fr-FR" sz="777" b="1" dirty="0">
                <a:solidFill>
                  <a:srgbClr val="424242"/>
                </a:solidFill>
                <a:latin typeface="Montserrat"/>
              </a:rPr>
              <a:t>10</a:t>
            </a:r>
            <a:r>
              <a:rPr sz="77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703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16258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575" y="4610099"/>
            <a:ext cx="124774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lag1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4517" y="4600575"/>
            <a:ext cx="22859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0.51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52656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2621211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95527" y="46100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daylight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1370" y="46005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03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716258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0575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5942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2656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2621211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95527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sunshine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1370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7703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 rot="16200000">
            <a:off x="716258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0575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5942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2656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2621211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95527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DJU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0895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6005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38739" y="2400300"/>
            <a:ext cx="17144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24401" y="2743200"/>
            <a:ext cx="12001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3966" y="3143250"/>
            <a:ext cx="41908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9E9E9E"/>
                </a:solidFill>
                <a:latin typeface="Montserrat"/>
              </a:rPr>
              <a:t>score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88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43691" y="2400300"/>
            <a:ext cx="43813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7473" y="2714701"/>
            <a:ext cx="981050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 dirty="0">
                <a:solidFill>
                  <a:srgbClr val="42A5F5"/>
                </a:solidFill>
                <a:latin typeface="Montserrat"/>
              </a:rPr>
              <a:t>4.1</a:t>
            </a:r>
            <a:r>
              <a:rPr sz="956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77158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429614" y="2400300"/>
            <a:ext cx="34289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91475" y="2743200"/>
            <a:ext cx="120964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3.18</a:t>
            </a:r>
            <a:r>
              <a:rPr sz="956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00559" y="3905249"/>
            <a:ext cx="5924401" cy="838200"/>
          </a:xfrm>
          <a:prstGeom prst="roundRect">
            <a:avLst>
              <a:gd name="adj" fmla="val 27272"/>
            </a:avLst>
          </a:prstGeom>
          <a:gradFill rotWithShape="1">
            <a:gsLst>
              <a:gs pos="0">
                <a:srgbClr val="43A047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5791055" y="4152899"/>
            <a:ext cx="342891" cy="304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76818" y="4114800"/>
            <a:ext cx="505764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9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Performance significativement améliorée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76818" y="4371975"/>
            <a:ext cx="5057648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FFFFFF"/>
                </a:solidFill>
                <a:latin typeface="Montserrat"/>
              </a:rPr>
              <a:t>R² a augmenté de 0.23 à 0.664. RMSE réduit de 7.31 à 4.1 kWh.</a:t>
            </a:r>
          </a:p>
        </p:txBody>
      </p:sp>
      <p:sp>
        <p:nvSpPr>
          <p:cNvPr id="61" name="Espace réservé du numéro de diapositive 60">
            <a:extLst>
              <a:ext uri="{FF2B5EF4-FFF2-40B4-BE49-F238E27FC236}">
                <a16:creationId xmlns:a16="http://schemas.microsoft.com/office/drawing/2014/main" id="{8954726B-1C9F-640F-3D69-6476F84E0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54666" y="63817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b="1" smtClean="0"/>
              <a:t>16</a:t>
            </a:fld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20984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209844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GBoost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avec les valeurs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25393" y="2541586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181225"/>
            <a:ext cx="16192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4892" y="2143125"/>
            <a:ext cx="158111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DB6AC"/>
                </a:solidFill>
                <a:latin typeface="Montserrat"/>
              </a:rPr>
              <a:t>Méthode d'Ensemble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495550"/>
            <a:ext cx="3724181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Construction </a:t>
            </a:r>
            <a:r>
              <a:rPr sz="837" b="1">
                <a:solidFill>
                  <a:srgbClr val="424242"/>
                </a:solidFill>
                <a:latin typeface="Montserrat"/>
              </a:rPr>
              <a:t>séquentielle</a:t>
            </a:r>
            <a:r>
              <a:rPr sz="837" b="0">
                <a:solidFill>
                  <a:srgbClr val="616161"/>
                </a:solidFill>
                <a:latin typeface="Montserrat"/>
              </a:rPr>
              <a:t> d'arbres de régression. Chaque nouvel arbre corrige les </a:t>
            </a:r>
            <a:r>
              <a:rPr sz="837" b="1">
                <a:solidFill>
                  <a:srgbClr val="424242"/>
                </a:solidFill>
                <a:latin typeface="Montserrat"/>
              </a:rPr>
              <a:t>erreurs résiduelles</a:t>
            </a:r>
            <a:r>
              <a:rPr sz="837" b="0">
                <a:solidFill>
                  <a:srgbClr val="616161"/>
                </a:solidFill>
                <a:latin typeface="Montserrat"/>
              </a:rPr>
              <a:t> du modèle courant.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1980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113645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1525" y="3790949"/>
            <a:ext cx="190495" cy="1904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525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Descente de gradient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25" y="4352924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Minimisation de la fonction de perte par itérations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52676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2304341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2220" y="3790949"/>
            <a:ext cx="19049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2220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Régularisable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2220" y="4352924"/>
            <a:ext cx="1676358" cy="4762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Profondeur limitée, taux d'apprentissage, early stopping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194608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1525" y="5362575"/>
            <a:ext cx="171445" cy="1904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1525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Mêmes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25" y="5924549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Variables sélectionnées par Random Forest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52676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2385304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62220" y="5362575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162220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Chronologique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220" y="5907515"/>
            <a:ext cx="1676358" cy="35791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Split </a:t>
            </a:r>
            <a:r>
              <a:rPr lang="fr-FR" sz="717" dirty="0">
                <a:solidFill>
                  <a:srgbClr val="757575"/>
                </a:solidFill>
                <a:latin typeface="Montserrat"/>
              </a:rPr>
              <a:t>75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%/</a:t>
            </a:r>
            <a:r>
              <a:rPr lang="fr-FR" sz="717" b="0" dirty="0">
                <a:solidFill>
                  <a:srgbClr val="757575"/>
                </a:solidFill>
                <a:latin typeface="Montserrat"/>
              </a:rPr>
              <a:t>25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%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ordonné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 dans le temps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62500" y="1962149"/>
            <a:ext cx="142871" cy="1428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00619" y="1924049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62500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4481" y="2667000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441" y="2962274"/>
            <a:ext cx="981050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0.661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48403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96087" y="2667000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4146" y="2962274"/>
            <a:ext cx="1114397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4.12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4306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0089" y="2667000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0999" y="2962274"/>
            <a:ext cx="1152496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3.33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848099"/>
            <a:ext cx="5467213" cy="1085850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FFF8E1"/>
              </a:gs>
              <a:gs pos="100000">
                <a:srgbClr val="FFECB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502125" y="430847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19669" y="4095749"/>
            <a:ext cx="133346" cy="13334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48263" y="4057650"/>
            <a:ext cx="276218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57C00"/>
                </a:solidFill>
                <a:latin typeface="Montserrat"/>
              </a:rPr>
              <a:t>Performance proche de Random Forest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9669" y="4352924"/>
            <a:ext cx="50004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R² légèrement inférieur (0.661 vs 0.664) mais RMSE et MAE très comparables, confirmant la robustesse des deux approches.</a:t>
            </a:r>
          </a:p>
        </p:txBody>
      </p:sp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F275EC3-F570-A8CA-9E01-8B7CCE58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65741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17</a:t>
            </a:fld>
            <a:endParaRPr lang="en-US" sz="1400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048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04849"/>
            <a:ext cx="225736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AB47BC"/>
                </a:solidFill>
                <a:latin typeface="Roboto Slab"/>
              </a:rPr>
              <a:t>LINEAR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90599"/>
            <a:ext cx="225736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Régression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Linéaire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762" y="2586036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442565" y="2896233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2307" y="27670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6604" y="2862261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7595" y="2757486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Moindres Carrés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7595" y="3005136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Estimation des coefficients βⱼ par minimisation des erreurs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2762" y="3481387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42565" y="3791584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2307" y="3662361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7555" y="3757612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57595" y="3652837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Simple &amp; Interprétable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7595" y="3900487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Modèle linéaire facile à comprendre et à expliquer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762" y="4367212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442565" y="4677409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307" y="45577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7555" y="4652962"/>
            <a:ext cx="190495" cy="1904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57595" y="4538662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Mise à l'échelle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7595" y="4786312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StandardScaler appliqué aux variables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1BEE7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96000" y="2973902"/>
            <a:ext cx="142871" cy="1428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4119" y="2935802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0" y="3393003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7981" y="3678753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0318" y="3974027"/>
            <a:ext cx="1057248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0.534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81903" y="3393003"/>
            <a:ext cx="1704932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20062" y="3678753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022" y="3974027"/>
            <a:ext cx="122869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4.83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67806" y="3393003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553589" y="3678753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5450" y="3974027"/>
            <a:ext cx="120964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3.94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9" name="Espace réservé du numéro de diapositive 48">
            <a:extLst>
              <a:ext uri="{FF2B5EF4-FFF2-40B4-BE49-F238E27FC236}">
                <a16:creationId xmlns:a16="http://schemas.microsoft.com/office/drawing/2014/main" id="{93534771-D2BE-7F6C-8B1A-4599B3207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79512" y="640079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18</a:t>
            </a:fld>
            <a:endParaRPr lang="en-US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3841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1485" y="1238249"/>
            <a:ext cx="47623" cy="666750"/>
          </a:xfrm>
          <a:prstGeom prst="roundRect">
            <a:avLst>
              <a:gd name="adj" fmla="val 12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9604" y="1238249"/>
            <a:ext cx="307649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04" y="1544539"/>
            <a:ext cx="3076498" cy="114954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Comparaison</a:t>
            </a:r>
            <a:r>
              <a:rPr sz="1104" dirty="0"/>
              <a:t>
</a:t>
            </a:r>
            <a:r>
              <a:rPr sz="2272" b="1" dirty="0">
                <a:solidFill>
                  <a:srgbClr val="212121"/>
                </a:solidFill>
                <a:latin typeface="Montserrat"/>
              </a:rPr>
              <a:t>entre les </a:t>
            </a:r>
            <a:endParaRPr lang="fr-FR" sz="2272" b="1" dirty="0">
              <a:solidFill>
                <a:srgbClr val="212121"/>
              </a:solidFill>
              <a:latin typeface="Montserrat"/>
            </a:endParaRPr>
          </a:p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modèles</a:t>
            </a:r>
            <a:endParaRPr sz="227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1486" y="3333749"/>
            <a:ext cx="2286252" cy="2286000"/>
          </a:xfrm>
          <a:prstGeom prst="roundRect">
            <a:avLst>
              <a:gd name="adj" fmla="val 13333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9604" y="3657600"/>
            <a:ext cx="390515" cy="342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604" y="4229100"/>
            <a:ext cx="283837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04" y="4581524"/>
            <a:ext cx="2838379" cy="8001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Montserrat"/>
              </a:rPr>
              <a:t> </a:t>
            </a:r>
            <a:r>
              <a:rPr sz="837" b="1">
                <a:solidFill>
                  <a:srgbClr val="FFFFFF"/>
                </a:solidFill>
                <a:latin typeface="Montserrat"/>
              </a:rPr>
              <a:t>Meilleur modèle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R² le plus élevé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RMSE et MAE les plus faibles 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6045" y="0"/>
            <a:ext cx="8905650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6" y="-1428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52726" y="1428750"/>
            <a:ext cx="2819330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37044" y="1515219"/>
            <a:ext cx="15239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44905" y="1885950"/>
            <a:ext cx="2584279" cy="2667000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03657" y="4722911"/>
            <a:ext cx="10667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élevé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48264" y="1428750"/>
            <a:ext cx="2838377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6939" y="1485582"/>
            <a:ext cx="86675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RMSE (kWh)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3200" y="1885950"/>
            <a:ext cx="2590571" cy="2667000"/>
          </a:xfrm>
          <a:prstGeom prst="roundRect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6939" y="4733925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419989" y="1428750"/>
            <a:ext cx="2650091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77218" y="1585594"/>
            <a:ext cx="78103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MAE (kWh)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62860" y="1885950"/>
            <a:ext cx="2354820" cy="266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77218" y="4700586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7" name="Espace réservé du numéro de diapositive 26">
            <a:extLst>
              <a:ext uri="{FF2B5EF4-FFF2-40B4-BE49-F238E27FC236}">
                <a16:creationId xmlns:a16="http://schemas.microsoft.com/office/drawing/2014/main" id="{DF6A61CD-6BDE-7BFF-04A5-156A84C3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36480" y="640642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19</a:t>
            </a:fld>
            <a:endParaRPr lang="en-US" sz="1400" b="1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3197E03E-96C5-BC72-0B52-13C1F4ED43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6156" y="2033586"/>
            <a:ext cx="2039603" cy="23717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2858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285875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SELECTION &amp;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732162"/>
            <a:ext cx="5101412" cy="4314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212121"/>
                </a:solidFill>
                <a:latin typeface="Montserrat"/>
              </a:rPr>
              <a:t>Choix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152" b="1" dirty="0">
                <a:solidFill>
                  <a:srgbClr val="212121"/>
                </a:solidFill>
                <a:latin typeface="Montserrat"/>
              </a:rPr>
              <a:t>de Random Forest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609850"/>
            <a:ext cx="5657708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2838450"/>
            <a:ext cx="171445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2800350"/>
            <a:ext cx="131441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Meilleur modèle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28" y="3003383"/>
            <a:ext cx="5276718" cy="54643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00" b="1" dirty="0">
                <a:solidFill>
                  <a:srgbClr val="FFFFFF"/>
                </a:solidFill>
                <a:latin typeface="Montserrat"/>
              </a:rPr>
              <a:t>Random Forest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Montserrat"/>
              </a:rPr>
              <a:t>sélectionné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grâce aux </a:t>
            </a:r>
            <a:r>
              <a:rPr sz="1000" b="0" dirty="0" err="1">
                <a:solidFill>
                  <a:srgbClr val="FFFFFF"/>
                </a:solidFill>
                <a:latin typeface="Montserrat"/>
              </a:rPr>
              <a:t>meilleures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performances : R² = 0.664, RMSE = 4.1 kWh, MAE = 3.18 kWh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33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030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30" y="4210049"/>
            <a:ext cx="1581110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90735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05032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032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4.1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4737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9034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034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3.18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5307" y="5143299"/>
            <a:ext cx="5657708" cy="930242"/>
          </a:xfrm>
          <a:prstGeom prst="roundRect">
            <a:avLst>
              <a:gd name="adj" fmla="val 20512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311147" y="5527458"/>
            <a:ext cx="930241" cy="16192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9148" y="5581748"/>
            <a:ext cx="228594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565" y="5467351"/>
            <a:ext cx="49814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260"/>
              </a:spcAft>
            </a:pPr>
            <a:r>
              <a:rPr sz="777" b="1" dirty="0">
                <a:solidFill>
                  <a:srgbClr val="F57C00"/>
                </a:solidFill>
                <a:latin typeface="Montserrat"/>
              </a:rPr>
              <a:t>Marge </a:t>
            </a:r>
            <a:r>
              <a:rPr sz="777" b="1" dirty="0" err="1">
                <a:solidFill>
                  <a:srgbClr val="F57C00"/>
                </a:solidFill>
                <a:latin typeface="Montserrat"/>
              </a:rPr>
              <a:t>d'erreur</a:t>
            </a:r>
            <a:r>
              <a:rPr sz="777" b="1" dirty="0">
                <a:solidFill>
                  <a:srgbClr val="F57C00"/>
                </a:solidFill>
                <a:latin typeface="Montserrat"/>
              </a:rPr>
              <a:t> </a:t>
            </a:r>
            <a:r>
              <a:rPr sz="777" b="1" dirty="0" err="1">
                <a:solidFill>
                  <a:srgbClr val="F57C00"/>
                </a:solidFill>
                <a:latin typeface="Montserrat"/>
              </a:rPr>
              <a:t>journalière</a:t>
            </a:r>
            <a:endParaRPr sz="777" b="1" dirty="0">
              <a:solidFill>
                <a:srgbClr val="F57C00"/>
              </a:solidFill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85852" y="5667374"/>
            <a:ext cx="498145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RMSE = 4.1 kWh/jour ≈ 0.62€/jour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05432" y="0"/>
            <a:ext cx="548626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81670" y="1000125"/>
            <a:ext cx="142871" cy="14287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19789" y="962024"/>
            <a:ext cx="251453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Distribution des erreurs (Résidus)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81670" y="1323974"/>
            <a:ext cx="4902073" cy="4572000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24540" y="1466849"/>
            <a:ext cx="4672799" cy="4286250"/>
          </a:xfrm>
          <a:prstGeom prst="round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Espace réservé du numéro de diapositive 31">
            <a:extLst>
              <a:ext uri="{FF2B5EF4-FFF2-40B4-BE49-F238E27FC236}">
                <a16:creationId xmlns:a16="http://schemas.microsoft.com/office/drawing/2014/main" id="{786D748D-C02A-0082-895F-81BE0BF9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50143" y="6384791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20</a:t>
            </a:fld>
            <a:endParaRPr lang="en-US" sz="14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383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38349"/>
            <a:ext cx="148586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EF5350"/>
                </a:solidFill>
                <a:latin typeface="Roboto Slab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2324100"/>
            <a:ext cx="1485862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Limites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467100"/>
            <a:ext cx="3638459" cy="1362075"/>
          </a:xfrm>
          <a:prstGeom prst="roundRect">
            <a:avLst>
              <a:gd name="adj" fmla="val 16783"/>
            </a:avLst>
          </a:prstGeom>
          <a:gradFill rotWithShape="1">
            <a:gsLst>
              <a:gs pos="0">
                <a:srgbClr val="FFEBEE"/>
              </a:gs>
              <a:gs pos="100000">
                <a:srgbClr val="FFCDD2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63493" y="4065587"/>
            <a:ext cx="13620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733799"/>
            <a:ext cx="14287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5842" y="3695699"/>
            <a:ext cx="141918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C62828"/>
                </a:solidFill>
                <a:latin typeface="Montserrat"/>
              </a:rPr>
              <a:t>Points de vigilance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029075"/>
            <a:ext cx="311459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Ces limitations doivent être prises en compte lors de l'application et l'interprétation des résultats du modèle.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FFEBE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35437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2480" y="1466849"/>
            <a:ext cx="238119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Un seul foyer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276474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ajusté sur un logement à Sceaux. Pas de garantie de transfert à d'autres sites ou ménages.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323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55469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3897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91375" y="1466849"/>
            <a:ext cx="18097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897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Variable décalée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8979" y="2368642"/>
            <a:ext cx="2447863" cy="55861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 err="1">
                <a:solidFill>
                  <a:srgbClr val="616161"/>
                </a:solidFill>
                <a:latin typeface="Montserrat"/>
              </a:rPr>
              <a:t>Utilisation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de lag-1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nécessite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de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veille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lang="fr-FR" sz="777" b="0" dirty="0">
                <a:solidFill>
                  <a:srgbClr val="616161"/>
                </a:solidFill>
                <a:latin typeface="Montserrat"/>
              </a:rPr>
              <a:t>Limitée si pas de Lag</a:t>
            </a:r>
            <a:endParaRPr sz="777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35291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44486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43431" y="3867149"/>
            <a:ext cx="266693" cy="2095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865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 err="1">
                <a:solidFill>
                  <a:srgbClr val="616161"/>
                </a:solidFill>
                <a:latin typeface="Montserrat"/>
              </a:rPr>
              <a:t>Données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d'archive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supposées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correctes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Erreurs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ou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lacunes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pourraient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biaiser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modèle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5323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4518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3897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62800" y="3867149"/>
            <a:ext cx="238119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897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Aucune causalité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897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>
                <a:solidFill>
                  <a:srgbClr val="616161"/>
                </a:solidFill>
                <a:latin typeface="Montserrat"/>
              </a:rPr>
              <a:t>Forte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corrélation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ne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prouve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pas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causalité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Facteurs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non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observés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(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présence</a:t>
            </a:r>
            <a:r>
              <a:rPr lang="fr-FR" sz="777" b="0" dirty="0">
                <a:solidFill>
                  <a:srgbClr val="616161"/>
                </a:solidFill>
                <a:latin typeface="Montserrat"/>
              </a:rPr>
              <a:t>, absence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)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peuvent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intervenir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48F7175-0482-3C58-B064-D200BC25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3167" y="6451665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21</a:t>
            </a:fld>
            <a:endParaRPr lang="en-US" sz="140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8192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819275"/>
            <a:ext cx="35051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PREDICTION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2105024"/>
            <a:ext cx="3505112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Test de Prédiction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790824"/>
            <a:ext cx="4343291" cy="1971675"/>
          </a:xfrm>
          <a:prstGeom prst="roundRect">
            <a:avLst>
              <a:gd name="adj" fmla="val 11594"/>
            </a:avLst>
          </a:prstGeom>
          <a:gradFill rotWithShape="1">
            <a:gsLst>
              <a:gs pos="0">
                <a:srgbClr val="E3F2FD"/>
              </a:gs>
              <a:gs pos="100000">
                <a:srgbClr val="BBDEF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36554" y="3694111"/>
            <a:ext cx="19716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3057525"/>
            <a:ext cx="18097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8694" y="2998353"/>
            <a:ext cx="1180067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565C0"/>
                </a:solidFill>
                <a:latin typeface="Montserrat"/>
              </a:rPr>
              <a:t>Méthodologie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476" y="3381375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TextBox 10"/>
          <p:cNvSpPr txBox="1"/>
          <p:nvPr/>
        </p:nvSpPr>
        <p:spPr>
          <a:xfrm>
            <a:off x="952476" y="3375360"/>
            <a:ext cx="200632" cy="2787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A5F5"/>
                </a:solidFill>
                <a:latin typeface="Montserra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8072" y="3420480"/>
            <a:ext cx="336656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424242"/>
                </a:solidFill>
                <a:latin typeface="Montserrat"/>
              </a:rPr>
              <a:t>Modèle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Random Forest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sélectionné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(R² = 0.664)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082" y="4016373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962686" y="4009589"/>
            <a:ext cx="231089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dirty="0">
                <a:solidFill>
                  <a:srgbClr val="42A5F5"/>
                </a:solidFill>
                <a:latin typeface="Montserrat"/>
              </a:rPr>
              <a:t>2</a:t>
            </a:r>
            <a:endParaRPr sz="11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08072" y="3992823"/>
            <a:ext cx="3137334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Bootstrap :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dernière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lang="fr-FR" sz="1050" b="0" dirty="0">
                <a:solidFill>
                  <a:srgbClr val="424242"/>
                </a:solidFill>
                <a:latin typeface="Montserrat"/>
              </a:rPr>
              <a:t> connue</a:t>
            </a:r>
          </a:p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+ enchainment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781050"/>
            <a:ext cx="123821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1570" y="725083"/>
            <a:ext cx="2715743" cy="2738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Prévisions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sur 7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jours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(</a:t>
            </a:r>
            <a:r>
              <a:rPr lang="fr-FR" sz="897" b="1" dirty="0">
                <a:solidFill>
                  <a:srgbClr val="424242"/>
                </a:solidFill>
                <a:latin typeface="Montserrat"/>
              </a:rPr>
              <a:t>Lancé le 28-01-2026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2500" y="1152524"/>
            <a:ext cx="5657708" cy="3838574"/>
          </a:xfrm>
          <a:prstGeom prst="roundRect">
            <a:avLst>
              <a:gd name="adj" fmla="val 595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2996" y="14573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2026-01-29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Jeudi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65" y="14573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28.42 kWh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2996" y="19526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2026-01-30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Vendredi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65" y="19526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27.87 kWh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2996" y="24479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2026-01-31 (Samedi)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65" y="24479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27.73 kWh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2996" y="29432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2026-02-01 (Dimanche)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365" y="29432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27.95 kWh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2996" y="34385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2026-02-02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Lundi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365" y="34385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27.31 kWh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996" y="39338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2026-02-03 (Mardi)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365" y="39338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27.01 kWh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2996" y="44291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2026-02-04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Mercredi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365" y="44291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27.16 kWh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7827" y="5186503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29273" y="5396052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Moyenne Hebdo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9273" y="5643703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27.64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kWh/jour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354" y="5186503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62800" y="5396052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Total Hebdo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2800" y="5643703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193.46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D48A4268-18B4-330E-F809-BFF21243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4841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22</a:t>
            </a:fld>
            <a:endParaRPr lang="en-US" sz="14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66824"/>
            <a:ext cx="0" cy="714375"/>
          </a:xfrm>
          <a:prstGeom prst="roundRect">
            <a:avLst>
              <a:gd name="adj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71525" y="1266824"/>
            <a:ext cx="382895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25" y="1552574"/>
            <a:ext cx="3828954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Recommandations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&amp;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524250"/>
            <a:ext cx="3638459" cy="2076449"/>
          </a:xfrm>
          <a:prstGeom prst="roundRect">
            <a:avLst>
              <a:gd name="adj" fmla="val 14678"/>
            </a:avLst>
          </a:prstGeom>
          <a:gradFill rotWithShape="1">
            <a:gsLst>
              <a:gs pos="0">
                <a:srgbClr val="E0F2F1"/>
              </a:gs>
              <a:gs pos="100000">
                <a:srgbClr val="B2DFD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7723" y="38099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0595" y="3924299"/>
            <a:ext cx="142871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7723" y="4381499"/>
            <a:ext cx="306697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Pistes de progression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667249"/>
            <a:ext cx="3066973" cy="63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4D40"/>
                </a:solidFill>
                <a:latin typeface="Montserrat"/>
              </a:rPr>
              <a:t>Quatre axes majeurs pour améliorer la précision du modèle et étendre son applicabilité opérationnelle.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0F2F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0677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2956" y="1695449"/>
            <a:ext cx="190495" cy="190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Granularité horaire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43840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Refaire l'analyse à l'heure avec météo horaire pour capturer les profils intra-journaliers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3418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68804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1992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34226" y="1695449"/>
            <a:ext cx="190495" cy="1904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1992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Hyperparamètres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929" y="2438400"/>
            <a:ext cx="2466913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Tuner le RF ou GBoost par validation croisée temporelle (TimeSeriesSplit)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291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50677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52956" y="3733799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 dirty="0" err="1">
                <a:solidFill>
                  <a:srgbClr val="212121"/>
                </a:solidFill>
                <a:latin typeface="Montserrat"/>
              </a:rPr>
              <a:t>Interprétabilité</a:t>
            </a:r>
            <a:endParaRPr sz="897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38659" y="447675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616161"/>
                </a:solidFill>
                <a:latin typeface="Montserrat"/>
              </a:rPr>
              <a:t>SHAP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ou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courbes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dépendance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partielle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pour clarifier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l'effet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du DJU, lag et week-end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3418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8804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1992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15177" y="3733799"/>
            <a:ext cx="238119" cy="1904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1992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Usage opérationnel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19929" y="4378635"/>
            <a:ext cx="2466913" cy="71057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 err="1">
                <a:solidFill>
                  <a:srgbClr val="616161"/>
                </a:solidFill>
                <a:latin typeface="Montserrat"/>
              </a:rPr>
              <a:t>Entraîner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modèle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sans lag pour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prévisions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sans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de la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veille</a:t>
            </a:r>
            <a:r>
              <a:rPr lang="fr-FR" sz="717" b="0" dirty="0">
                <a:solidFill>
                  <a:srgbClr val="616161"/>
                </a:solidFill>
                <a:latin typeface="Montserrat"/>
              </a:rPr>
              <a:t>, avec ajout d’autre variables comme </a:t>
            </a:r>
            <a:r>
              <a:rPr lang="fr-FR" sz="717" b="0" dirty="0" err="1">
                <a:solidFill>
                  <a:srgbClr val="616161"/>
                </a:solidFill>
                <a:latin typeface="Montserrat"/>
              </a:rPr>
              <a:t>supérificie</a:t>
            </a:r>
            <a:r>
              <a:rPr lang="fr-FR" sz="717" dirty="0">
                <a:solidFill>
                  <a:srgbClr val="616161"/>
                </a:solidFill>
                <a:latin typeface="Montserrat"/>
              </a:rPr>
              <a:t>, nombre de personnes</a:t>
            </a:r>
            <a:endParaRPr sz="717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ADE58F4-78F0-5E06-E714-A31982BE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3356" y="641792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23</a:t>
            </a:fld>
            <a:endParaRPr lang="en-US" sz="14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609724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609724"/>
            <a:ext cx="224784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895474"/>
            <a:ext cx="2247843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981325"/>
            <a:ext cx="3638459" cy="2266950"/>
          </a:xfrm>
          <a:prstGeom prst="roundRect">
            <a:avLst>
              <a:gd name="adj" fmla="val 13445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352800"/>
            <a:ext cx="380990" cy="380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3981449"/>
            <a:ext cx="306697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1300"/>
              </a:spcAft>
            </a:pPr>
            <a:r>
              <a:rPr sz="1315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0.664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4497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4497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4.1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0795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MAE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90795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3.18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5291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64965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0084" y="1352549"/>
            <a:ext cx="21906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10084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Données fusionnées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0084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Collecte + Météo (Open-Meteo) + Calendrier (jours fériés, week-end)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418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783092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91355" y="1352549"/>
            <a:ext cx="190495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91355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Hypothèse validée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1355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Température pas le seul facteur • Pics = Week-ends en hiver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5291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455916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10084" y="3105149"/>
            <a:ext cx="276218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10084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Variables dérivées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0084" y="3838574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DJU (18°C) • Lag-1 • Mois cyclique (sin/cos) • Filtrage des outliers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18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774043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791355" y="3105149"/>
            <a:ext cx="247643" cy="24764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791355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Comparaison modèles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1355" y="3838574"/>
            <a:ext cx="2524061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Random Forest sélectionné • Performance optimale sur R², RMSE, MAE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2916" y="4886325"/>
            <a:ext cx="6172045" cy="876299"/>
          </a:xfrm>
          <a:prstGeom prst="roundRect">
            <a:avLst>
              <a:gd name="adj" fmla="val 26086"/>
            </a:avLst>
          </a:prstGeom>
          <a:gradFill rotWithShape="1">
            <a:gsLst>
              <a:gs pos="0">
                <a:srgbClr val="42A5F5"/>
              </a:gs>
              <a:gs pos="100000">
                <a:srgbClr val="2196F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19609" y="5162550"/>
            <a:ext cx="266693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29174" y="5124449"/>
            <a:ext cx="522909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Modèle Random Forest précis à 4.1 kWh/jour (≈0.62€/jour) pour la prévision de consommation électrique journalière.</a:t>
            </a:r>
          </a:p>
        </p:txBody>
      </p:sp>
      <p:sp>
        <p:nvSpPr>
          <p:cNvPr id="42" name="Espace réservé du numéro de diapositive 41">
            <a:extLst>
              <a:ext uri="{FF2B5EF4-FFF2-40B4-BE49-F238E27FC236}">
                <a16:creationId xmlns:a16="http://schemas.microsoft.com/office/drawing/2014/main" id="{AFD0660F-3EE2-28E6-5076-6E9619B7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64291" y="6369017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24</a:t>
            </a:fld>
            <a:endParaRPr lang="en-US" sz="1400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858153" y="-1609724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1047" y="2685161"/>
            <a:ext cx="200019" cy="228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 rot="5400000">
            <a:off x="3208209" y="2890087"/>
            <a:ext cx="76198" cy="266700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50604" y="1680446"/>
            <a:ext cx="6251968" cy="21734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820"/>
              </a:spcAft>
            </a:pPr>
            <a:r>
              <a:rPr sz="3468" b="1" dirty="0" err="1">
                <a:solidFill>
                  <a:srgbClr val="212121"/>
                </a:solidFill>
                <a:latin typeface="Montserrat"/>
              </a:rPr>
              <a:t>Prédiction</a:t>
            </a:r>
            <a:r>
              <a:rPr sz="3468" b="1" dirty="0">
                <a:solidFill>
                  <a:srgbClr val="212121"/>
                </a:solidFill>
                <a:latin typeface="Montserrat"/>
              </a:rPr>
              <a:t> de la</a:t>
            </a:r>
            <a:r>
              <a:rPr sz="1104" dirty="0"/>
              <a:t>
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Consommation</a:t>
            </a:r>
            <a:r>
              <a:rPr sz="3468" b="1" dirty="0">
                <a:solidFill>
                  <a:srgbClr val="42A5F5"/>
                </a:solidFill>
                <a:latin typeface="Montserrat"/>
              </a:rPr>
              <a:t> 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Électrique</a:t>
            </a:r>
            <a:r>
              <a:rPr sz="1104" dirty="0"/>
              <a:t>
</a:t>
            </a:r>
            <a:r>
              <a:rPr sz="3468" b="1" dirty="0" err="1">
                <a:solidFill>
                  <a:srgbClr val="212121"/>
                </a:solidFill>
                <a:latin typeface="Montserrat"/>
              </a:rPr>
              <a:t>Journalière</a:t>
            </a:r>
            <a:endParaRPr sz="3468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50604" y="3769762"/>
            <a:ext cx="8705632" cy="35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0"/>
              </a:spcAft>
            </a:pPr>
            <a:r>
              <a:rPr sz="1435" b="0" dirty="0" err="1">
                <a:solidFill>
                  <a:srgbClr val="757575"/>
                </a:solidFill>
                <a:latin typeface="Roboto Slab"/>
              </a:rPr>
              <a:t>Approche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par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: Random Forest, Gradient Boosting,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Linéaire</a:t>
            </a:r>
            <a:endParaRPr sz="1435" b="0" dirty="0">
              <a:solidFill>
                <a:srgbClr val="757575"/>
              </a:solidFill>
              <a:latin typeface="Roboto Slab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479748"/>
            <a:ext cx="123821" cy="1428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016" y="5406018"/>
            <a:ext cx="1143198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AZZA Imane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484106"/>
            <a:ext cx="142871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1761" y="5410376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494266"/>
            <a:ext cx="104772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30762" y="5420536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9" name="Picture 9" descr="image.png">
            <a:extLst>
              <a:ext uri="{FF2B5EF4-FFF2-40B4-BE49-F238E27FC236}">
                <a16:creationId xmlns:a16="http://schemas.microsoft.com/office/drawing/2014/main" id="{6BE18F11-DDF8-FFD8-30FA-EDA73EC8484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741685"/>
            <a:ext cx="123821" cy="142875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8F21C5E2-5765-C028-732B-0BC15DB83625}"/>
              </a:ext>
            </a:extLst>
          </p:cNvPr>
          <p:cNvSpPr txBox="1"/>
          <p:nvPr/>
        </p:nvSpPr>
        <p:spPr>
          <a:xfrm>
            <a:off x="821016" y="5667955"/>
            <a:ext cx="199118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LAMKHANTAR Youssef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22" name="Picture 12" descr="image.png">
            <a:extLst>
              <a:ext uri="{FF2B5EF4-FFF2-40B4-BE49-F238E27FC236}">
                <a16:creationId xmlns:a16="http://schemas.microsoft.com/office/drawing/2014/main" id="{9F6EFE4D-1720-1B40-8F42-F9B9C5431EB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746043"/>
            <a:ext cx="142871" cy="142875"/>
          </a:xfrm>
          <a:prstGeom prst="rect">
            <a:avLst/>
          </a:prstGeom>
        </p:spPr>
      </p:pic>
      <p:sp>
        <p:nvSpPr>
          <p:cNvPr id="23" name="TextBox 13">
            <a:extLst>
              <a:ext uri="{FF2B5EF4-FFF2-40B4-BE49-F238E27FC236}">
                <a16:creationId xmlns:a16="http://schemas.microsoft.com/office/drawing/2014/main" id="{198DEE7C-D8D6-497F-B647-3B9737DDD1A3}"/>
              </a:ext>
            </a:extLst>
          </p:cNvPr>
          <p:cNvSpPr txBox="1"/>
          <p:nvPr/>
        </p:nvSpPr>
        <p:spPr>
          <a:xfrm>
            <a:off x="3381761" y="5672313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25" name="Picture 15" descr="image.png">
            <a:extLst>
              <a:ext uri="{FF2B5EF4-FFF2-40B4-BE49-F238E27FC236}">
                <a16:creationId xmlns:a16="http://schemas.microsoft.com/office/drawing/2014/main" id="{7A6FA493-8D99-9457-804F-6304D78075E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756203"/>
            <a:ext cx="104772" cy="142875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71271453-9BBA-8F17-DD15-C3C403FED572}"/>
              </a:ext>
            </a:extLst>
          </p:cNvPr>
          <p:cNvSpPr txBox="1"/>
          <p:nvPr/>
        </p:nvSpPr>
        <p:spPr>
          <a:xfrm>
            <a:off x="5730762" y="5682473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27" name="Picture 9" descr="image.png">
            <a:extLst>
              <a:ext uri="{FF2B5EF4-FFF2-40B4-BE49-F238E27FC236}">
                <a16:creationId xmlns:a16="http://schemas.microsoft.com/office/drawing/2014/main" id="{67EC8201-A854-879D-3DE9-304F1E0E0B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986462"/>
            <a:ext cx="123821" cy="142875"/>
          </a:xfrm>
          <a:prstGeom prst="rect">
            <a:avLst/>
          </a:prstGeom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70A26E4B-8CF9-345F-2E58-7BB865C3F250}"/>
              </a:ext>
            </a:extLst>
          </p:cNvPr>
          <p:cNvSpPr txBox="1"/>
          <p:nvPr/>
        </p:nvSpPr>
        <p:spPr>
          <a:xfrm>
            <a:off x="821016" y="5912732"/>
            <a:ext cx="196874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MANI Mohammed Adil</a:t>
            </a:r>
          </a:p>
        </p:txBody>
      </p:sp>
      <p:pic>
        <p:nvPicPr>
          <p:cNvPr id="30" name="Picture 12" descr="image.png">
            <a:extLst>
              <a:ext uri="{FF2B5EF4-FFF2-40B4-BE49-F238E27FC236}">
                <a16:creationId xmlns:a16="http://schemas.microsoft.com/office/drawing/2014/main" id="{0AB20BE5-1366-A9D1-C635-D6DAADD1711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990820"/>
            <a:ext cx="142871" cy="142875"/>
          </a:xfrm>
          <a:prstGeom prst="rect">
            <a:avLst/>
          </a:prstGeom>
        </p:spPr>
      </p:pic>
      <p:sp>
        <p:nvSpPr>
          <p:cNvPr id="31" name="TextBox 13">
            <a:extLst>
              <a:ext uri="{FF2B5EF4-FFF2-40B4-BE49-F238E27FC236}">
                <a16:creationId xmlns:a16="http://schemas.microsoft.com/office/drawing/2014/main" id="{6E9EFE2D-7432-E1D7-8A47-2D864B52766B}"/>
              </a:ext>
            </a:extLst>
          </p:cNvPr>
          <p:cNvSpPr txBox="1"/>
          <p:nvPr/>
        </p:nvSpPr>
        <p:spPr>
          <a:xfrm>
            <a:off x="3381761" y="5917090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33" name="Picture 15" descr="image.png">
            <a:extLst>
              <a:ext uri="{FF2B5EF4-FFF2-40B4-BE49-F238E27FC236}">
                <a16:creationId xmlns:a16="http://schemas.microsoft.com/office/drawing/2014/main" id="{E185047C-03B0-6BA4-3885-A8D2678AF046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6000980"/>
            <a:ext cx="104772" cy="142875"/>
          </a:xfrm>
          <a:prstGeom prst="rect">
            <a:avLst/>
          </a:prstGeom>
        </p:spPr>
      </p:pic>
      <p:sp>
        <p:nvSpPr>
          <p:cNvPr id="34" name="TextBox 16">
            <a:extLst>
              <a:ext uri="{FF2B5EF4-FFF2-40B4-BE49-F238E27FC236}">
                <a16:creationId xmlns:a16="http://schemas.microsoft.com/office/drawing/2014/main" id="{10856705-4BBB-1318-9B11-EAC13263CE9E}"/>
              </a:ext>
            </a:extLst>
          </p:cNvPr>
          <p:cNvSpPr txBox="1"/>
          <p:nvPr/>
        </p:nvSpPr>
        <p:spPr>
          <a:xfrm>
            <a:off x="5730762" y="5927250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026" name="Picture 2" descr="Aperçu - SupMTI">
            <a:extLst>
              <a:ext uri="{FF2B5EF4-FFF2-40B4-BE49-F238E27FC236}">
                <a16:creationId xmlns:a16="http://schemas.microsoft.com/office/drawing/2014/main" id="{7C790388-CA73-09BB-0296-0B7B9DD3A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557" y="290056"/>
            <a:ext cx="1973460" cy="105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D2AE3A84-28BF-896C-7BC7-3B8B949A146D}"/>
              </a:ext>
            </a:extLst>
          </p:cNvPr>
          <p:cNvSpPr txBox="1"/>
          <p:nvPr/>
        </p:nvSpPr>
        <p:spPr>
          <a:xfrm>
            <a:off x="9501905" y="6150840"/>
            <a:ext cx="2690095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Année Universitaire : 2025/2026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B0EB4C3A-A21E-63C8-9385-F035AF485BE4}"/>
              </a:ext>
            </a:extLst>
          </p:cNvPr>
          <p:cNvSpPr txBox="1"/>
          <p:nvPr/>
        </p:nvSpPr>
        <p:spPr>
          <a:xfrm>
            <a:off x="539042" y="4927024"/>
            <a:ext cx="1407693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Présentée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138618A2-4019-890B-22CD-BE18A2A7A862}"/>
              </a:ext>
            </a:extLst>
          </p:cNvPr>
          <p:cNvSpPr txBox="1"/>
          <p:nvPr/>
        </p:nvSpPr>
        <p:spPr>
          <a:xfrm>
            <a:off x="8776486" y="5028167"/>
            <a:ext cx="134517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Encadrée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37" name="Picture 9" descr="image.png">
            <a:extLst>
              <a:ext uri="{FF2B5EF4-FFF2-40B4-BE49-F238E27FC236}">
                <a16:creationId xmlns:a16="http://schemas.microsoft.com/office/drawing/2014/main" id="{62F8AB19-8CE2-C0C4-B2CA-1CC38C04579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18682" y="5553478"/>
            <a:ext cx="123821" cy="142875"/>
          </a:xfrm>
          <a:prstGeom prst="rect">
            <a:avLst/>
          </a:prstGeom>
        </p:spPr>
      </p:pic>
      <p:sp>
        <p:nvSpPr>
          <p:cNvPr id="38" name="TextBox 10">
            <a:extLst>
              <a:ext uri="{FF2B5EF4-FFF2-40B4-BE49-F238E27FC236}">
                <a16:creationId xmlns:a16="http://schemas.microsoft.com/office/drawing/2014/main" id="{74AB6FB3-1BC3-2FFC-C2B6-D289084AC30F}"/>
              </a:ext>
            </a:extLst>
          </p:cNvPr>
          <p:cNvSpPr txBox="1"/>
          <p:nvPr/>
        </p:nvSpPr>
        <p:spPr>
          <a:xfrm>
            <a:off x="9037752" y="5479748"/>
            <a:ext cx="176676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 err="1">
                <a:solidFill>
                  <a:srgbClr val="616161"/>
                </a:solidFill>
                <a:latin typeface="Montserrat"/>
              </a:rPr>
              <a:t>Pr.ELALAMI</a:t>
            </a:r>
            <a:r>
              <a:rPr lang="fr-FR" sz="1200" b="1" dirty="0">
                <a:solidFill>
                  <a:srgbClr val="616161"/>
                </a:solidFill>
                <a:latin typeface="Montserrat"/>
              </a:rPr>
              <a:t> YASSER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9" name="Rounded Rectangle 6">
            <a:extLst>
              <a:ext uri="{FF2B5EF4-FFF2-40B4-BE49-F238E27FC236}">
                <a16:creationId xmlns:a16="http://schemas.microsoft.com/office/drawing/2014/main" id="{A9D02373-72BB-E691-BC61-34B49A1BE5E1}"/>
              </a:ext>
            </a:extLst>
          </p:cNvPr>
          <p:cNvSpPr/>
          <p:nvPr/>
        </p:nvSpPr>
        <p:spPr>
          <a:xfrm rot="5400000">
            <a:off x="937936" y="4880289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6">
            <a:extLst>
              <a:ext uri="{FF2B5EF4-FFF2-40B4-BE49-F238E27FC236}">
                <a16:creationId xmlns:a16="http://schemas.microsoft.com/office/drawing/2014/main" id="{D056D6D3-9883-B264-824D-17C22307DC46}"/>
              </a:ext>
            </a:extLst>
          </p:cNvPr>
          <p:cNvSpPr/>
          <p:nvPr/>
        </p:nvSpPr>
        <p:spPr>
          <a:xfrm rot="5400000">
            <a:off x="9182536" y="5011481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081066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673</TotalTime>
  <Words>2172</Words>
  <Application>Microsoft Office PowerPoint</Application>
  <PresentationFormat>Grand écran</PresentationFormat>
  <Paragraphs>524</Paragraphs>
  <Slides>25</Slides>
  <Notes>25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Courier New</vt:lpstr>
      <vt:lpstr>Montserrat</vt:lpstr>
      <vt:lpstr>Roboto Slab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MANI Mohammed Adil</dc:creator>
  <cp:keywords/>
  <dc:description>generated using python-pptx</dc:description>
  <cp:lastModifiedBy>Mani Mohammed Adil</cp:lastModifiedBy>
  <cp:revision>16</cp:revision>
  <dcterms:created xsi:type="dcterms:W3CDTF">2013-01-27T09:14:16Z</dcterms:created>
  <dcterms:modified xsi:type="dcterms:W3CDTF">2026-02-01T20:19:29Z</dcterms:modified>
  <cp:category/>
</cp:coreProperties>
</file>