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A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4957" autoAdjust="0"/>
  </p:normalViewPr>
  <p:slideViewPr>
    <p:cSldViewPr snapToGrid="0" snapToObjects="1">
      <p:cViewPr varScale="1">
        <p:scale>
          <a:sx n="94" d="100"/>
          <a:sy n="94" d="100"/>
        </p:scale>
        <p:origin x="9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07B07-2C59-4B7F-B014-A7C1F1DEF2DC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F9F8C-C2F0-47BE-869B-A56261F771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53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40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46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7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503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900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03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018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45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590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79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278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260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098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107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6866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12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25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924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755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youssef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014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Youssef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1198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430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732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imane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F9F8C-C2F0-47BE-869B-A56261F7714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044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6274C-2624-4B13-811C-EFB085CCF3E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1260-BAD4-4847-8E7D-0379CF53B02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1C9F4-2B18-46D4-8F3B-E77EFFCAD3EA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15A3C-9776-463D-A332-A8A70B8D76BF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3EC8-06A0-4213-9614-0D62C459D808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5F93-0982-48EE-AD53-201E7E1563F7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DA1F-E858-4086-9D09-77E99A3BDA63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0094A-DB6B-491B-AE74-BF72E06B4F8F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CE1A-1371-4799-8192-7F4692E49A7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21BD-A266-4643-8A00-A07ACDC9093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B6238-3A0E-4865-AC95-269FDB4AE8B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82518-A012-45B3-9A1F-D1E283A43FA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7.jp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33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g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jpg"/><Relationship Id="rId5" Type="http://schemas.openxmlformats.org/officeDocument/2006/relationships/image" Target="../media/image56.png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858153" y="-1609724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96" y="66675"/>
            <a:ext cx="200019" cy="228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80316" y="764539"/>
            <a:ext cx="76198" cy="266700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1306" y="764539"/>
            <a:ext cx="6533986" cy="2543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290"/>
              </a:lnSpc>
              <a:spcBef>
                <a:spcPts val="0"/>
              </a:spcBef>
              <a:spcAft>
                <a:spcPts val="1820"/>
              </a:spcAft>
            </a:pPr>
            <a:r>
              <a:rPr sz="3468" b="1">
                <a:solidFill>
                  <a:srgbClr val="212121"/>
                </a:solidFill>
                <a:latin typeface="Montserrat"/>
              </a:rPr>
              <a:t>Prédiction de la</a:t>
            </a:r>
            <a:r>
              <a:rPr sz="1104"/>
              <a:t>
</a:t>
            </a:r>
            <a:r>
              <a:rPr sz="3468" b="1">
                <a:solidFill>
                  <a:srgbClr val="42A5F5"/>
                </a:solidFill>
                <a:latin typeface="Montserrat"/>
              </a:rPr>
              <a:t>Consommation Électrique</a:t>
            </a:r>
            <a:r>
              <a:rPr sz="1104"/>
              <a:t>
</a:t>
            </a:r>
            <a:r>
              <a:rPr sz="3468" b="1">
                <a:solidFill>
                  <a:srgbClr val="212121"/>
                </a:solidFill>
                <a:latin typeface="Montserrat"/>
              </a:rPr>
              <a:t>Journalière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466" y="4583411"/>
            <a:ext cx="8705632" cy="35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435" b="0" dirty="0" err="1">
                <a:solidFill>
                  <a:srgbClr val="757575"/>
                </a:solidFill>
                <a:latin typeface="Roboto Slab"/>
              </a:rPr>
              <a:t>Approche</a:t>
            </a:r>
            <a:r>
              <a:rPr sz="1435" b="0" dirty="0">
                <a:solidFill>
                  <a:srgbClr val="757575"/>
                </a:solidFill>
                <a:latin typeface="Roboto Slab"/>
              </a:rPr>
              <a:t> par </a:t>
            </a:r>
            <a:r>
              <a:rPr sz="1435" b="0" dirty="0" err="1">
                <a:solidFill>
                  <a:srgbClr val="757575"/>
                </a:solidFill>
                <a:latin typeface="Roboto Slab"/>
              </a:rPr>
              <a:t>régression</a:t>
            </a:r>
            <a:r>
              <a:rPr sz="1435" b="0" dirty="0">
                <a:solidFill>
                  <a:srgbClr val="757575"/>
                </a:solidFill>
                <a:latin typeface="Roboto Slab"/>
              </a:rPr>
              <a:t> : Random Forest, Gradient Boosting, </a:t>
            </a:r>
            <a:r>
              <a:rPr sz="1435" b="0" dirty="0" err="1">
                <a:solidFill>
                  <a:srgbClr val="757575"/>
                </a:solidFill>
                <a:latin typeface="Roboto Slab"/>
              </a:rPr>
              <a:t>Régression</a:t>
            </a:r>
            <a:r>
              <a:rPr sz="1435" b="0" dirty="0">
                <a:solidFill>
                  <a:srgbClr val="757575"/>
                </a:solidFill>
                <a:latin typeface="Roboto Slab"/>
              </a:rPr>
              <a:t> </a:t>
            </a:r>
            <a:r>
              <a:rPr sz="1435" b="0" dirty="0" err="1">
                <a:solidFill>
                  <a:srgbClr val="757575"/>
                </a:solidFill>
                <a:latin typeface="Roboto Slab"/>
              </a:rPr>
              <a:t>Linéaire</a:t>
            </a:r>
            <a:endParaRPr sz="1435" b="0" dirty="0">
              <a:solidFill>
                <a:srgbClr val="757575"/>
              </a:solidFill>
              <a:latin typeface="Roboto Slab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466" y="5557837"/>
            <a:ext cx="123821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2536" y="5484107"/>
            <a:ext cx="1143198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1" dirty="0">
                <a:solidFill>
                  <a:srgbClr val="616161"/>
                </a:solidFill>
                <a:latin typeface="Montserrat"/>
              </a:rPr>
              <a:t>AZZA Imane</a:t>
            </a:r>
            <a:endParaRPr sz="1200" b="1" dirty="0">
              <a:solidFill>
                <a:srgbClr val="616161"/>
              </a:solidFill>
              <a:latin typeface="Montserrat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521" y="5545384"/>
            <a:ext cx="142871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89640" y="5471654"/>
            <a:ext cx="181645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616161"/>
                </a:solidFill>
                <a:latin typeface="Montserrat"/>
              </a:rPr>
              <a:t>Master 1 ISI - SUPMTI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7534" y="5529438"/>
            <a:ext cx="104772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97554" y="5455708"/>
            <a:ext cx="120090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16161"/>
                </a:solidFill>
                <a:latin typeface="Montserrat"/>
              </a:rPr>
              <a:t>Rabat, Maroc</a:t>
            </a:r>
          </a:p>
        </p:txBody>
      </p:sp>
      <p:pic>
        <p:nvPicPr>
          <p:cNvPr id="19" name="Picture 9" descr="image.png">
            <a:extLst>
              <a:ext uri="{FF2B5EF4-FFF2-40B4-BE49-F238E27FC236}">
                <a16:creationId xmlns:a16="http://schemas.microsoft.com/office/drawing/2014/main" id="{6BE18F11-DDF8-FFD8-30FA-EDA73EC848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466" y="5819774"/>
            <a:ext cx="123821" cy="142875"/>
          </a:xfrm>
          <a:prstGeom prst="rect">
            <a:avLst/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8F21C5E2-5765-C028-732B-0BC15DB83625}"/>
              </a:ext>
            </a:extLst>
          </p:cNvPr>
          <p:cNvSpPr txBox="1"/>
          <p:nvPr/>
        </p:nvSpPr>
        <p:spPr>
          <a:xfrm>
            <a:off x="1552536" y="5746044"/>
            <a:ext cx="199118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1" dirty="0">
                <a:solidFill>
                  <a:srgbClr val="616161"/>
                </a:solidFill>
                <a:latin typeface="Montserrat"/>
              </a:rPr>
              <a:t>LAMKHANTAR Youssef</a:t>
            </a:r>
            <a:endParaRPr sz="1200" b="1" dirty="0">
              <a:solidFill>
                <a:srgbClr val="616161"/>
              </a:solidFill>
              <a:latin typeface="Montserrat"/>
            </a:endParaRPr>
          </a:p>
        </p:txBody>
      </p:sp>
      <p:pic>
        <p:nvPicPr>
          <p:cNvPr id="22" name="Picture 12" descr="image.png">
            <a:extLst>
              <a:ext uri="{FF2B5EF4-FFF2-40B4-BE49-F238E27FC236}">
                <a16:creationId xmlns:a16="http://schemas.microsoft.com/office/drawing/2014/main" id="{9F6EFE4D-1720-1B40-8F42-F9B9C5431EB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521" y="5807321"/>
            <a:ext cx="142871" cy="142875"/>
          </a:xfrm>
          <a:prstGeom prst="rect">
            <a:avLst/>
          </a:prstGeom>
        </p:spPr>
      </p:pic>
      <p:sp>
        <p:nvSpPr>
          <p:cNvPr id="23" name="TextBox 13">
            <a:extLst>
              <a:ext uri="{FF2B5EF4-FFF2-40B4-BE49-F238E27FC236}">
                <a16:creationId xmlns:a16="http://schemas.microsoft.com/office/drawing/2014/main" id="{198DEE7C-D8D6-497F-B647-3B9737DDD1A3}"/>
              </a:ext>
            </a:extLst>
          </p:cNvPr>
          <p:cNvSpPr txBox="1"/>
          <p:nvPr/>
        </p:nvSpPr>
        <p:spPr>
          <a:xfrm>
            <a:off x="4789640" y="5733591"/>
            <a:ext cx="181645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16161"/>
                </a:solidFill>
                <a:latin typeface="Montserrat"/>
              </a:rPr>
              <a:t>Master 1 ISI - SUPMTI</a:t>
            </a:r>
          </a:p>
        </p:txBody>
      </p:sp>
      <p:pic>
        <p:nvPicPr>
          <p:cNvPr id="25" name="Picture 15" descr="image.png">
            <a:extLst>
              <a:ext uri="{FF2B5EF4-FFF2-40B4-BE49-F238E27FC236}">
                <a16:creationId xmlns:a16="http://schemas.microsoft.com/office/drawing/2014/main" id="{7A6FA493-8D99-9457-804F-6304D78075E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7534" y="5791375"/>
            <a:ext cx="104772" cy="142875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71271453-9BBA-8F17-DD15-C3C403FED572}"/>
              </a:ext>
            </a:extLst>
          </p:cNvPr>
          <p:cNvSpPr txBox="1"/>
          <p:nvPr/>
        </p:nvSpPr>
        <p:spPr>
          <a:xfrm>
            <a:off x="7997554" y="5717645"/>
            <a:ext cx="120090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16161"/>
                </a:solidFill>
                <a:latin typeface="Montserrat"/>
              </a:rPr>
              <a:t>Rabat, Maroc</a:t>
            </a:r>
          </a:p>
        </p:txBody>
      </p:sp>
      <p:pic>
        <p:nvPicPr>
          <p:cNvPr id="27" name="Picture 9" descr="image.png">
            <a:extLst>
              <a:ext uri="{FF2B5EF4-FFF2-40B4-BE49-F238E27FC236}">
                <a16:creationId xmlns:a16="http://schemas.microsoft.com/office/drawing/2014/main" id="{67EC8201-A854-879D-3DE9-304F1E0E0B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466" y="6064551"/>
            <a:ext cx="123821" cy="142875"/>
          </a:xfrm>
          <a:prstGeom prst="rect">
            <a:avLst/>
          </a:prstGeom>
        </p:spPr>
      </p:pic>
      <p:sp>
        <p:nvSpPr>
          <p:cNvPr id="28" name="TextBox 10">
            <a:extLst>
              <a:ext uri="{FF2B5EF4-FFF2-40B4-BE49-F238E27FC236}">
                <a16:creationId xmlns:a16="http://schemas.microsoft.com/office/drawing/2014/main" id="{70A26E4B-8CF9-345F-2E58-7BB865C3F250}"/>
              </a:ext>
            </a:extLst>
          </p:cNvPr>
          <p:cNvSpPr txBox="1"/>
          <p:nvPr/>
        </p:nvSpPr>
        <p:spPr>
          <a:xfrm>
            <a:off x="1552536" y="5990821"/>
            <a:ext cx="196874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616161"/>
                </a:solidFill>
                <a:latin typeface="Montserrat"/>
              </a:rPr>
              <a:t>MANI Mohammed Adil</a:t>
            </a:r>
          </a:p>
        </p:txBody>
      </p:sp>
      <p:pic>
        <p:nvPicPr>
          <p:cNvPr id="30" name="Picture 12" descr="image.png">
            <a:extLst>
              <a:ext uri="{FF2B5EF4-FFF2-40B4-BE49-F238E27FC236}">
                <a16:creationId xmlns:a16="http://schemas.microsoft.com/office/drawing/2014/main" id="{0AB20BE5-1366-A9D1-C635-D6DAADD1711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1521" y="6052098"/>
            <a:ext cx="142871" cy="142875"/>
          </a:xfrm>
          <a:prstGeom prst="rect">
            <a:avLst/>
          </a:prstGeom>
        </p:spPr>
      </p:pic>
      <p:sp>
        <p:nvSpPr>
          <p:cNvPr id="31" name="TextBox 13">
            <a:extLst>
              <a:ext uri="{FF2B5EF4-FFF2-40B4-BE49-F238E27FC236}">
                <a16:creationId xmlns:a16="http://schemas.microsoft.com/office/drawing/2014/main" id="{6E9EFE2D-7432-E1D7-8A47-2D864B52766B}"/>
              </a:ext>
            </a:extLst>
          </p:cNvPr>
          <p:cNvSpPr txBox="1"/>
          <p:nvPr/>
        </p:nvSpPr>
        <p:spPr>
          <a:xfrm>
            <a:off x="4789640" y="5978368"/>
            <a:ext cx="1816459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616161"/>
                </a:solidFill>
                <a:latin typeface="Montserrat"/>
              </a:rPr>
              <a:t>Master 1 ISI - SUPMTI</a:t>
            </a:r>
          </a:p>
        </p:txBody>
      </p:sp>
      <p:pic>
        <p:nvPicPr>
          <p:cNvPr id="33" name="Picture 15" descr="image.png">
            <a:extLst>
              <a:ext uri="{FF2B5EF4-FFF2-40B4-BE49-F238E27FC236}">
                <a16:creationId xmlns:a16="http://schemas.microsoft.com/office/drawing/2014/main" id="{E185047C-03B0-6BA4-3885-A8D2678AF04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7534" y="6036152"/>
            <a:ext cx="104772" cy="142875"/>
          </a:xfrm>
          <a:prstGeom prst="rect">
            <a:avLst/>
          </a:prstGeom>
        </p:spPr>
      </p:pic>
      <p:sp>
        <p:nvSpPr>
          <p:cNvPr id="34" name="TextBox 16">
            <a:extLst>
              <a:ext uri="{FF2B5EF4-FFF2-40B4-BE49-F238E27FC236}">
                <a16:creationId xmlns:a16="http://schemas.microsoft.com/office/drawing/2014/main" id="{10856705-4BBB-1318-9B11-EAC13263CE9E}"/>
              </a:ext>
            </a:extLst>
          </p:cNvPr>
          <p:cNvSpPr txBox="1"/>
          <p:nvPr/>
        </p:nvSpPr>
        <p:spPr>
          <a:xfrm>
            <a:off x="7997554" y="5962422"/>
            <a:ext cx="1200906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16161"/>
                </a:solidFill>
                <a:latin typeface="Montserrat"/>
              </a:rPr>
              <a:t>Rabat, Maroc</a:t>
            </a:r>
          </a:p>
        </p:txBody>
      </p:sp>
      <p:sp>
        <p:nvSpPr>
          <p:cNvPr id="35" name="Espace réservé du numéro de diapositive 34">
            <a:extLst>
              <a:ext uri="{FF2B5EF4-FFF2-40B4-BE49-F238E27FC236}">
                <a16:creationId xmlns:a16="http://schemas.microsoft.com/office/drawing/2014/main" id="{7C7D15D5-CFDB-CAC3-9AE0-B2B8F0D7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2651624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485" y="3200400"/>
            <a:ext cx="3047923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1950"/>
              </a:spcAft>
            </a:pPr>
            <a:r>
              <a:rPr sz="3348" b="1">
                <a:solidFill>
                  <a:srgbClr val="212121"/>
                </a:solidFill>
                <a:latin typeface="Montserrat"/>
              </a:rP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485" y="4019549"/>
            <a:ext cx="571485" cy="57150"/>
          </a:xfrm>
          <a:prstGeom prst="roundRect">
            <a:avLst>
              <a:gd name="adj" fmla="val 10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52" y="186055"/>
            <a:ext cx="152396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417771" y="3045100"/>
            <a:ext cx="3809904" cy="3809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8782" y="1716538"/>
            <a:ext cx="586956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2A5F5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4666" y="1567956"/>
            <a:ext cx="1502271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4666" y="1821789"/>
            <a:ext cx="154394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Contexte et objectifs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6637" y="4821688"/>
            <a:ext cx="670312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4DB6AC"/>
                </a:solidFill>
                <a:latin typeface="Montserrat"/>
              </a:rPr>
              <a:t>0</a:t>
            </a:r>
            <a:r>
              <a:rPr lang="fr-FR" sz="3200" b="1" dirty="0">
                <a:solidFill>
                  <a:srgbClr val="4DB6AC"/>
                </a:solidFill>
                <a:latin typeface="Montserrat"/>
              </a:rPr>
              <a:t>5</a:t>
            </a:r>
            <a:endParaRPr sz="3200" b="1" dirty="0">
              <a:solidFill>
                <a:srgbClr val="4DB6AC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52522" y="4673106"/>
            <a:ext cx="2651623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Modèle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2522" y="4926939"/>
            <a:ext cx="202645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Premier modèle, DJU, Lag-1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8782" y="2469013"/>
            <a:ext cx="668709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C6BC0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4666" y="2320431"/>
            <a:ext cx="1311513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Hypothèse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4666" y="2574266"/>
            <a:ext cx="2781467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b="0" dirty="0">
                <a:solidFill>
                  <a:srgbClr val="9E9E9E"/>
                </a:solidFill>
                <a:latin typeface="Montserrat"/>
              </a:rPr>
              <a:t>Relation avec la météo et le calendrier</a:t>
            </a:r>
            <a:endParaRPr sz="105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62139" y="1633085"/>
            <a:ext cx="687945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7E57C2"/>
                </a:solidFill>
                <a:latin typeface="Montserrat"/>
              </a:rPr>
              <a:t>0</a:t>
            </a:r>
            <a:r>
              <a:rPr lang="fr-FR" sz="3200" b="1" dirty="0">
                <a:solidFill>
                  <a:srgbClr val="7E57C2"/>
                </a:solidFill>
                <a:latin typeface="Montserrat"/>
              </a:rPr>
              <a:t>6</a:t>
            </a:r>
            <a:endParaRPr sz="3200" b="1" dirty="0">
              <a:solidFill>
                <a:srgbClr val="7E57C2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42765" y="1499769"/>
            <a:ext cx="2117824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Gradient Boosting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765" y="1753603"/>
            <a:ext cx="191263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Entraînement et résultats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8782" y="3221489"/>
            <a:ext cx="670312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AB47BC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4666" y="3072905"/>
            <a:ext cx="2454454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Collecte des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4666" y="3326741"/>
            <a:ext cx="3541290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9E9E9E"/>
                </a:solidFill>
                <a:latin typeface="Montserrat"/>
              </a:rPr>
              <a:t>Dataset</a:t>
            </a:r>
            <a:r>
              <a:rPr lang="fr-FR" sz="1200" b="0" dirty="0">
                <a:solidFill>
                  <a:srgbClr val="9E9E9E"/>
                </a:solidFill>
                <a:latin typeface="Montserrat"/>
              </a:rPr>
              <a:t> Consommation</a:t>
            </a:r>
            <a:r>
              <a:rPr sz="1200" b="0" dirty="0">
                <a:solidFill>
                  <a:srgbClr val="9E9E9E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9E9E9E"/>
                </a:solidFill>
                <a:latin typeface="Montserrat"/>
              </a:rPr>
              <a:t>Météo</a:t>
            </a:r>
            <a:r>
              <a:rPr sz="1200" b="0" dirty="0">
                <a:solidFill>
                  <a:srgbClr val="9E9E9E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9E9E9E"/>
                </a:solidFill>
                <a:latin typeface="Montserrat"/>
              </a:rPr>
              <a:t>Jours</a:t>
            </a:r>
            <a:r>
              <a:rPr sz="1200" b="0" dirty="0">
                <a:solidFill>
                  <a:srgbClr val="9E9E9E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9E9E9E"/>
                </a:solidFill>
                <a:latin typeface="Montserrat"/>
              </a:rPr>
              <a:t>fériés</a:t>
            </a:r>
            <a:endParaRPr sz="120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62139" y="2385561"/>
            <a:ext cx="681533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42A5F5"/>
                </a:solidFill>
                <a:latin typeface="Montserrat"/>
              </a:rPr>
              <a:t>0</a:t>
            </a:r>
            <a:r>
              <a:rPr lang="fr-FR" sz="3200" b="1" dirty="0">
                <a:solidFill>
                  <a:srgbClr val="42A5F5"/>
                </a:solidFill>
                <a:latin typeface="Montserrat"/>
              </a:rPr>
              <a:t>7</a:t>
            </a:r>
            <a:endParaRPr sz="3200" b="1" dirty="0">
              <a:solidFill>
                <a:srgbClr val="42A5F5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765" y="2252243"/>
            <a:ext cx="2268506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Régression Linéaire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765" y="2506078"/>
            <a:ext cx="1973554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Comparaison des modèles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782" y="3983488"/>
            <a:ext cx="708784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DB6AC"/>
                </a:solidFill>
                <a:latin typeface="Montserrat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4666" y="3834905"/>
            <a:ext cx="2422394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Analyse des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4666" y="4079215"/>
            <a:ext cx="162409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9E9E9E"/>
                </a:solidFill>
                <a:latin typeface="Montserrat"/>
              </a:rPr>
              <a:t>Graphes</a:t>
            </a:r>
            <a:r>
              <a:rPr sz="1050" b="0" dirty="0">
                <a:solidFill>
                  <a:srgbClr val="9E9E9E"/>
                </a:solidFill>
                <a:latin typeface="Montserrat"/>
              </a:rPr>
              <a:t> et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331" y="4071488"/>
            <a:ext cx="687945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C6BC0"/>
                </a:solidFill>
                <a:latin typeface="Montserrat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3957" y="3938171"/>
            <a:ext cx="1271438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Prédiction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3957" y="4182481"/>
            <a:ext cx="1535933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Résultats et erreurs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1208" y="4807573"/>
            <a:ext cx="586956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AB47BC"/>
                </a:solidFill>
                <a:latin typeface="Montserrat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3957" y="4690647"/>
            <a:ext cx="2659639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Limites et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3957" y="4934956"/>
            <a:ext cx="1471813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E9E9E"/>
                </a:solidFill>
                <a:latin typeface="Montserrat"/>
              </a:rPr>
              <a:t>Recommandations</a:t>
            </a: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0DBBC0C6-85F5-DBA9-79FC-1D067AE83267}"/>
              </a:ext>
            </a:extLst>
          </p:cNvPr>
          <p:cNvSpPr txBox="1"/>
          <p:nvPr/>
        </p:nvSpPr>
        <p:spPr>
          <a:xfrm>
            <a:off x="8062140" y="3147563"/>
            <a:ext cx="697563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7E57C2"/>
                </a:solidFill>
                <a:latin typeface="Montserrat"/>
              </a:rPr>
              <a:t>0</a:t>
            </a:r>
            <a:r>
              <a:rPr lang="fr-FR" sz="3200" b="1" dirty="0">
                <a:solidFill>
                  <a:srgbClr val="7E57C2"/>
                </a:solidFill>
                <a:latin typeface="Montserrat"/>
              </a:rPr>
              <a:t>8</a:t>
            </a:r>
            <a:endParaRPr sz="3200" b="1" dirty="0">
              <a:solidFill>
                <a:srgbClr val="7E57C2"/>
              </a:solidFill>
              <a:latin typeface="Montserrat"/>
            </a:endParaRPr>
          </a:p>
        </p:txBody>
      </p:sp>
      <p:sp>
        <p:nvSpPr>
          <p:cNvPr id="44" name="TextBox 34">
            <a:extLst>
              <a:ext uri="{FF2B5EF4-FFF2-40B4-BE49-F238E27FC236}">
                <a16:creationId xmlns:a16="http://schemas.microsoft.com/office/drawing/2014/main" id="{2F6A7F37-C56C-CEAD-2AD1-4EAA3E97C575}"/>
              </a:ext>
            </a:extLst>
          </p:cNvPr>
          <p:cNvSpPr txBox="1"/>
          <p:nvPr/>
        </p:nvSpPr>
        <p:spPr>
          <a:xfrm>
            <a:off x="8942765" y="3014246"/>
            <a:ext cx="1577611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424242"/>
                </a:solidFill>
                <a:latin typeface="Montserrat"/>
              </a:rPr>
              <a:t>Comparaison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44EC8FF6-3A07-F0AB-E718-4BF375E51319}"/>
              </a:ext>
            </a:extLst>
          </p:cNvPr>
          <p:cNvSpPr txBox="1"/>
          <p:nvPr/>
        </p:nvSpPr>
        <p:spPr>
          <a:xfrm>
            <a:off x="8942765" y="3258555"/>
            <a:ext cx="1866152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9E9E9E"/>
                </a:solidFill>
                <a:latin typeface="Montserrat"/>
              </a:rPr>
              <a:t>Métriques</a:t>
            </a:r>
            <a:r>
              <a:rPr sz="1050" b="0" dirty="0">
                <a:solidFill>
                  <a:srgbClr val="9E9E9E"/>
                </a:solidFill>
                <a:latin typeface="Montserrat"/>
              </a:rPr>
              <a:t> R², RMSE, MAE</a:t>
            </a:r>
          </a:p>
        </p:txBody>
      </p:sp>
      <p:sp>
        <p:nvSpPr>
          <p:cNvPr id="46" name="Espace réservé du numéro de diapositive 45">
            <a:extLst>
              <a:ext uri="{FF2B5EF4-FFF2-40B4-BE49-F238E27FC236}">
                <a16:creationId xmlns:a16="http://schemas.microsoft.com/office/drawing/2014/main" id="{38F6A13B-88AD-0AF2-C45B-20692DFC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47" name="TextBox 36">
            <a:extLst>
              <a:ext uri="{FF2B5EF4-FFF2-40B4-BE49-F238E27FC236}">
                <a16:creationId xmlns:a16="http://schemas.microsoft.com/office/drawing/2014/main" id="{39BF449D-582B-95AD-35D4-38A919713B44}"/>
              </a:ext>
            </a:extLst>
          </p:cNvPr>
          <p:cNvSpPr txBox="1"/>
          <p:nvPr/>
        </p:nvSpPr>
        <p:spPr>
          <a:xfrm>
            <a:off x="6027597" y="5770004"/>
            <a:ext cx="468333" cy="3756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chemeClr val="accent3">
                    <a:lumMod val="75000"/>
                  </a:schemeClr>
                </a:solidFill>
                <a:latin typeface="Montserrat"/>
              </a:rPr>
              <a:t>1</a:t>
            </a:r>
            <a:r>
              <a:rPr lang="fr-FR" sz="3200" b="1" dirty="0">
                <a:solidFill>
                  <a:schemeClr val="accent3">
                    <a:lumMod val="75000"/>
                  </a:schemeClr>
                </a:solidFill>
                <a:latin typeface="Montserrat"/>
              </a:rPr>
              <a:t>1</a:t>
            </a:r>
            <a:endParaRPr sz="3200" b="1" dirty="0">
              <a:solidFill>
                <a:schemeClr val="accent3">
                  <a:lumMod val="75000"/>
                </a:schemeClr>
              </a:solidFill>
              <a:latin typeface="Montserrat"/>
            </a:endParaRPr>
          </a:p>
        </p:txBody>
      </p:sp>
      <p:sp>
        <p:nvSpPr>
          <p:cNvPr id="48" name="TextBox 37">
            <a:extLst>
              <a:ext uri="{FF2B5EF4-FFF2-40B4-BE49-F238E27FC236}">
                <a16:creationId xmlns:a16="http://schemas.microsoft.com/office/drawing/2014/main" id="{8F3EF052-D244-12BE-ED63-3C63FBD53679}"/>
              </a:ext>
            </a:extLst>
          </p:cNvPr>
          <p:cNvSpPr txBox="1"/>
          <p:nvPr/>
        </p:nvSpPr>
        <p:spPr>
          <a:xfrm>
            <a:off x="6587652" y="5762899"/>
            <a:ext cx="1346779" cy="2961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600" b="1" dirty="0">
                <a:solidFill>
                  <a:srgbClr val="424242"/>
                </a:solidFill>
                <a:latin typeface="Montserrat"/>
              </a:rPr>
              <a:t>Conclusion</a:t>
            </a:r>
            <a:endParaRPr sz="1600" b="1" dirty="0">
              <a:solidFill>
                <a:srgbClr val="424242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1295399"/>
            <a:ext cx="57148" cy="761999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057248" y="1573634"/>
            <a:ext cx="2851999" cy="5103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12121"/>
                </a:solidFill>
                <a:latin typeface="Montserrat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029" y="245770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02" y="2562479"/>
            <a:ext cx="17144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4622" y="2242448"/>
            <a:ext cx="2010422" cy="3219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 dirty="0">
                <a:solidFill>
                  <a:srgbClr val="424242"/>
                </a:solidFill>
                <a:latin typeface="Montserrat"/>
              </a:rPr>
              <a:t>Gestion de la </a:t>
            </a:r>
            <a:r>
              <a:rPr sz="1200" b="1" dirty="0" err="1">
                <a:solidFill>
                  <a:srgbClr val="424242"/>
                </a:solidFill>
                <a:latin typeface="Montserrat"/>
              </a:rPr>
              <a:t>demande</a:t>
            </a:r>
            <a:endParaRPr sz="12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5842" y="2500582"/>
            <a:ext cx="4333766" cy="4566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57575"/>
                </a:solidFill>
                <a:latin typeface="Montserrat"/>
              </a:rPr>
              <a:t>Prédiction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de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consommation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pour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facturation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et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efficacité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énergétique</a:t>
            </a:r>
            <a:endParaRPr sz="1000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0029" y="336257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277" y="3467355"/>
            <a:ext cx="19049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6176" y="3124920"/>
            <a:ext cx="1997598" cy="3219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 dirty="0">
                <a:solidFill>
                  <a:srgbClr val="424242"/>
                </a:solidFill>
                <a:latin typeface="Montserrat"/>
              </a:rPr>
              <a:t>Foyer à </a:t>
            </a:r>
            <a:r>
              <a:rPr sz="1200" b="1" dirty="0" err="1">
                <a:solidFill>
                  <a:srgbClr val="424242"/>
                </a:solidFill>
                <a:latin typeface="Montserrat"/>
              </a:rPr>
              <a:t>Sceaux</a:t>
            </a:r>
            <a:r>
              <a:rPr sz="1200" b="1" dirty="0">
                <a:solidFill>
                  <a:srgbClr val="424242"/>
                </a:solidFill>
                <a:latin typeface="Montserrat"/>
              </a:rPr>
              <a:t>, France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5842" y="3491731"/>
            <a:ext cx="4333766" cy="27712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57575"/>
                </a:solidFill>
                <a:latin typeface="Montserrat"/>
              </a:rPr>
              <a:t>Données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minute-level UCI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0029" y="426745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802" y="4372230"/>
            <a:ext cx="17144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5842" y="4130038"/>
            <a:ext cx="1885388" cy="3219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424242"/>
                </a:solidFill>
                <a:latin typeface="Montserrat"/>
              </a:rPr>
              <a:t>Modèle de régression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42" y="4419150"/>
            <a:ext cx="3983719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757575"/>
                </a:solidFill>
                <a:latin typeface="Montserrat"/>
              </a:rPr>
              <a:t>Expliquer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et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prédire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consommation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via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météo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et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calendrier</a:t>
            </a:r>
            <a:endParaRPr sz="1000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0029" y="497230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802" y="5077080"/>
            <a:ext cx="17144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5842" y="4834888"/>
            <a:ext cx="1999202" cy="3219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424242"/>
                </a:solidFill>
                <a:latin typeface="Montserrat"/>
              </a:rPr>
              <a:t>Métriques d'évaluation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5842" y="5135814"/>
            <a:ext cx="4333766" cy="4535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757575"/>
                </a:solidFill>
                <a:latin typeface="Montserrat"/>
              </a:rPr>
              <a:t>Documentation impact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nettoyage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, feature engineering et </a:t>
            </a:r>
            <a:r>
              <a:rPr sz="1000" b="0" dirty="0" err="1">
                <a:solidFill>
                  <a:srgbClr val="757575"/>
                </a:solidFill>
                <a:latin typeface="Montserrat"/>
              </a:rPr>
              <a:t>filtrage</a:t>
            </a:r>
            <a:r>
              <a:rPr sz="1000" b="0" dirty="0">
                <a:solidFill>
                  <a:srgbClr val="757575"/>
                </a:solidFill>
                <a:latin typeface="Montserrat"/>
              </a:rPr>
              <a:t> (R², RMSE, MAE)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24516" y="158503"/>
            <a:ext cx="1916535" cy="2001574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F39F89F9-A23B-29E5-B495-4FA37A3B5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163" y="2932220"/>
            <a:ext cx="3746121" cy="1816681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8" name="Rounded Rectangle 27"/>
          <p:cNvSpPr/>
          <p:nvPr/>
        </p:nvSpPr>
        <p:spPr>
          <a:xfrm>
            <a:off x="8552093" y="3651900"/>
            <a:ext cx="3504591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8742589" y="3957334"/>
            <a:ext cx="72321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4DB6AC"/>
                </a:solidFill>
                <a:latin typeface="Montserrat"/>
              </a:rPr>
              <a:t>4</a:t>
            </a:r>
            <a:r>
              <a:rPr lang="fr-FR" sz="1600" b="1" dirty="0">
                <a:solidFill>
                  <a:srgbClr val="4DB6AC"/>
                </a:solidFill>
                <a:latin typeface="Montserrat"/>
              </a:rPr>
              <a:t> ans</a:t>
            </a:r>
            <a:endParaRPr sz="1600" b="1" dirty="0">
              <a:solidFill>
                <a:srgbClr val="4DB6AC"/>
              </a:solidFill>
              <a:latin typeface="Montserra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80462" y="4128149"/>
            <a:ext cx="1431739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dirty="0">
                <a:solidFill>
                  <a:srgbClr val="9E9E9E"/>
                </a:solidFill>
                <a:latin typeface="Montserrat"/>
              </a:rPr>
              <a:t>De chaque minute</a:t>
            </a:r>
            <a:endParaRPr sz="105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79646" y="3869880"/>
            <a:ext cx="2521781" cy="3027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"/>
              </a:spcAft>
            </a:pPr>
            <a:r>
              <a:rPr lang="fr-FR" sz="1200" b="1" dirty="0">
                <a:solidFill>
                  <a:srgbClr val="424242"/>
                </a:solidFill>
                <a:latin typeface="Montserrat"/>
              </a:rPr>
              <a:t>Consommation d’une maison</a:t>
            </a:r>
            <a:endParaRPr sz="1200" b="1" dirty="0">
              <a:solidFill>
                <a:srgbClr val="424242"/>
              </a:solidFill>
              <a:latin typeface="Montserrat"/>
            </a:endParaRP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C817DC14-76DE-90D7-0732-14B23FD656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272508">
            <a:off x="7456363" y="3543600"/>
            <a:ext cx="701195" cy="701195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7ACBD629-C826-A5AF-5143-ECA91599619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7686"/>
          <a:stretch/>
        </p:blipFill>
        <p:spPr>
          <a:xfrm>
            <a:off x="7637855" y="5305093"/>
            <a:ext cx="4320224" cy="723900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41A3B13-41D1-AC5F-4215-52EE14CB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334" y="346464"/>
            <a:ext cx="1733163" cy="173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A0AE331F-AD46-51B3-DD7D-639617B6D533}"/>
              </a:ext>
            </a:extLst>
          </p:cNvPr>
          <p:cNvSpPr/>
          <p:nvPr/>
        </p:nvSpPr>
        <p:spPr>
          <a:xfrm>
            <a:off x="6709486" y="1326066"/>
            <a:ext cx="3504591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CA9BFFB0-68A8-C8FC-F15D-D8180AA7751C}"/>
              </a:ext>
            </a:extLst>
          </p:cNvPr>
          <p:cNvSpPr txBox="1"/>
          <p:nvPr/>
        </p:nvSpPr>
        <p:spPr>
          <a:xfrm>
            <a:off x="6899982" y="1631500"/>
            <a:ext cx="48596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00" b="1" dirty="0">
                <a:solidFill>
                  <a:srgbClr val="4DB6AC"/>
                </a:solidFill>
                <a:latin typeface="Montserrat"/>
              </a:rPr>
              <a:t>Mr.</a:t>
            </a:r>
            <a:endParaRPr sz="1600" b="1" dirty="0">
              <a:solidFill>
                <a:srgbClr val="4DB6AC"/>
              </a:solidFill>
              <a:latin typeface="Montserrat"/>
            </a:endParaRP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8A9AEC65-6AE5-9205-7CEB-7CE6EC2C526B}"/>
              </a:ext>
            </a:extLst>
          </p:cNvPr>
          <p:cNvSpPr txBox="1"/>
          <p:nvPr/>
        </p:nvSpPr>
        <p:spPr>
          <a:xfrm>
            <a:off x="7637855" y="1784171"/>
            <a:ext cx="2220416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dirty="0">
                <a:solidFill>
                  <a:srgbClr val="9E9E9E"/>
                </a:solidFill>
                <a:latin typeface="Montserrat"/>
              </a:rPr>
              <a:t>Chercheur senior en « Science </a:t>
            </a:r>
          </a:p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dirty="0">
                <a:solidFill>
                  <a:srgbClr val="9E9E9E"/>
                </a:solidFill>
                <a:latin typeface="Montserrat"/>
              </a:rPr>
              <a:t>des Données » à EDF R&amp;D</a:t>
            </a:r>
            <a:endParaRPr lang="fr-FR" sz="105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FC38576D-7917-12D6-D240-19BC76A0DC16}"/>
              </a:ext>
            </a:extLst>
          </p:cNvPr>
          <p:cNvSpPr txBox="1"/>
          <p:nvPr/>
        </p:nvSpPr>
        <p:spPr>
          <a:xfrm>
            <a:off x="7637039" y="1448844"/>
            <a:ext cx="1442959" cy="3027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"/>
              </a:spcAft>
            </a:pPr>
            <a:r>
              <a:rPr lang="fr-FR" sz="1200" b="1" dirty="0">
                <a:solidFill>
                  <a:srgbClr val="424242"/>
                </a:solidFill>
                <a:latin typeface="Montserrat"/>
              </a:rPr>
              <a:t>Georges </a:t>
            </a:r>
            <a:r>
              <a:rPr lang="fr-FR" sz="1200" b="1" dirty="0" err="1">
                <a:solidFill>
                  <a:srgbClr val="424242"/>
                </a:solidFill>
                <a:latin typeface="Montserrat"/>
              </a:rPr>
              <a:t>Hébrail</a:t>
            </a:r>
            <a:endParaRPr lang="fr-FR" sz="12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02EB26D9-C0B9-BC52-BFCA-C1E78FEEE61A}"/>
              </a:ext>
            </a:extLst>
          </p:cNvPr>
          <p:cNvSpPr/>
          <p:nvPr/>
        </p:nvSpPr>
        <p:spPr>
          <a:xfrm>
            <a:off x="6224965" y="5753983"/>
            <a:ext cx="3504591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28">
            <a:extLst>
              <a:ext uri="{FF2B5EF4-FFF2-40B4-BE49-F238E27FC236}">
                <a16:creationId xmlns:a16="http://schemas.microsoft.com/office/drawing/2014/main" id="{CEF48195-F5C7-34FD-36FD-11252A84F567}"/>
              </a:ext>
            </a:extLst>
          </p:cNvPr>
          <p:cNvSpPr txBox="1"/>
          <p:nvPr/>
        </p:nvSpPr>
        <p:spPr>
          <a:xfrm>
            <a:off x="6415461" y="6059417"/>
            <a:ext cx="53245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00" b="1" dirty="0">
                <a:solidFill>
                  <a:srgbClr val="4DB6AC"/>
                </a:solidFill>
                <a:latin typeface="Montserrat"/>
              </a:rPr>
              <a:t>334</a:t>
            </a:r>
            <a:endParaRPr sz="1600" b="1" dirty="0">
              <a:solidFill>
                <a:srgbClr val="4DB6AC"/>
              </a:solidFill>
              <a:latin typeface="Montserrat"/>
            </a:endParaRPr>
          </a:p>
        </p:txBody>
      </p:sp>
      <p:sp>
        <p:nvSpPr>
          <p:cNvPr id="48" name="TextBox 30">
            <a:extLst>
              <a:ext uri="{FF2B5EF4-FFF2-40B4-BE49-F238E27FC236}">
                <a16:creationId xmlns:a16="http://schemas.microsoft.com/office/drawing/2014/main" id="{238FC58A-6781-669E-F4AA-6415B5AA2305}"/>
              </a:ext>
            </a:extLst>
          </p:cNvPr>
          <p:cNvSpPr txBox="1"/>
          <p:nvPr/>
        </p:nvSpPr>
        <p:spPr>
          <a:xfrm>
            <a:off x="7153334" y="6230232"/>
            <a:ext cx="1221745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50" dirty="0">
                <a:solidFill>
                  <a:srgbClr val="9E9E9E"/>
                </a:solidFill>
                <a:latin typeface="Montserrat"/>
              </a:rPr>
              <a:t>Google Scholar </a:t>
            </a:r>
            <a:endParaRPr sz="1050" b="0" dirty="0">
              <a:solidFill>
                <a:srgbClr val="9E9E9E"/>
              </a:solidFill>
              <a:latin typeface="Montserrat"/>
            </a:endParaRP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BE32394A-DCD8-3109-8184-038A799989B8}"/>
              </a:ext>
            </a:extLst>
          </p:cNvPr>
          <p:cNvSpPr txBox="1"/>
          <p:nvPr/>
        </p:nvSpPr>
        <p:spPr>
          <a:xfrm>
            <a:off x="7152518" y="5971963"/>
            <a:ext cx="788934" cy="3027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30"/>
              </a:spcAft>
            </a:pPr>
            <a:r>
              <a:rPr lang="fr-FR" sz="1200" b="1" dirty="0">
                <a:solidFill>
                  <a:srgbClr val="424242"/>
                </a:solidFill>
                <a:latin typeface="Montserrat"/>
              </a:rPr>
              <a:t>Citation</a:t>
            </a:r>
            <a:endParaRPr sz="12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40" name="Espace réservé du numéro de diapositive 39">
            <a:extLst>
              <a:ext uri="{FF2B5EF4-FFF2-40B4-BE49-F238E27FC236}">
                <a16:creationId xmlns:a16="http://schemas.microsoft.com/office/drawing/2014/main" id="{74FCEEB8-7E6A-9617-F747-84D11B29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 animBg="1"/>
      <p:bldP spid="29" grpId="0"/>
      <p:bldP spid="31" grpId="0"/>
      <p:bldP spid="30" grpId="0"/>
      <p:bldP spid="41" grpId="0" animBg="1"/>
      <p:bldP spid="42" grpId="0"/>
      <p:bldP spid="43" grpId="0"/>
      <p:bldP spid="44" grpId="0"/>
      <p:bldP spid="46" grpId="0" animBg="1"/>
      <p:bldP spid="47" grpId="0"/>
      <p:bldP spid="48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20009" y="-1143000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571485" y="523874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E0F2F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1980" y="476249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7248" y="476249"/>
            <a:ext cx="241928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0">
                <a:solidFill>
                  <a:srgbClr val="4DB6AC"/>
                </a:solidFill>
                <a:latin typeface="Roboto Slab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48" y="781050"/>
            <a:ext cx="2419289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31" b="1">
                <a:solidFill>
                  <a:srgbClr val="212121"/>
                </a:solidFill>
                <a:latin typeface="Montserrat"/>
              </a:rPr>
              <a:t>Hypothèse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13" y="162790"/>
            <a:ext cx="152396" cy="171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1980" y="1714500"/>
            <a:ext cx="5095747" cy="1476375"/>
          </a:xfrm>
          <a:prstGeom prst="roundRect">
            <a:avLst>
              <a:gd name="adj" fmla="val 15483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06343" y="2370137"/>
            <a:ext cx="1476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5347" y="2000250"/>
            <a:ext cx="44766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975"/>
              </a:spcAft>
            </a:pPr>
            <a:r>
              <a:rPr sz="777" b="1">
                <a:solidFill>
                  <a:srgbClr val="42A5F5"/>
                </a:solidFill>
                <a:latin typeface="Montserrat"/>
              </a:rPr>
              <a:t>HYPOTHÈSE PRINCIPALE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47" y="2333624"/>
            <a:ext cx="447663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212121"/>
                </a:solidFill>
                <a:latin typeface="Montserrat"/>
              </a:rPr>
              <a:t>La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température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n'est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pas le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seul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critère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déterminant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la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consommation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 </a:t>
            </a:r>
            <a:r>
              <a:rPr sz="1196" b="1" dirty="0" err="1">
                <a:solidFill>
                  <a:srgbClr val="212121"/>
                </a:solidFill>
                <a:latin typeface="Montserrat"/>
              </a:rPr>
              <a:t>d'énergie</a:t>
            </a:r>
            <a:r>
              <a:rPr sz="1196" b="1" dirty="0">
                <a:solidFill>
                  <a:srgbClr val="212121"/>
                </a:solidFill>
                <a:latin typeface="Montserrat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0" y="3429000"/>
            <a:ext cx="5095747" cy="866775"/>
          </a:xfrm>
          <a:prstGeom prst="roundRect">
            <a:avLst>
              <a:gd name="adj" fmla="val 219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0099" y="36194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545" y="3752849"/>
            <a:ext cx="133346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7783" y="3619499"/>
            <a:ext cx="311459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 dirty="0" err="1">
                <a:solidFill>
                  <a:srgbClr val="424242"/>
                </a:solidFill>
                <a:latin typeface="Montserrat"/>
              </a:rPr>
              <a:t>Température</a:t>
            </a:r>
            <a:endParaRPr sz="1076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7783" y="3914775"/>
            <a:ext cx="311459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 err="1">
                <a:solidFill>
                  <a:srgbClr val="757575"/>
                </a:solidFill>
                <a:latin typeface="Montserrat"/>
              </a:rPr>
              <a:t>Facteur</a:t>
            </a:r>
            <a:r>
              <a:rPr sz="837" b="0" dirty="0">
                <a:solidFill>
                  <a:srgbClr val="757575"/>
                </a:solidFill>
                <a:latin typeface="Montserrat"/>
              </a:rPr>
              <a:t> principal de </a:t>
            </a:r>
            <a:r>
              <a:rPr sz="837" b="0" dirty="0" err="1">
                <a:solidFill>
                  <a:srgbClr val="757575"/>
                </a:solidFill>
                <a:latin typeface="Montserrat"/>
              </a:rPr>
              <a:t>chauffage</a:t>
            </a:r>
            <a:r>
              <a:rPr sz="837" b="0" dirty="0">
                <a:solidFill>
                  <a:srgbClr val="757575"/>
                </a:solidFill>
                <a:latin typeface="Montserrat"/>
              </a:rPr>
              <a:t> et </a:t>
            </a:r>
            <a:r>
              <a:rPr sz="837" b="0" dirty="0" err="1">
                <a:solidFill>
                  <a:srgbClr val="757575"/>
                </a:solidFill>
                <a:latin typeface="Montserrat"/>
              </a:rPr>
              <a:t>climatisation</a:t>
            </a:r>
            <a:endParaRPr sz="837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1980" y="4524374"/>
            <a:ext cx="5095747" cy="866775"/>
          </a:xfrm>
          <a:prstGeom prst="roundRect">
            <a:avLst>
              <a:gd name="adj" fmla="val 219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099" y="47243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2971" y="4857750"/>
            <a:ext cx="18097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7783" y="4714875"/>
            <a:ext cx="346701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Jours fériés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7783" y="5010149"/>
            <a:ext cx="346701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Périodes de présence accrue et activités spécifiques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980" y="5629275"/>
            <a:ext cx="5095747" cy="866775"/>
          </a:xfrm>
          <a:prstGeom prst="roundRect">
            <a:avLst>
              <a:gd name="adj" fmla="val 219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0099" y="5819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7783" y="5819775"/>
            <a:ext cx="369560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Type de jour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783" y="6115050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Week-ends vs jours ouvrables influencent les habitudes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3166935"/>
            <a:ext cx="200019" cy="2666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05452" y="3123379"/>
            <a:ext cx="2297360" cy="3538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212121"/>
                </a:solidFill>
                <a:latin typeface="Montserrat"/>
              </a:rPr>
              <a:t>Validation </a:t>
            </a:r>
            <a:r>
              <a:rPr sz="1600" b="1" dirty="0" err="1">
                <a:solidFill>
                  <a:srgbClr val="212121"/>
                </a:solidFill>
                <a:latin typeface="Montserrat"/>
              </a:rPr>
              <a:t>attendue</a:t>
            </a:r>
            <a:endParaRPr sz="1600" b="1" dirty="0">
              <a:solidFill>
                <a:srgbClr val="212121"/>
              </a:solidFill>
              <a:latin typeface="Montserra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91134" y="3432782"/>
            <a:ext cx="4838885" cy="172598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424242"/>
                </a:solidFill>
                <a:latin typeface="Montserrat"/>
              </a:rPr>
              <a:t>Les pics de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consommation</a:t>
            </a:r>
            <a:r>
              <a:rPr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surviennent</a:t>
            </a:r>
            <a:r>
              <a:rPr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principalement</a:t>
            </a:r>
            <a:r>
              <a:rPr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lors</a:t>
            </a:r>
            <a:r>
              <a:rPr b="0" dirty="0">
                <a:solidFill>
                  <a:srgbClr val="424242"/>
                </a:solidFill>
                <a:latin typeface="Montserrat"/>
              </a:rPr>
              <a:t> des week-ends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en</a:t>
            </a:r>
            <a:r>
              <a:rPr b="0" dirty="0">
                <a:solidFill>
                  <a:srgbClr val="424242"/>
                </a:solidFill>
                <a:latin typeface="Montserrat"/>
              </a:rPr>
              <a:t> hiver,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confirmant</a:t>
            </a:r>
            <a:r>
              <a:rPr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l'impact</a:t>
            </a:r>
            <a:r>
              <a:rPr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combiné</a:t>
            </a:r>
            <a:r>
              <a:rPr b="0" dirty="0">
                <a:solidFill>
                  <a:srgbClr val="424242"/>
                </a:solidFill>
                <a:latin typeface="Montserrat"/>
              </a:rPr>
              <a:t> du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calendrier</a:t>
            </a:r>
            <a:r>
              <a:rPr b="0" dirty="0">
                <a:solidFill>
                  <a:srgbClr val="424242"/>
                </a:solidFill>
                <a:latin typeface="Montserrat"/>
              </a:rPr>
              <a:t> et de la </a:t>
            </a:r>
            <a:r>
              <a:rPr b="0" dirty="0" err="1">
                <a:solidFill>
                  <a:srgbClr val="424242"/>
                </a:solidFill>
                <a:latin typeface="Montserrat"/>
              </a:rPr>
              <a:t>saisonnalité</a:t>
            </a:r>
            <a:r>
              <a:rPr b="0" dirty="0">
                <a:solidFill>
                  <a:srgbClr val="424242"/>
                </a:solidFill>
                <a:latin typeface="Montserrat"/>
              </a:rPr>
              <a:t>.</a:t>
            </a:r>
          </a:p>
        </p:txBody>
      </p:sp>
      <p:sp>
        <p:nvSpPr>
          <p:cNvPr id="31" name="Espace réservé du numéro de diapositive 30">
            <a:extLst>
              <a:ext uri="{FF2B5EF4-FFF2-40B4-BE49-F238E27FC236}">
                <a16:creationId xmlns:a16="http://schemas.microsoft.com/office/drawing/2014/main" id="{41B58365-92DB-5D45-418C-F8E2114D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432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761999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761999"/>
            <a:ext cx="24764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047749"/>
            <a:ext cx="2476438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Collecte des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219324"/>
            <a:ext cx="3886102" cy="1162050"/>
          </a:xfrm>
          <a:prstGeom prst="roundRect">
            <a:avLst>
              <a:gd name="adj" fmla="val 1639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63505" y="2717799"/>
            <a:ext cx="11620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2457450"/>
            <a:ext cx="336224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A5F5"/>
                </a:solidFill>
                <a:latin typeface="Montserrat"/>
              </a:rPr>
              <a:t>DATASET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719820"/>
            <a:ext cx="3362240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 dirty="0">
                <a:solidFill>
                  <a:srgbClr val="757575"/>
                </a:solidFill>
                <a:latin typeface="Montserrat"/>
              </a:rPr>
              <a:t>UCI/Kaggle - Individual Household Electric Power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638550"/>
            <a:ext cx="304792" cy="304800"/>
          </a:xfrm>
          <a:prstGeom prst="roundRect">
            <a:avLst>
              <a:gd name="adj" fmla="val 375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03" y="3724274"/>
            <a:ext cx="133346" cy="1333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590473"/>
            <a:ext cx="1499065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1000" b="1">
                <a:solidFill>
                  <a:srgbClr val="424242"/>
                </a:solidFill>
                <a:latin typeface="Montserrat"/>
              </a:rPr>
              <a:t>Mesures à la minute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070" y="3839788"/>
            <a:ext cx="3467013" cy="254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757575"/>
                </a:solidFill>
                <a:latin typeface="Montserrat"/>
              </a:rPr>
              <a:t>Puissance active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globale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 (kW), Tension (V), Courant (A)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4381499"/>
            <a:ext cx="304792" cy="304800"/>
          </a:xfrm>
          <a:prstGeom prst="roundRect">
            <a:avLst>
              <a:gd name="adj" fmla="val 375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4467224"/>
            <a:ext cx="104772" cy="1333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1070" y="4333424"/>
            <a:ext cx="1521507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1000" b="1">
                <a:solidFill>
                  <a:srgbClr val="424242"/>
                </a:solidFill>
                <a:latin typeface="Montserrat"/>
              </a:rPr>
              <a:t>Format des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070" y="4568450"/>
            <a:ext cx="2276521" cy="254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57575"/>
                </a:solidFill>
                <a:latin typeface="Montserrat"/>
              </a:rPr>
              <a:t>Valeurs séparées par ";", décimale: ","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943475"/>
            <a:ext cx="304792" cy="304800"/>
          </a:xfrm>
          <a:prstGeom prst="roundRect">
            <a:avLst>
              <a:gd name="adj" fmla="val 375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03" y="5029200"/>
            <a:ext cx="133346" cy="1333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1070" y="4895398"/>
            <a:ext cx="853054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1000" b="1" dirty="0" err="1">
                <a:solidFill>
                  <a:srgbClr val="424242"/>
                </a:solidFill>
                <a:latin typeface="Montserrat"/>
              </a:rPr>
              <a:t>Nettoyage</a:t>
            </a:r>
            <a:endParaRPr sz="10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1070" y="5148730"/>
            <a:ext cx="3467013" cy="4086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757575"/>
                </a:solidFill>
                <a:latin typeface="Montserrat"/>
              </a:rPr>
              <a:t>Valeurs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manquantes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: "?", suppression des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lignes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incomplètes</a:t>
            </a:r>
            <a:endParaRPr sz="900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1980" y="5686425"/>
            <a:ext cx="304792" cy="304800"/>
          </a:xfrm>
          <a:prstGeom prst="roundRect">
            <a:avLst>
              <a:gd name="adj" fmla="val 375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181070" y="5638348"/>
            <a:ext cx="1665777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1000" b="1">
                <a:solidFill>
                  <a:srgbClr val="424242"/>
                </a:solidFill>
                <a:latin typeface="Montserrat"/>
              </a:rPr>
              <a:t>Agrégation journalière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5882900"/>
            <a:ext cx="2967415" cy="254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757575"/>
                </a:solidFill>
                <a:latin typeface="Montserrat"/>
              </a:rPr>
              <a:t>Index datetime,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somme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 </a:t>
            </a:r>
            <a:r>
              <a:rPr sz="900" b="0" dirty="0" err="1">
                <a:solidFill>
                  <a:srgbClr val="757575"/>
                </a:solidFill>
                <a:latin typeface="Montserrat"/>
              </a:rPr>
              <a:t>Global_active_power</a:t>
            </a:r>
            <a:r>
              <a:rPr sz="900" b="0" dirty="0">
                <a:solidFill>
                  <a:srgbClr val="757575"/>
                </a:solidFill>
                <a:latin typeface="Montserrat"/>
              </a:rPr>
              <a:t>/60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4321" y="0"/>
            <a:ext cx="7067373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52CCEA3D-0B92-3614-CA41-94B669EED1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2885" b="26405"/>
          <a:stretch/>
        </p:blipFill>
        <p:spPr>
          <a:xfrm>
            <a:off x="5538112" y="387566"/>
            <a:ext cx="5337270" cy="1831758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Picture 19" descr="image.png">
            <a:extLst>
              <a:ext uri="{FF2B5EF4-FFF2-40B4-BE49-F238E27FC236}">
                <a16:creationId xmlns:a16="http://schemas.microsoft.com/office/drawing/2014/main" id="{394FFCC6-4114-E977-5360-324709D0A89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42A5F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12751" y="5734050"/>
            <a:ext cx="180970" cy="2095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pic>
      <p:pic>
        <p:nvPicPr>
          <p:cNvPr id="2050" name="Picture 2" descr="Statlog (Image Segmentation) - UCI Machine Learning Repository">
            <a:extLst>
              <a:ext uri="{FF2B5EF4-FFF2-40B4-BE49-F238E27FC236}">
                <a16:creationId xmlns:a16="http://schemas.microsoft.com/office/drawing/2014/main" id="{8CE444EE-9DD7-6484-6998-6444BDC76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001" y="133840"/>
            <a:ext cx="1207851" cy="12078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F5F3A22B-7E84-BE39-C04F-14E2477C837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5966" b="25620"/>
          <a:stretch/>
        </p:blipFill>
        <p:spPr>
          <a:xfrm>
            <a:off x="5531327" y="3500436"/>
            <a:ext cx="5337270" cy="1933576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3591EF3-DE1C-4D34-54DD-00D4D37D016B}"/>
              </a:ext>
            </a:extLst>
          </p:cNvPr>
          <p:cNvCxnSpPr/>
          <p:nvPr/>
        </p:nvCxnSpPr>
        <p:spPr>
          <a:xfrm flipH="1">
            <a:off x="6095846" y="2219324"/>
            <a:ext cx="135519" cy="1162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35655AED-BD4F-8B3D-5666-78B35144B708}"/>
              </a:ext>
            </a:extLst>
          </p:cNvPr>
          <p:cNvCxnSpPr>
            <a:cxnSpLocks/>
          </p:cNvCxnSpPr>
          <p:nvPr/>
        </p:nvCxnSpPr>
        <p:spPr>
          <a:xfrm flipH="1">
            <a:off x="6231365" y="2278855"/>
            <a:ext cx="1170430" cy="1102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E84FA2FA-3C1A-1D90-2300-934D46D5A5F4}"/>
              </a:ext>
            </a:extLst>
          </p:cNvPr>
          <p:cNvCxnSpPr/>
          <p:nvPr/>
        </p:nvCxnSpPr>
        <p:spPr>
          <a:xfrm flipH="1">
            <a:off x="8080964" y="2278855"/>
            <a:ext cx="238119" cy="1150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19">
            <a:extLst>
              <a:ext uri="{FF2B5EF4-FFF2-40B4-BE49-F238E27FC236}">
                <a16:creationId xmlns:a16="http://schemas.microsoft.com/office/drawing/2014/main" id="{59F0C05D-2DBA-EDE3-F156-59FB499D00C8}"/>
              </a:ext>
            </a:extLst>
          </p:cNvPr>
          <p:cNvSpPr txBox="1"/>
          <p:nvPr/>
        </p:nvSpPr>
        <p:spPr>
          <a:xfrm>
            <a:off x="6207572" y="2361059"/>
            <a:ext cx="776110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Fusion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B1ED0146-7FA8-84D3-6319-73A9103DAEDA}"/>
              </a:ext>
            </a:extLst>
          </p:cNvPr>
          <p:cNvSpPr txBox="1"/>
          <p:nvPr/>
        </p:nvSpPr>
        <p:spPr>
          <a:xfrm>
            <a:off x="8496946" y="2348181"/>
            <a:ext cx="867482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Somme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F6BB8C0B-E559-373E-0034-FC50D81E74BA}"/>
              </a:ext>
            </a:extLst>
          </p:cNvPr>
          <p:cNvCxnSpPr/>
          <p:nvPr/>
        </p:nvCxnSpPr>
        <p:spPr>
          <a:xfrm>
            <a:off x="9534284" y="2290760"/>
            <a:ext cx="287363" cy="1138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19">
            <a:extLst>
              <a:ext uri="{FF2B5EF4-FFF2-40B4-BE49-F238E27FC236}">
                <a16:creationId xmlns:a16="http://schemas.microsoft.com/office/drawing/2014/main" id="{69077C67-3AB9-1D81-7A75-FD7243F78C2E}"/>
              </a:ext>
            </a:extLst>
          </p:cNvPr>
          <p:cNvSpPr txBox="1"/>
          <p:nvPr/>
        </p:nvSpPr>
        <p:spPr>
          <a:xfrm>
            <a:off x="6349700" y="6107415"/>
            <a:ext cx="2868029" cy="2705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Cellule de fusion avec météo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56" name="Espace réservé du numéro de diapositive 55">
            <a:extLst>
              <a:ext uri="{FF2B5EF4-FFF2-40B4-BE49-F238E27FC236}">
                <a16:creationId xmlns:a16="http://schemas.microsoft.com/office/drawing/2014/main" id="{46D0110D-59B8-1EA9-55B9-31A47222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276225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276225"/>
            <a:ext cx="24764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CALENDAR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561974"/>
            <a:ext cx="2476438" cy="12573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Collecte des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Données :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Jours Fériés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152650"/>
            <a:ext cx="4248043" cy="1171575"/>
          </a:xfrm>
          <a:prstGeom prst="roundRect">
            <a:avLst>
              <a:gd name="adj" fmla="val 1626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58743" y="2655887"/>
            <a:ext cx="11715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2390774"/>
            <a:ext cx="372418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EF5350"/>
                </a:solidFill>
                <a:latin typeface="Montserrat"/>
              </a:rPr>
              <a:t>BIBLIOTHÈQUE PYTHON HOLIDAYS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686050"/>
            <a:ext cx="372418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Jours fériés français 2006-2010</a:t>
            </a:r>
            <a:r>
              <a:rPr sz="1104"/>
              <a:t>
</a:t>
            </a: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777" b="0">
                <a:solidFill>
                  <a:srgbClr val="9E9E9E"/>
                </a:solidFill>
                <a:latin typeface="Montserrat"/>
              </a:rPr>
              <a:t>holidays.France(years=[2006,...,2010])</a:t>
            </a: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562349"/>
            <a:ext cx="4248043" cy="771525"/>
          </a:xfrm>
          <a:prstGeom prst="roundRect">
            <a:avLst>
              <a:gd name="adj" fmla="val 1975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3733799"/>
            <a:ext cx="428614" cy="428625"/>
          </a:xfrm>
          <a:prstGeom prst="roundRect">
            <a:avLst>
              <a:gd name="adj" fmla="val 35555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2971" y="394335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F5350"/>
                </a:solidFill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12" y="3743325"/>
            <a:ext cx="33336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is_holiday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3990974"/>
            <a:ext cx="3333666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Variable binaire pour les jours fériés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4448175"/>
            <a:ext cx="4248043" cy="771525"/>
          </a:xfrm>
          <a:prstGeom prst="roundRect">
            <a:avLst>
              <a:gd name="adj" fmla="val 1975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3426" y="4619625"/>
            <a:ext cx="428614" cy="428625"/>
          </a:xfrm>
          <a:prstGeom prst="roundRect">
            <a:avLst>
              <a:gd name="adj" fmla="val 35555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6773" y="4733925"/>
            <a:ext cx="18" cy="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C6BC0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4629150"/>
            <a:ext cx="33336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is_weekend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12" y="4876800"/>
            <a:ext cx="3333666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Samedi ou dimanche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0" y="5334000"/>
            <a:ext cx="4248043" cy="1257300"/>
          </a:xfrm>
          <a:prstGeom prst="roundRect">
            <a:avLst>
              <a:gd name="adj" fmla="val 15151"/>
            </a:avLst>
          </a:prstGeom>
          <a:solidFill>
            <a:srgbClr val="F0F7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525" y="5543550"/>
            <a:ext cx="382895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780"/>
              </a:spcAft>
            </a:pPr>
            <a:r>
              <a:rPr sz="1104"/>
              <a:t>  </a:t>
            </a:r>
            <a:r>
              <a:rPr sz="837" b="1">
                <a:solidFill>
                  <a:srgbClr val="42A5F5"/>
                </a:solidFill>
                <a:latin typeface="Montserrat"/>
              </a:rPr>
              <a:t> FUSION DES TABLEAUX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25" y="5686425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A5F5"/>
                </a:solidFill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25" y="5857875"/>
            <a:ext cx="3828954" cy="5238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 DataFrame consommation + DataFrame météo</a:t>
            </a:r>
            <a:r>
              <a:rPr sz="1104"/>
              <a:t>
</a:t>
            </a:r>
            <a:r>
              <a:rPr sz="777" b="0">
                <a:solidFill>
                  <a:srgbClr val="616161"/>
                </a:solidFill>
                <a:latin typeface="Montserrat"/>
              </a:rPr>
              <a:t> Jointure sur colonne </a:t>
            </a:r>
            <a:r>
              <a:rPr sz="777" b="1">
                <a:solidFill>
                  <a:srgbClr val="616161"/>
                </a:solidFill>
                <a:latin typeface="Montserrat"/>
              </a:rPr>
              <a:t>date</a:t>
            </a:r>
            <a:r>
              <a:rPr sz="777" b="0">
                <a:solidFill>
                  <a:srgbClr val="616161"/>
                </a:solidFill>
                <a:latin typeface="Montserrat"/>
              </a:rPr>
              <a:t> (how='left')</a:t>
            </a:r>
            <a:r>
              <a:rPr sz="1104"/>
              <a:t>
</a:t>
            </a:r>
            <a:r>
              <a:rPr sz="777" b="0">
                <a:solidFill>
                  <a:srgbClr val="616161"/>
                </a:solidFill>
                <a:latin typeface="Montserrat"/>
              </a:rPr>
              <a:t> Création du tableau fusionné (données + météo + calendrier)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6E21E47D-6315-3A03-79A5-DDB3AE50B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966" b="25620"/>
          <a:stretch/>
        </p:blipFill>
        <p:spPr>
          <a:xfrm>
            <a:off x="5962501" y="612773"/>
            <a:ext cx="5337270" cy="1933576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0A15B82-B5BE-FCB2-72A1-EE379B03F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501" y="3304990"/>
            <a:ext cx="5270597" cy="2363017"/>
          </a:xfrm>
          <a:prstGeom prst="rect">
            <a:avLst/>
          </a:prstGeom>
          <a:ln w="38100" cap="sq">
            <a:solidFill>
              <a:srgbClr val="42A5F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FEF2010-54FD-7DF9-A60F-7EDEEABFF09E}"/>
              </a:ext>
            </a:extLst>
          </p:cNvPr>
          <p:cNvCxnSpPr>
            <a:cxnSpLocks/>
          </p:cNvCxnSpPr>
          <p:nvPr/>
        </p:nvCxnSpPr>
        <p:spPr>
          <a:xfrm>
            <a:off x="8318500" y="2590799"/>
            <a:ext cx="0" cy="714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9">
            <a:extLst>
              <a:ext uri="{FF2B5EF4-FFF2-40B4-BE49-F238E27FC236}">
                <a16:creationId xmlns:a16="http://schemas.microsoft.com/office/drawing/2014/main" id="{79426749-7523-7DFF-97E0-14C284EDA2C5}"/>
              </a:ext>
            </a:extLst>
          </p:cNvPr>
          <p:cNvSpPr txBox="1"/>
          <p:nvPr/>
        </p:nvSpPr>
        <p:spPr>
          <a:xfrm>
            <a:off x="8571556" y="2868786"/>
            <a:ext cx="2133854" cy="2903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Génération des Flags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FFDBD078-3918-AB00-EBA5-FF91CC70997E}"/>
              </a:ext>
            </a:extLst>
          </p:cNvPr>
          <p:cNvCxnSpPr>
            <a:cxnSpLocks/>
          </p:cNvCxnSpPr>
          <p:nvPr/>
        </p:nvCxnSpPr>
        <p:spPr>
          <a:xfrm flipH="1" flipV="1">
            <a:off x="6695164" y="5658484"/>
            <a:ext cx="559686" cy="37745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7">
            <a:extLst>
              <a:ext uri="{FF2B5EF4-FFF2-40B4-BE49-F238E27FC236}">
                <a16:creationId xmlns:a16="http://schemas.microsoft.com/office/drawing/2014/main" id="{F8B52D04-DFA8-C017-219C-DFFB9F23FD3C}"/>
              </a:ext>
            </a:extLst>
          </p:cNvPr>
          <p:cNvSpPr/>
          <p:nvPr/>
        </p:nvSpPr>
        <p:spPr>
          <a:xfrm>
            <a:off x="6975007" y="6035936"/>
            <a:ext cx="3070436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D899E542-BC09-B379-5D8C-565DEA826F26}"/>
              </a:ext>
            </a:extLst>
          </p:cNvPr>
          <p:cNvSpPr txBox="1"/>
          <p:nvPr/>
        </p:nvSpPr>
        <p:spPr>
          <a:xfrm>
            <a:off x="7177414" y="6234226"/>
            <a:ext cx="2868029" cy="2705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Cellule de fusion avec météo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8911FB78-DDC2-FDCF-59FA-B653783F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657225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657225"/>
            <a:ext cx="24764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WEATHER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942975"/>
            <a:ext cx="2476438" cy="12573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Collecte des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Données :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API Météo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533649"/>
            <a:ext cx="4248043" cy="923924"/>
          </a:xfrm>
          <a:prstGeom prst="roundRect">
            <a:avLst>
              <a:gd name="adj" fmla="val 20618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2568" y="2913061"/>
            <a:ext cx="92392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2771775"/>
            <a:ext cx="372418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42A5F5"/>
                </a:solidFill>
                <a:latin typeface="Montserrat"/>
              </a:rPr>
              <a:t>SOURCE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3047999"/>
            <a:ext cx="372418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Open-Meteo Historical Weather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743325"/>
            <a:ext cx="4248043" cy="742950"/>
          </a:xfrm>
          <a:prstGeom prst="roundRect">
            <a:avLst>
              <a:gd name="adj" fmla="val 20512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4852" y="39242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4029075"/>
            <a:ext cx="133346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28714" y="3886200"/>
            <a:ext cx="1381090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Sceaux, France</a:t>
            </a:r>
            <a:r>
              <a:rPr sz="1104"/>
              <a:t>
</a:t>
            </a:r>
            <a:r>
              <a:rPr sz="777" b="1">
                <a:solidFill>
                  <a:srgbClr val="757575"/>
                </a:solidFill>
                <a:latin typeface="Montserrat"/>
              </a:rPr>
              <a:t>Lat: 48.78° | Lon: 2.29°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" y="4724399"/>
            <a:ext cx="424804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78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VARIABLES RÉCUPÉRÉES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5038724"/>
            <a:ext cx="2066873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377" y="5267324"/>
            <a:ext cx="16" cy="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DB6AC"/>
                </a:solidFill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5162550"/>
            <a:ext cx="151443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Température (min/max/moyenne)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3151" y="5038724"/>
            <a:ext cx="2066873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5547" y="5267324"/>
            <a:ext cx="18" cy="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DB6AC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2240" y="5162550"/>
            <a:ext cx="149538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Précipitations journalières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" y="5772150"/>
            <a:ext cx="2066873" cy="438149"/>
          </a:xfrm>
          <a:prstGeom prst="roundRect">
            <a:avLst>
              <a:gd name="adj" fmla="val 3478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5915025"/>
            <a:ext cx="190495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0119" y="5895974"/>
            <a:ext cx="137156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Durée ensoleillement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43151" y="5772150"/>
            <a:ext cx="2066873" cy="438149"/>
          </a:xfrm>
          <a:prstGeom prst="roundRect">
            <a:avLst>
              <a:gd name="adj" fmla="val 3478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5547" y="5915025"/>
            <a:ext cx="190495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381290" y="5895974"/>
            <a:ext cx="88580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Durée du jour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4" name="Picture 2" descr="Open-Meteo 🌤🌍 (@open_meteo) / Posts / X">
            <a:extLst>
              <a:ext uri="{FF2B5EF4-FFF2-40B4-BE49-F238E27FC236}">
                <a16:creationId xmlns:a16="http://schemas.microsoft.com/office/drawing/2014/main" id="{2DB63649-7563-F96A-D5A8-F33273E2D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33" y="181000"/>
            <a:ext cx="1200133" cy="12001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Image 3072">
            <a:extLst>
              <a:ext uri="{FF2B5EF4-FFF2-40B4-BE49-F238E27FC236}">
                <a16:creationId xmlns:a16="http://schemas.microsoft.com/office/drawing/2014/main" id="{593D3060-9AFC-4565-7322-8409DF19E4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661" y="3570801"/>
            <a:ext cx="6242170" cy="1496173"/>
          </a:xfrm>
          <a:prstGeom prst="rect">
            <a:avLst/>
          </a:prstGeom>
        </p:spPr>
      </p:pic>
      <p:cxnSp>
        <p:nvCxnSpPr>
          <p:cNvPr id="3077" name="Connecteur droit avec flèche 3076">
            <a:extLst>
              <a:ext uri="{FF2B5EF4-FFF2-40B4-BE49-F238E27FC236}">
                <a16:creationId xmlns:a16="http://schemas.microsoft.com/office/drawing/2014/main" id="{253C6AC9-741B-4522-6042-3C217F033FA9}"/>
              </a:ext>
            </a:extLst>
          </p:cNvPr>
          <p:cNvCxnSpPr>
            <a:cxnSpLocks/>
          </p:cNvCxnSpPr>
          <p:nvPr/>
        </p:nvCxnSpPr>
        <p:spPr>
          <a:xfrm>
            <a:off x="10883900" y="2533649"/>
            <a:ext cx="838200" cy="9657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9AE5B237-281A-AC19-8471-37215F14179C}"/>
              </a:ext>
            </a:extLst>
          </p:cNvPr>
          <p:cNvSpPr/>
          <p:nvPr/>
        </p:nvSpPr>
        <p:spPr>
          <a:xfrm>
            <a:off x="9443801" y="1857165"/>
            <a:ext cx="2066873" cy="619124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68711281-28CE-42C4-298B-75938FE9AD9C}"/>
              </a:ext>
            </a:extLst>
          </p:cNvPr>
          <p:cNvSpPr txBox="1"/>
          <p:nvPr/>
        </p:nvSpPr>
        <p:spPr>
          <a:xfrm>
            <a:off x="9646208" y="2055455"/>
            <a:ext cx="1717073" cy="2705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 dirty="0">
                <a:solidFill>
                  <a:srgbClr val="424242"/>
                </a:solidFill>
                <a:latin typeface="Montserrat"/>
              </a:rPr>
              <a:t>Cellule de fusion</a:t>
            </a:r>
            <a:endParaRPr sz="1400" b="1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3079" name="Espace réservé du numéro de diapositive 3078">
            <a:extLst>
              <a:ext uri="{FF2B5EF4-FFF2-40B4-BE49-F238E27FC236}">
                <a16:creationId xmlns:a16="http://schemas.microsoft.com/office/drawing/2014/main" id="{A6C96BBB-CD57-DFCA-E0BA-CA85AF15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209550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209550"/>
            <a:ext cx="294315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495299"/>
            <a:ext cx="2943151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Nettoyage des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1666874"/>
            <a:ext cx="4248043" cy="2314575"/>
          </a:xfrm>
          <a:prstGeom prst="roundRect">
            <a:avLst>
              <a:gd name="adj" fmla="val 987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312757" y="2741611"/>
            <a:ext cx="23145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1704975"/>
            <a:ext cx="33336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dirty="0">
                <a:solidFill>
                  <a:srgbClr val="42A5F5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000250"/>
            <a:ext cx="37241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Suppression des valeurs manquantes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2371725"/>
            <a:ext cx="3724181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Élimination des lignes avec valeurs vides dans les colonnes numériques clés pour garantir la qualité des données.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723" y="3114675"/>
            <a:ext cx="3724181" cy="628650"/>
          </a:xfrm>
          <a:prstGeom prst="roundRect">
            <a:avLst>
              <a:gd name="adj" fmla="val 24242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7723" y="3114675"/>
            <a:ext cx="3724181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975"/>
              </a:spcBef>
              <a:spcAft>
                <a:spcPts val="0"/>
              </a:spcAft>
            </a:pPr>
            <a:r>
              <a:rPr sz="777" b="0">
                <a:solidFill>
                  <a:srgbClr val="E8E8E8"/>
                </a:solidFill>
                <a:latin typeface="Courier New"/>
              </a:rPr>
              <a:t> </a:t>
            </a:r>
            <a:r>
              <a:rPr sz="777" b="0">
                <a:solidFill>
                  <a:srgbClr val="42A5F5"/>
                </a:solidFill>
                <a:latin typeface="Courier New"/>
              </a:rPr>
              <a:t>df</a:t>
            </a:r>
            <a:r>
              <a:rPr sz="777" b="0">
                <a:solidFill>
                  <a:srgbClr val="E8E8E8"/>
                </a:solidFill>
                <a:latin typeface="Courier New"/>
              </a:rPr>
              <a:t>.dropna(subset=[</a:t>
            </a:r>
            <a:r>
              <a:rPr sz="777" b="0">
                <a:solidFill>
                  <a:srgbClr val="4DB6AC"/>
                </a:solidFill>
                <a:latin typeface="Courier New"/>
              </a:rPr>
              <a:t>'Global_active_power'</a:t>
            </a:r>
            <a:r>
              <a:rPr sz="777" b="0">
                <a:solidFill>
                  <a:srgbClr val="E8E8E8"/>
                </a:solidFill>
                <a:latin typeface="Courier New"/>
              </a:rPr>
              <a:t>, </a:t>
            </a:r>
            <a:r>
              <a:rPr sz="777" b="0">
                <a:solidFill>
                  <a:srgbClr val="4DB6AC"/>
                </a:solidFill>
                <a:latin typeface="Courier New"/>
              </a:rPr>
              <a:t>'Voltage'</a:t>
            </a:r>
            <a:r>
              <a:rPr sz="777" b="0">
                <a:solidFill>
                  <a:srgbClr val="E8E8E8"/>
                </a:solidFill>
                <a:latin typeface="Courier New"/>
              </a:rPr>
              <a:t>, </a:t>
            </a:r>
            <a:r>
              <a:rPr sz="777" b="0">
                <a:solidFill>
                  <a:srgbClr val="4DB6AC"/>
                </a:solidFill>
                <a:latin typeface="Courier New"/>
              </a:rPr>
              <a:t>'Current'</a:t>
            </a:r>
            <a:r>
              <a:rPr sz="777" b="0">
                <a:solidFill>
                  <a:srgbClr val="E8E8E8"/>
                </a:solidFill>
                <a:latin typeface="Courier New"/>
              </a:rPr>
              <a:t>])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0" y="4171950"/>
            <a:ext cx="4248043" cy="2295525"/>
          </a:xfrm>
          <a:prstGeom prst="roundRect">
            <a:avLst>
              <a:gd name="adj" fmla="val 995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303232" y="5237162"/>
            <a:ext cx="22955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7723" y="4244975"/>
            <a:ext cx="390515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dirty="0">
                <a:solidFill>
                  <a:srgbClr val="42A5F5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23" y="4505325"/>
            <a:ext cx="37241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Création de l'index temporel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" y="4876800"/>
            <a:ext cx="372418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Fusion des colonnes Date et Time en index datetime pour l'agrégation journalière et l'ordre chronologique.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723" y="5419725"/>
            <a:ext cx="3724181" cy="809625"/>
          </a:xfrm>
          <a:prstGeom prst="roundRect">
            <a:avLst>
              <a:gd name="adj" fmla="val 18823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7723" y="5419725"/>
            <a:ext cx="3724181" cy="809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975"/>
              </a:spcBef>
              <a:spcAft>
                <a:spcPts val="0"/>
              </a:spcAft>
            </a:pPr>
            <a:r>
              <a:rPr sz="777" b="0">
                <a:solidFill>
                  <a:srgbClr val="E8E8E8"/>
                </a:solidFill>
                <a:latin typeface="Courier New"/>
              </a:rPr>
              <a:t> df[</a:t>
            </a:r>
            <a:r>
              <a:rPr sz="777" b="0">
                <a:solidFill>
                  <a:srgbClr val="4DB6AC"/>
                </a:solidFill>
                <a:latin typeface="Courier New"/>
              </a:rPr>
              <a:t>'datetime'</a:t>
            </a:r>
            <a:r>
              <a:rPr sz="777" b="0">
                <a:solidFill>
                  <a:srgbClr val="E8E8E8"/>
                </a:solidFill>
                <a:latin typeface="Courier New"/>
              </a:rPr>
              <a:t>] = pd.to_datetime(df[</a:t>
            </a:r>
            <a:r>
              <a:rPr sz="777" b="0">
                <a:solidFill>
                  <a:srgbClr val="4DB6AC"/>
                </a:solidFill>
                <a:latin typeface="Courier New"/>
              </a:rPr>
              <a:t>'Date'</a:t>
            </a:r>
            <a:r>
              <a:rPr sz="777" b="0">
                <a:solidFill>
                  <a:srgbClr val="E8E8E8"/>
                </a:solidFill>
                <a:latin typeface="Courier New"/>
              </a:rPr>
              <a:t>] + </a:t>
            </a:r>
            <a:r>
              <a:rPr sz="777" b="0">
                <a:solidFill>
                  <a:srgbClr val="4DB6AC"/>
                </a:solidFill>
                <a:latin typeface="Courier New"/>
              </a:rPr>
              <a:t>' '</a:t>
            </a:r>
            <a:r>
              <a:rPr sz="777" b="0">
                <a:solidFill>
                  <a:srgbClr val="E8E8E8"/>
                </a:solidFill>
                <a:latin typeface="Courier New"/>
              </a:rPr>
              <a:t> + df[</a:t>
            </a:r>
            <a:r>
              <a:rPr sz="777" b="0">
                <a:solidFill>
                  <a:srgbClr val="4DB6AC"/>
                </a:solidFill>
                <a:latin typeface="Courier New"/>
              </a:rPr>
              <a:t>'Time'</a:t>
            </a:r>
            <a:r>
              <a:rPr sz="777" b="0">
                <a:solidFill>
                  <a:srgbClr val="E8E8E8"/>
                </a:solidFill>
                <a:latin typeface="Courier New"/>
              </a:rPr>
              <a:t>])</a:t>
            </a:r>
            <a:r>
              <a:rPr sz="1104"/>
              <a:t>
</a:t>
            </a:r>
            <a:r>
              <a:rPr sz="777" b="0">
                <a:solidFill>
                  <a:srgbClr val="E8E8E8"/>
                </a:solidFill>
                <a:latin typeface="Courier New"/>
              </a:rPr>
              <a:t> df.set_index(</a:t>
            </a:r>
            <a:r>
              <a:rPr sz="777" b="0">
                <a:solidFill>
                  <a:srgbClr val="4DB6AC"/>
                </a:solidFill>
                <a:latin typeface="Courier New"/>
              </a:rPr>
              <a:t>'datetime'</a:t>
            </a:r>
            <a:r>
              <a:rPr sz="777" b="0">
                <a:solidFill>
                  <a:srgbClr val="E8E8E8"/>
                </a:solidFill>
                <a:latin typeface="Courier New"/>
              </a:rPr>
              <a:t>, inplace=</a:t>
            </a:r>
            <a:r>
              <a:rPr sz="777" b="0">
                <a:solidFill>
                  <a:srgbClr val="FF9800"/>
                </a:solidFill>
                <a:latin typeface="Courier New"/>
              </a:rPr>
              <a:t>True</a:t>
            </a:r>
            <a:r>
              <a:rPr sz="777" b="0">
                <a:solidFill>
                  <a:srgbClr val="E8E8E8"/>
                </a:solidFill>
                <a:latin typeface="Courier New"/>
              </a:rPr>
              <a:t>)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3771" y="-952499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53036" y="1924049"/>
            <a:ext cx="4571885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91155" y="2114550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4026" y="2247899"/>
            <a:ext cx="18097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10264" y="2124075"/>
            <a:ext cx="34765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Données brutes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0264" y="2400300"/>
            <a:ext cx="34765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Mesures minute-level avec valeurs manquantes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36" y="2933699"/>
            <a:ext cx="4571885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91155" y="3124200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4501" y="3257550"/>
            <a:ext cx="209544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10264" y="3124200"/>
            <a:ext cx="34765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Nettoyage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0264" y="3400425"/>
            <a:ext cx="34765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Suppression lignes incomplètes + Index datetime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3036" y="3924299"/>
            <a:ext cx="4571885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791155" y="4114800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4501" y="4248150"/>
            <a:ext cx="209544" cy="2095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10264" y="4124324"/>
            <a:ext cx="347653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Données nettoyées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0264" y="4400550"/>
            <a:ext cx="347653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Prêtes pour agrégation et analyse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3F577BD7-ED2C-49D6-8EA0-25CFB3C7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942975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942975"/>
            <a:ext cx="218117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DATA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228725"/>
            <a:ext cx="2181170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Fusion des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Tableaux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400300"/>
            <a:ext cx="4248043" cy="1457325"/>
          </a:xfrm>
          <a:prstGeom prst="roundRect">
            <a:avLst>
              <a:gd name="adj" fmla="val 15686"/>
            </a:avLst>
          </a:prstGeom>
          <a:solidFill>
            <a:srgbClr val="F0F7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149" y="2657475"/>
            <a:ext cx="373370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1104"/>
              <a:t>  </a:t>
            </a:r>
            <a:r>
              <a:rPr sz="837" b="1">
                <a:solidFill>
                  <a:srgbClr val="42A5F5"/>
                </a:solidFill>
                <a:latin typeface="Montserrat"/>
              </a:rPr>
              <a:t> PROCESSUS DE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280035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A5F5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49" y="3000375"/>
            <a:ext cx="3733706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Montserrat"/>
              </a:rPr>
              <a:t> DataFrame consommation + DataFrame météo</a:t>
            </a:r>
            <a:r>
              <a:rPr sz="1104"/>
              <a:t>
</a:t>
            </a:r>
            <a:r>
              <a:rPr sz="837" b="0">
                <a:solidFill>
                  <a:srgbClr val="616161"/>
                </a:solidFill>
                <a:latin typeface="Montserrat"/>
              </a:rPr>
              <a:t> Jointure sur colonne </a:t>
            </a:r>
            <a:r>
              <a:rPr sz="837" b="1">
                <a:solidFill>
                  <a:srgbClr val="616161"/>
                </a:solidFill>
                <a:latin typeface="Montserrat"/>
              </a:rPr>
              <a:t>date</a:t>
            </a:r>
            <a:r>
              <a:rPr sz="837" b="0">
                <a:solidFill>
                  <a:srgbClr val="616161"/>
                </a:solidFill>
                <a:latin typeface="Montserrat"/>
              </a:rPr>
              <a:t> (how='left')</a:t>
            </a:r>
            <a:r>
              <a:rPr sz="1104"/>
              <a:t>
</a:t>
            </a:r>
            <a:r>
              <a:rPr sz="837" b="0">
                <a:solidFill>
                  <a:srgbClr val="616161"/>
                </a:solidFill>
                <a:latin typeface="Montserrat"/>
              </a:rPr>
              <a:t> Création du tableau fusionné complet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4095749"/>
            <a:ext cx="4248043" cy="8001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4276725"/>
            <a:ext cx="428614" cy="428625"/>
          </a:xfrm>
          <a:prstGeom prst="roundRect">
            <a:avLst>
              <a:gd name="adj" fmla="val 35555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773" y="4400550"/>
            <a:ext cx="18" cy="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C6BC0"/>
                </a:solidFill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12" y="4267199"/>
            <a:ext cx="33336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is_weekend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4533900"/>
            <a:ext cx="33336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Samedi ou dimanche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5010149"/>
            <a:ext cx="4248043" cy="8001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3426" y="5191125"/>
            <a:ext cx="428614" cy="428625"/>
          </a:xfrm>
          <a:prstGeom prst="roundRect">
            <a:avLst>
              <a:gd name="adj" fmla="val 35555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2971" y="5400675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F5350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5181599"/>
            <a:ext cx="33336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is_holiday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12" y="5448300"/>
            <a:ext cx="33336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Jour férié français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3771" y="-952499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53036" y="895350"/>
            <a:ext cx="4571885" cy="1047749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3531" y="1085850"/>
            <a:ext cx="41908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42A5F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777" b="1">
                <a:solidFill>
                  <a:srgbClr val="42A5F5"/>
                </a:solidFill>
                <a:latin typeface="Montserrat"/>
              </a:rPr>
              <a:t> Consommation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531" y="1114425"/>
            <a:ext cx="104772" cy="12382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743531" y="1390650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3531" y="1390650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2720" y="1390650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2720" y="1390650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energy_kwh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1435" y="1390650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1435" y="1390650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global_power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3036" y="2228850"/>
            <a:ext cx="4571885" cy="1047749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3531" y="2419349"/>
            <a:ext cx="41908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42A5F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777" b="1">
                <a:solidFill>
                  <a:srgbClr val="42A5F5"/>
                </a:solidFill>
                <a:latin typeface="Montserrat"/>
              </a:rPr>
              <a:t> Météo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3531" y="2447924"/>
            <a:ext cx="16" cy="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A5F5"/>
                </a:solidFill>
              </a:rPr>
              <a:t>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3531" y="2714625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3531" y="2714625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62720" y="2714625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2720" y="2714625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temp_mean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91435" y="2714625"/>
            <a:ext cx="1342991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91435" y="2714625"/>
            <a:ext cx="1342991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precipitation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4681" y="3552825"/>
            <a:ext cx="228594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91295" y="3886200"/>
            <a:ext cx="128584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B6AC"/>
                </a:solidFill>
                <a:latin typeface="Montserrat"/>
              </a:rPr>
              <a:t>how='left' ON 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3036" y="4276725"/>
            <a:ext cx="4571885" cy="1685925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FFFFFF"/>
              </a:gs>
              <a:gs pos="100000">
                <a:srgbClr val="F8F9FA"/>
              </a:gs>
            </a:gsLst>
            <a:lin ang="8100000" scaled="0"/>
          </a:gra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0204" y="4533900"/>
            <a:ext cx="405754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975"/>
              </a:spcAft>
            </a:pPr>
            <a:r>
              <a:rPr sz="1104"/>
              <a:t>  </a:t>
            </a:r>
            <a:r>
              <a:rPr sz="956" b="1">
                <a:solidFill>
                  <a:srgbClr val="212121"/>
                </a:solidFill>
                <a:latin typeface="Montserrat"/>
              </a:rPr>
              <a:t>Tableau Fusionné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0204" y="4562475"/>
            <a:ext cx="152396" cy="1524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810204" y="490537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10204" y="490537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12121"/>
                </a:solidFill>
                <a:latin typeface="Montserrat"/>
              </a:rPr>
              <a:t>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38879" y="4905375"/>
            <a:ext cx="971525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38879" y="4905375"/>
            <a:ext cx="97152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energy_kwh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6602" y="490537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86602" y="490537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temp_mean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15277" y="490537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15277" y="490537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is_weekend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10204" y="534352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10204" y="534352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is_holiday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38879" y="5343525"/>
            <a:ext cx="971525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38879" y="5343525"/>
            <a:ext cx="97152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precipitation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86602" y="534352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86602" y="534352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daylight_h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15277" y="5343525"/>
            <a:ext cx="952476" cy="361950"/>
          </a:xfrm>
          <a:prstGeom prst="roundRect">
            <a:avLst>
              <a:gd name="adj" fmla="val 31578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15277" y="5343525"/>
            <a:ext cx="952476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sunshine_h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63" name="Espace réservé du numéro de diapositive 62">
            <a:extLst>
              <a:ext uri="{FF2B5EF4-FFF2-40B4-BE49-F238E27FC236}">
                <a16:creationId xmlns:a16="http://schemas.microsoft.com/office/drawing/2014/main" id="{90D1DBAC-7B8E-B180-F6CF-646F300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761980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0990" y="38100"/>
            <a:ext cx="5333866" cy="3295650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3861" y="180975"/>
            <a:ext cx="504812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Consommation moyenne par tranche de température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1" y="476249"/>
            <a:ext cx="5048123" cy="24764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3861" y="3028950"/>
            <a:ext cx="5048123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Consommation en fonction de la température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990" y="3524250"/>
            <a:ext cx="5333866" cy="3295650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3861" y="3667124"/>
            <a:ext cx="504812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65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Consommation moyenne journalière par mois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861" y="3962399"/>
            <a:ext cx="5048123" cy="247649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861" y="6515100"/>
            <a:ext cx="5048123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Variation saisonnière de la consommation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7333" y="1209674"/>
            <a:ext cx="504812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390"/>
              </a:spcAft>
            </a:pPr>
            <a:r>
              <a:rPr sz="897" b="0">
                <a:solidFill>
                  <a:srgbClr val="4DB6AC"/>
                </a:solidFill>
                <a:latin typeface="Roboto Slab"/>
              </a:rPr>
              <a:t>HYPOTHESIS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3" y="1485900"/>
            <a:ext cx="5048123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12121"/>
                </a:solidFill>
                <a:latin typeface="Montserrat"/>
              </a:rPr>
              <a:t>Graphes pour valider</a:t>
            </a:r>
            <a:r>
              <a:rPr sz="1104"/>
              <a:t>
</a:t>
            </a:r>
            <a:r>
              <a:rPr sz="1913" b="1">
                <a:solidFill>
                  <a:srgbClr val="212121"/>
                </a:solidFill>
                <a:latin typeface="Montserrat"/>
              </a:rPr>
              <a:t>l'hypothèse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3" y="2724150"/>
            <a:ext cx="20" cy="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A5F5"/>
                </a:solidFill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125" y="2705099"/>
            <a:ext cx="474333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Consommation vs Température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125" y="2952750"/>
            <a:ext cx="4743331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Relation non linéaire : consommation forte en froid extrême et chaleur excessive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3" y="3486150"/>
            <a:ext cx="171445" cy="1904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3076" y="3467100"/>
            <a:ext cx="427661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Variation saisonnière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076" y="3724274"/>
            <a:ext cx="427661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Consommation élevée en hiver (déc, jan, nov), faible en été (juil, août)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3" y="4076699"/>
            <a:ext cx="190495" cy="1904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72125" y="4057650"/>
            <a:ext cx="437186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Pics de consommation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125" y="4305300"/>
            <a:ext cx="437186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Montserrat"/>
              </a:rPr>
              <a:t>Les jours de forte consommation sont souvent des week-ends en hiver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3" y="4686300"/>
            <a:ext cx="5048123" cy="962024"/>
          </a:xfrm>
          <a:prstGeom prst="roundRect">
            <a:avLst>
              <a:gd name="adj" fmla="val 15841"/>
            </a:avLst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252361" y="510127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76878" y="4886325"/>
            <a:ext cx="104772" cy="1333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323" y="4857750"/>
            <a:ext cx="198115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6F00"/>
                </a:solidFill>
                <a:latin typeface="Montserrat"/>
              </a:rPr>
              <a:t>Confirmation de l'hypothèse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878" y="5124449"/>
            <a:ext cx="4667133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La température n'est pas le seul critère : le calendrier (week-end, jour férié) et la saisonnalité influencent significativement la consommation.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1" name="Espace réservé du numéro de diapositive 30">
            <a:extLst>
              <a:ext uri="{FF2B5EF4-FFF2-40B4-BE49-F238E27FC236}">
                <a16:creationId xmlns:a16="http://schemas.microsoft.com/office/drawing/2014/main" id="{24E27699-99E9-AB2D-9C44-272C88E2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4662" y="123825"/>
            <a:ext cx="57148" cy="5619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3" y="186344"/>
            <a:ext cx="4248043" cy="4655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212121"/>
                </a:solidFill>
                <a:latin typeface="Montserrat"/>
              </a:rPr>
              <a:t>Choix de la</a:t>
            </a:r>
            <a:r>
              <a:rPr lang="fr-FR" sz="1104" b="1" dirty="0">
                <a:solidFill>
                  <a:srgbClr val="212121"/>
                </a:solidFill>
                <a:latin typeface="Montserrat"/>
              </a:rPr>
              <a:t> </a:t>
            </a:r>
            <a:r>
              <a:rPr sz="2392" b="1" dirty="0" err="1">
                <a:solidFill>
                  <a:srgbClr val="212121"/>
                </a:solidFill>
                <a:latin typeface="Montserrat"/>
              </a:rPr>
              <a:t>Régression</a:t>
            </a:r>
            <a:endParaRPr sz="2392" b="1" dirty="0">
              <a:solidFill>
                <a:srgbClr val="212121"/>
              </a:solidFill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3407" y="876301"/>
            <a:ext cx="4248043" cy="1800225"/>
          </a:xfrm>
          <a:prstGeom prst="roundRect">
            <a:avLst>
              <a:gd name="adj" fmla="val 12698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84155" y="1693863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9150" y="1114425"/>
            <a:ext cx="428614" cy="428625"/>
          </a:xfrm>
          <a:prstGeom prst="roundRect">
            <a:avLst>
              <a:gd name="adj" fmla="val 44444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447" y="1228725"/>
            <a:ext cx="190495" cy="1904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9150" y="1685925"/>
            <a:ext cx="37241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Relation Linéaire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50" y="2011614"/>
            <a:ext cx="3724181" cy="4535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616161"/>
                </a:solidFill>
                <a:latin typeface="Montserrat"/>
              </a:rPr>
              <a:t>Les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résultats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montrent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une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relation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linéaire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entre les variables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explicatives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et la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consommation</a:t>
            </a:r>
            <a:r>
              <a:rPr sz="1000" b="0" dirty="0">
                <a:solidFill>
                  <a:srgbClr val="616161"/>
                </a:solidFill>
                <a:latin typeface="Montserrat"/>
              </a:rPr>
              <a:t> </a:t>
            </a:r>
            <a:r>
              <a:rPr sz="1000" b="0" dirty="0" err="1">
                <a:solidFill>
                  <a:srgbClr val="616161"/>
                </a:solidFill>
                <a:latin typeface="Montserrat"/>
              </a:rPr>
              <a:t>cible</a:t>
            </a:r>
            <a:endParaRPr sz="1000" b="0" dirty="0">
              <a:solidFill>
                <a:srgbClr val="616161"/>
              </a:solidFill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3407" y="2867025"/>
            <a:ext cx="4248043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84155" y="3684587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9150" y="3105151"/>
            <a:ext cx="428614" cy="428625"/>
          </a:xfrm>
          <a:prstGeom prst="roundRect">
            <a:avLst>
              <a:gd name="adj" fmla="val 44444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022" y="3228976"/>
            <a:ext cx="142871" cy="190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9150" y="3676651"/>
            <a:ext cx="37241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Interprétabilité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50" y="4002339"/>
            <a:ext cx="3724181" cy="4535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Modèle simple et interprétable pour expliquer l'impact de chaque variable sur la consommation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407" y="4857750"/>
            <a:ext cx="4248043" cy="180022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84155" y="5675312"/>
            <a:ext cx="18002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9150" y="5095876"/>
            <a:ext cx="428614" cy="428625"/>
          </a:xfrm>
          <a:prstGeom prst="roundRect">
            <a:avLst>
              <a:gd name="adj" fmla="val 44444"/>
            </a:avLst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3447" y="5210176"/>
            <a:ext cx="190495" cy="190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50" y="5667376"/>
            <a:ext cx="37241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424242"/>
                </a:solidFill>
                <a:latin typeface="Montserrat"/>
              </a:rPr>
              <a:t>Efficacité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50" y="5993065"/>
            <a:ext cx="3724181" cy="4535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Approche efficace et éprouvée pour les tâches de prévision numérique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0813" y="1475925"/>
            <a:ext cx="1670586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520"/>
              </a:spcAft>
            </a:pPr>
            <a:r>
              <a:rPr sz="1000" b="1">
                <a:solidFill>
                  <a:srgbClr val="4DB6AC"/>
                </a:solidFill>
                <a:latin typeface="Montserrat"/>
              </a:rPr>
              <a:t>ALGORITHMES TESTÉS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1328" y="1759810"/>
            <a:ext cx="2829557" cy="3475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2121"/>
                </a:solidFill>
                <a:latin typeface="Montserrat"/>
              </a:rPr>
              <a:t>Trois Modèles de Régression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2500" y="2505074"/>
            <a:ext cx="1695407" cy="195262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ounded Rectangle 27"/>
          <p:cNvSpPr/>
          <p:nvPr/>
        </p:nvSpPr>
        <p:spPr>
          <a:xfrm>
            <a:off x="6524461" y="2743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7808" y="2895600"/>
            <a:ext cx="304792" cy="2666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22575" y="3428549"/>
            <a:ext cx="1175258" cy="2771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1000" b="1">
                <a:solidFill>
                  <a:srgbClr val="212121"/>
                </a:solidFill>
                <a:latin typeface="Montserrat"/>
              </a:rPr>
              <a:t>Random Forest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8403" y="2505074"/>
            <a:ext cx="1695407" cy="195262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ounded Rectangle 33"/>
          <p:cNvSpPr/>
          <p:nvPr/>
        </p:nvSpPr>
        <p:spPr>
          <a:xfrm>
            <a:off x="8410364" y="2743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3711" y="2895600"/>
            <a:ext cx="304792" cy="2666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38899" y="3443556"/>
            <a:ext cx="1314417" cy="4566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1000" b="1">
                <a:solidFill>
                  <a:srgbClr val="212121"/>
                </a:solidFill>
                <a:latin typeface="Montserrat"/>
              </a:rPr>
              <a:t>Gradient Boosting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4306" y="2505074"/>
            <a:ext cx="1695407" cy="195262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ounded Rectangle 39"/>
          <p:cNvSpPr/>
          <p:nvPr/>
        </p:nvSpPr>
        <p:spPr>
          <a:xfrm>
            <a:off x="10296267" y="2743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67713" y="2895600"/>
            <a:ext cx="238119" cy="2666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24801" y="3445127"/>
            <a:ext cx="1314417" cy="4535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1000" b="1">
                <a:solidFill>
                  <a:srgbClr val="212121"/>
                </a:solidFill>
                <a:latin typeface="Montserrat"/>
              </a:rPr>
              <a:t>Régression Linéaire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62500" y="4686300"/>
            <a:ext cx="5467213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699928" y="4948872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6191095" y="4805625"/>
            <a:ext cx="5048123" cy="4185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 </a:t>
            </a:r>
            <a:r>
              <a:t>  </a:t>
            </a:r>
            <a:r>
              <a:rPr sz="1050" b="0">
                <a:solidFill>
                  <a:srgbClr val="616161"/>
                </a:solidFill>
                <a:latin typeface="Montserrat"/>
              </a:rPr>
              <a:t> Tous les modèles sont adaptés aux problèmes de régression et permettent de prédire une valeur continue (consommation en kWh)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1095" y="4857750"/>
            <a:ext cx="123821" cy="123824"/>
          </a:xfrm>
          <a:prstGeom prst="rect">
            <a:avLst/>
          </a:prstGeom>
        </p:spPr>
      </p:pic>
      <p:sp>
        <p:nvSpPr>
          <p:cNvPr id="51" name="Espace réservé du numéro de diapositive 50">
            <a:extLst>
              <a:ext uri="{FF2B5EF4-FFF2-40B4-BE49-F238E27FC236}">
                <a16:creationId xmlns:a16="http://schemas.microsoft.com/office/drawing/2014/main" id="{A828EBF3-2E7A-EC50-0BC4-CD0E63CC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52476" y="-952499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8EAF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34266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1980" y="476249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7248" y="476249"/>
            <a:ext cx="531481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0">
                <a:solidFill>
                  <a:srgbClr val="4DB6AC"/>
                </a:solidFill>
                <a:latin typeface="Roboto Slab"/>
              </a:rPr>
              <a:t>PROPOSED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48" y="781050"/>
            <a:ext cx="531481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31" b="1">
                <a:solidFill>
                  <a:srgbClr val="212121"/>
                </a:solidFill>
                <a:latin typeface="Montserrat"/>
              </a:rPr>
              <a:t>3 Algorithmes proposés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7673" y="981074"/>
            <a:ext cx="133346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77218" y="971550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85" y="1523999"/>
            <a:ext cx="3495587" cy="4857750"/>
          </a:xfrm>
          <a:prstGeom prst="roundRect">
            <a:avLst>
              <a:gd name="adj" fmla="val 8719"/>
            </a:avLst>
          </a:prstGeom>
          <a:solidFill>
            <a:srgbClr val="F8F9FA"/>
          </a:solidFill>
          <a:ln w="4953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04" y="18668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" y="2047874"/>
            <a:ext cx="266693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04" y="2724150"/>
            <a:ext cx="301934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212121"/>
                </a:solidFill>
                <a:latin typeface="Montserrat"/>
              </a:rPr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604" y="3124200"/>
            <a:ext cx="3019349" cy="847724"/>
          </a:xfrm>
          <a:prstGeom prst="roundRect">
            <a:avLst>
              <a:gd name="adj" fmla="val 179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51782" y="3482022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575" y="3267075"/>
            <a:ext cx="2695507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Méthode d'ensemble construisant plusieurs arbres de décision et les combinant par vote ou moyennage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04" y="4105274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Robuste au surapprentissage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4143375"/>
            <a:ext cx="95247" cy="95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604" y="4391025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Gère les relations non linéaires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4429125"/>
            <a:ext cx="95247" cy="952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9604" y="4667249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Haute performance par défaut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4705350"/>
            <a:ext cx="95247" cy="9524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352816" y="1523999"/>
            <a:ext cx="3495587" cy="4857750"/>
          </a:xfrm>
          <a:prstGeom prst="roundRect">
            <a:avLst>
              <a:gd name="adj" fmla="val 8719"/>
            </a:avLst>
          </a:prstGeom>
          <a:solidFill>
            <a:srgbClr val="F8F9FA"/>
          </a:solidFill>
          <a:ln w="4953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90935" y="18668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856" y="2047874"/>
            <a:ext cx="342891" cy="30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90935" y="2724150"/>
            <a:ext cx="301934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212121"/>
                </a:solidFill>
                <a:latin typeface="Montserrat"/>
              </a:rPr>
              <a:t>Gradient Boosting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935" y="3124200"/>
            <a:ext cx="3019349" cy="847724"/>
          </a:xfrm>
          <a:prstGeom prst="roundRect">
            <a:avLst>
              <a:gd name="adj" fmla="val 179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233113" y="3482022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1905" y="3267075"/>
            <a:ext cx="2695507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Méthode séquentielle construisant des arbres un par un, chaque modèle corrigeant les erreurs du précédent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935" y="4105274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Modèle puissant et régularisable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0935" y="4143375"/>
            <a:ext cx="95247" cy="952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90935" y="4391025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Contrôle du taux d'apprentissage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0935" y="4429125"/>
            <a:ext cx="95247" cy="952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90935" y="4667249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Early stopping intégré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0935" y="4705350"/>
            <a:ext cx="95247" cy="9524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124621" y="1523999"/>
            <a:ext cx="3495587" cy="4857750"/>
          </a:xfrm>
          <a:prstGeom prst="roundRect">
            <a:avLst>
              <a:gd name="adj" fmla="val 8719"/>
            </a:avLst>
          </a:prstGeom>
          <a:solidFill>
            <a:srgbClr val="F8F9FA"/>
          </a:solidFill>
          <a:ln w="4953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62740" y="18668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43711" y="2047874"/>
            <a:ext cx="304792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62740" y="2724150"/>
            <a:ext cx="301934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212121"/>
                </a:solidFill>
                <a:latin typeface="Montserrat"/>
              </a:rPr>
              <a:t>Régression Linéaire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2740" y="3124200"/>
            <a:ext cx="3019349" cy="847724"/>
          </a:xfrm>
          <a:prstGeom prst="roundRect">
            <a:avLst>
              <a:gd name="adj" fmla="val 179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8004918" y="3482022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3711" y="3267075"/>
            <a:ext cx="2695507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Modèle linéaire simple supposant une relation linéaire entre les variables explicatives et la cible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2740" y="4105274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Simple et interprétable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2740" y="4143375"/>
            <a:ext cx="95247" cy="9524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62740" y="4391025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Estimation par moindres carrés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2740" y="4429125"/>
            <a:ext cx="95247" cy="9524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62740" y="4667249"/>
            <a:ext cx="3019349" cy="19049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757575"/>
                </a:solidFill>
                <a:latin typeface="Montserrat"/>
              </a:rPr>
              <a:t> Limité pour données non linéaires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2740" y="4705350"/>
            <a:ext cx="95247" cy="95249"/>
          </a:xfrm>
          <a:prstGeom prst="rect">
            <a:avLst/>
          </a:prstGeom>
        </p:spPr>
      </p:pic>
      <p:sp>
        <p:nvSpPr>
          <p:cNvPr id="48" name="Espace réservé du numéro de diapositive 47">
            <a:extLst>
              <a:ext uri="{FF2B5EF4-FFF2-40B4-BE49-F238E27FC236}">
                <a16:creationId xmlns:a16="http://schemas.microsoft.com/office/drawing/2014/main" id="{CFFC1506-1847-6209-F577-98BB966B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1200150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1200150"/>
            <a:ext cx="321936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FIRST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485900"/>
            <a:ext cx="3219369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Random Forest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Premier Modèle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657475"/>
            <a:ext cx="4248043" cy="1924049"/>
          </a:xfrm>
          <a:prstGeom prst="roundRect">
            <a:avLst>
              <a:gd name="adj" fmla="val 11881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17494" y="3536949"/>
            <a:ext cx="19240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933699"/>
            <a:ext cx="123821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66793" y="2895600"/>
            <a:ext cx="120964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A5F5"/>
                </a:solidFill>
                <a:latin typeface="Montserrat"/>
              </a:rPr>
              <a:t>Variables brutes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7723" y="3314700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1070" y="3248024"/>
            <a:ext cx="157158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temp_min/max/moyenne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725" y="3314700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5072" y="3248024"/>
            <a:ext cx="113344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précipitation_sum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3619499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1070" y="3552825"/>
            <a:ext cx="9239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daylight_hours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725" y="3619499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5072" y="3552825"/>
            <a:ext cx="115249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sunshine_duration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7723" y="3914775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1070" y="3848099"/>
            <a:ext cx="8381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jour_semaine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725" y="3914775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5072" y="3848099"/>
            <a:ext cx="72388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is_weekend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7723" y="4210049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1070" y="4152899"/>
            <a:ext cx="6095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is_holiday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725" y="4210049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5072" y="4152899"/>
            <a:ext cx="30479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980" y="4762500"/>
            <a:ext cx="4248043" cy="895350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165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476" y="5124449"/>
            <a:ext cx="17049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Découpage chronologique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279" y="4952999"/>
            <a:ext cx="51433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Montserrat"/>
              </a:rPr>
              <a:t>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0279" y="5295899"/>
            <a:ext cx="51433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E9E9E"/>
                </a:solidFill>
                <a:latin typeface="Montserrat"/>
              </a:rPr>
              <a:t>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112" y="4952999"/>
            <a:ext cx="49528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Montserrat"/>
              </a:rPr>
              <a:t>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5112" y="5295899"/>
            <a:ext cx="49528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E9E9E"/>
                </a:solidFill>
                <a:latin typeface="Montserrat"/>
              </a:rPr>
              <a:t>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500" y="1857375"/>
            <a:ext cx="142871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00619" y="1819275"/>
            <a:ext cx="154301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Résultats du modèle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62500" y="2276474"/>
            <a:ext cx="2638359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02125" y="2736849"/>
            <a:ext cx="10858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8243" y="2514600"/>
            <a:ext cx="211449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65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R²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243" y="2781300"/>
            <a:ext cx="21144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EF5350"/>
                </a:solidFill>
                <a:latin typeface="Montserrat"/>
              </a:rPr>
              <a:t>0.23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91355" y="2276474"/>
            <a:ext cx="2638359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8330980" y="2736849"/>
            <a:ext cx="10858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77098" y="2514600"/>
            <a:ext cx="211449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65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RMSE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098" y="2781300"/>
            <a:ext cx="2114497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EF5350"/>
                </a:solidFill>
                <a:latin typeface="Montserrat"/>
              </a:rPr>
              <a:t>7.31</a:t>
            </a:r>
            <a:r>
              <a:rPr sz="83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2500" y="3648074"/>
            <a:ext cx="5467213" cy="1390650"/>
          </a:xfrm>
          <a:prstGeom prst="roundRect">
            <a:avLst>
              <a:gd name="adj" fmla="val 16438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349725" y="4260849"/>
            <a:ext cx="13906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8243" y="3952874"/>
            <a:ext cx="266693" cy="26669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48243" y="4400550"/>
            <a:ext cx="4943351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Montserrat"/>
              </a:rPr>
              <a:t>Prédiction non satisfaisante. Le modèle nécessite des améliorations significatives avec de nouvelles variables et du nettoyage.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50" name="Espace réservé du numéro de diapositive 49">
            <a:extLst>
              <a:ext uri="{FF2B5EF4-FFF2-40B4-BE49-F238E27FC236}">
                <a16:creationId xmlns:a16="http://schemas.microsoft.com/office/drawing/2014/main" id="{9AD82590-7F95-0E90-950B-5E8931F0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447675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447675"/>
            <a:ext cx="30955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DEGREES-JOURS UNIFIÉS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733424"/>
            <a:ext cx="3095547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Random Forest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Calcul de DJU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1904999"/>
            <a:ext cx="4248043" cy="2257425"/>
          </a:xfrm>
          <a:prstGeom prst="roundRect">
            <a:avLst>
              <a:gd name="adj" fmla="val 10126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84182" y="2951161"/>
            <a:ext cx="22574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2181225"/>
            <a:ext cx="15" cy="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4242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42" y="2143125"/>
            <a:ext cx="291457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Relation Température - Consommation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7723" y="2505074"/>
            <a:ext cx="333366" cy="333375"/>
          </a:xfrm>
          <a:prstGeom prst="roundRect">
            <a:avLst>
              <a:gd name="adj" fmla="val 4571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1" y="2590799"/>
            <a:ext cx="133346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95387" y="2505074"/>
            <a:ext cx="3276518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Montserrat"/>
              </a:rPr>
              <a:t> </a:t>
            </a:r>
            <a:r>
              <a:rPr sz="837" b="1">
                <a:solidFill>
                  <a:srgbClr val="616161"/>
                </a:solidFill>
                <a:latin typeface="Montserrat"/>
              </a:rPr>
              <a:t>Froid extrême (-2°C) :</a:t>
            </a:r>
            <a:r>
              <a:rPr sz="837" b="0">
                <a:solidFill>
                  <a:srgbClr val="616161"/>
                </a:solidFill>
                <a:latin typeface="Montserrat"/>
              </a:rPr>
              <a:t> Chauffage augmente fortement la consommation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7723" y="2990849"/>
            <a:ext cx="333366" cy="333375"/>
          </a:xfrm>
          <a:prstGeom prst="roundRect">
            <a:avLst>
              <a:gd name="adj" fmla="val 45714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971" y="3076574"/>
            <a:ext cx="152396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95387" y="2990849"/>
            <a:ext cx="3276518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Montserrat"/>
              </a:rPr>
              <a:t> </a:t>
            </a:r>
            <a:r>
              <a:rPr sz="837" b="1">
                <a:solidFill>
                  <a:srgbClr val="616161"/>
                </a:solidFill>
                <a:latin typeface="Montserrat"/>
              </a:rPr>
              <a:t>Chaleur extrême (30°C) :</a:t>
            </a:r>
            <a:r>
              <a:rPr sz="837" b="0">
                <a:solidFill>
                  <a:srgbClr val="616161"/>
                </a:solidFill>
                <a:latin typeface="Montserrat"/>
              </a:rPr>
              <a:t> Climatisation augmente la consommation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723" y="3476624"/>
            <a:ext cx="333366" cy="333375"/>
          </a:xfrm>
          <a:prstGeom prst="roundRect">
            <a:avLst>
              <a:gd name="adj" fmla="val 45714"/>
            </a:avLst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2020" y="3571875"/>
            <a:ext cx="95247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95387" y="3476624"/>
            <a:ext cx="29812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Montserrat"/>
              </a:rPr>
              <a:t> </a:t>
            </a:r>
            <a:r>
              <a:rPr sz="837" b="1">
                <a:solidFill>
                  <a:srgbClr val="616161"/>
                </a:solidFill>
                <a:latin typeface="Montserrat"/>
              </a:rPr>
              <a:t>Zone de confort :</a:t>
            </a:r>
            <a:r>
              <a:rPr sz="837" b="0">
                <a:solidFill>
                  <a:srgbClr val="616161"/>
                </a:solidFill>
                <a:latin typeface="Montserrat"/>
              </a:rPr>
              <a:t> Consommation plus faible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980" y="4352924"/>
            <a:ext cx="4248043" cy="20574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42A5F5"/>
              </a:gs>
              <a:gs pos="100000">
                <a:srgbClr val="1E88E5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0099" y="4629150"/>
            <a:ext cx="114297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9644" y="4591050"/>
            <a:ext cx="21335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Degrés-Jours Unifiés (DJU)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099" y="4933950"/>
            <a:ext cx="3771805" cy="600075"/>
          </a:xfrm>
          <a:prstGeom prst="roundRect">
            <a:avLst>
              <a:gd name="adj" fmla="val 25396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0099" y="4933950"/>
            <a:ext cx="3771805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FFFFF"/>
                </a:solidFill>
                <a:latin typeface="Roboto Slab"/>
              </a:rPr>
              <a:t> DJU = max(0, 18 - T</a:t>
            </a:r>
            <a:r>
              <a:rPr sz="956" b="1">
                <a:solidFill>
                  <a:srgbClr val="FFFFFF"/>
                </a:solidFill>
                <a:latin typeface="Roboto Slab"/>
              </a:rPr>
              <a:t>moyenne</a:t>
            </a:r>
            <a:r>
              <a:rPr sz="1315" b="1">
                <a:solidFill>
                  <a:srgbClr val="FFFFFF"/>
                </a:solidFill>
                <a:latin typeface="Roboto Slab"/>
              </a:rPr>
              <a:t>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99" y="5648325"/>
            <a:ext cx="3771805" cy="5238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FFFFFF"/>
                </a:solidFill>
                <a:latin typeface="Montserrat"/>
              </a:rPr>
              <a:t> Seuil de confort : </a:t>
            </a:r>
            <a:r>
              <a:rPr sz="777" b="1">
                <a:solidFill>
                  <a:srgbClr val="FFFFFF"/>
                </a:solidFill>
                <a:latin typeface="Montserrat"/>
              </a:rPr>
              <a:t>18°C</a:t>
            </a:r>
            <a:r>
              <a:rPr sz="1104"/>
              <a:t>
</a:t>
            </a:r>
            <a:r>
              <a:rPr sz="777" b="0">
                <a:solidFill>
                  <a:srgbClr val="FFFFFF"/>
                </a:solidFill>
                <a:latin typeface="Montserrat"/>
              </a:rPr>
              <a:t> Relation approximativement linéaire avec la consommation de chauffage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62500" y="1428750"/>
            <a:ext cx="5467213" cy="40005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8243" y="1714500"/>
            <a:ext cx="3076498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12121"/>
                </a:solidFill>
                <a:latin typeface="Montserrat"/>
              </a:rPr>
              <a:t>Courbe en U : Température vs Consommation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4741" y="1933574"/>
            <a:ext cx="76198" cy="7620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58088" y="1885950"/>
            <a:ext cx="89532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Consommation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96287" y="1933574"/>
            <a:ext cx="47623" cy="76200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1059" y="1800225"/>
            <a:ext cx="54291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Zone optimale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6" name="Espace réservé du numéro de diapositive 35">
            <a:extLst>
              <a:ext uri="{FF2B5EF4-FFF2-40B4-BE49-F238E27FC236}">
                <a16:creationId xmlns:a16="http://schemas.microsoft.com/office/drawing/2014/main" id="{F2690F59-D028-AF84-5068-D04A2F56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1257300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1257300"/>
            <a:ext cx="132394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LAG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543050"/>
            <a:ext cx="1323941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Lag-1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305049"/>
            <a:ext cx="4248043" cy="1438274"/>
          </a:xfrm>
          <a:prstGeom prst="roundRect">
            <a:avLst>
              <a:gd name="adj" fmla="val 15894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25393" y="2941636"/>
            <a:ext cx="14382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23" y="2581275"/>
            <a:ext cx="13" cy="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2A5F5"/>
                </a:solidFill>
              </a:rP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793" y="2552700"/>
            <a:ext cx="156206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A5F5"/>
                </a:solidFill>
                <a:latin typeface="Montserrat"/>
              </a:rPr>
              <a:t>Variable de décalage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7723" y="2971800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9169" y="2905124"/>
            <a:ext cx="329556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 </a:t>
            </a:r>
            <a:r>
              <a:rPr sz="777" b="1">
                <a:solidFill>
                  <a:srgbClr val="424242"/>
                </a:solidFill>
                <a:latin typeface="Montserrat"/>
              </a:rPr>
              <a:t>energy_kwh_lag1</a:t>
            </a:r>
            <a:r>
              <a:rPr sz="777" b="0">
                <a:solidFill>
                  <a:srgbClr val="616161"/>
                </a:solidFill>
                <a:latin typeface="Montserrat"/>
              </a:rPr>
              <a:t> : Consommation du jour précédent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7723" y="3276599"/>
            <a:ext cx="57148" cy="571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9169" y="3200400"/>
            <a:ext cx="255263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Suppression des lignes sans valeur de 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3933824"/>
            <a:ext cx="4248043" cy="1666874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65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4171950"/>
            <a:ext cx="133346" cy="1333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0119" y="4143375"/>
            <a:ext cx="191447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Encodage cyclique du mois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525" y="4486275"/>
            <a:ext cx="1847803" cy="638175"/>
          </a:xfrm>
          <a:prstGeom prst="roundRect">
            <a:avLst>
              <a:gd name="adj" fmla="val 2388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5822" y="4600575"/>
            <a:ext cx="161920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25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sin_mois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22" y="4838699"/>
            <a:ext cx="161920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Composante sinusoïdale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2676" y="4486275"/>
            <a:ext cx="1847803" cy="638175"/>
          </a:xfrm>
          <a:prstGeom prst="roundRect">
            <a:avLst>
              <a:gd name="adj" fmla="val 2388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6973" y="4600575"/>
            <a:ext cx="161920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25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cos_mois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6973" y="4838699"/>
            <a:ext cx="161920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Composante cosinus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25" y="5219700"/>
            <a:ext cx="3828954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→ Décembre et janvier sont proches dans l'espace cyclique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62500" y="809625"/>
            <a:ext cx="5467213" cy="3809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8243" y="12192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212121"/>
                </a:solidFill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3491" y="1095374"/>
            <a:ext cx="202877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12121"/>
                </a:solidFill>
                <a:latin typeface="Montserrat"/>
              </a:rPr>
              <a:t>Relation Réel vs Prédit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62500" y="4857750"/>
            <a:ext cx="5467213" cy="1190625"/>
          </a:xfrm>
          <a:prstGeom prst="roundRect">
            <a:avLst>
              <a:gd name="adj" fmla="val 192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449738" y="5370512"/>
            <a:ext cx="11906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0619" y="5095874"/>
            <a:ext cx="228594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00619" y="5486400"/>
            <a:ext cx="503859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 </a:t>
            </a:r>
            <a:r>
              <a:rPr sz="777" b="1">
                <a:solidFill>
                  <a:srgbClr val="616161"/>
                </a:solidFill>
                <a:latin typeface="Montserrat"/>
              </a:rPr>
              <a:t>Résultats limités :</a:t>
            </a:r>
            <a:r>
              <a:rPr sz="777" b="0">
                <a:solidFill>
                  <a:srgbClr val="616161"/>
                </a:solidFill>
                <a:latin typeface="Montserrat"/>
              </a:rPr>
              <a:t> Relation non purement linéaire. Autres facteurs ou valeurs atypiques influencent les prédictions.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6" name="Espace réservé du numéro de diapositive 35">
            <a:extLst>
              <a:ext uri="{FF2B5EF4-FFF2-40B4-BE49-F238E27FC236}">
                <a16:creationId xmlns:a16="http://schemas.microsoft.com/office/drawing/2014/main" id="{72A4C754-8DE1-E233-3F19-A2321FC4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432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33" y="895350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377" y="895350"/>
            <a:ext cx="374323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181099"/>
            <a:ext cx="3743231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Montserrat"/>
              </a:rPr>
              <a:t>Filtrage et</a:t>
            </a:r>
            <a:r>
              <a:rPr sz="1104"/>
              <a:t>
</a:t>
            </a:r>
            <a:r>
              <a:rPr sz="2272" b="1">
                <a:solidFill>
                  <a:srgbClr val="212121"/>
                </a:solidFill>
                <a:latin typeface="Montserrat"/>
              </a:rPr>
              <a:t>Choix Automatique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57425"/>
            <a:ext cx="4076598" cy="1581149"/>
          </a:xfrm>
          <a:prstGeom prst="roundRect">
            <a:avLst>
              <a:gd name="adj" fmla="val 14457"/>
            </a:avLst>
          </a:prstGeom>
          <a:gradFill rotWithShape="1">
            <a:gsLst>
              <a:gs pos="0">
                <a:srgbClr val="F0F7FF"/>
              </a:gs>
              <a:gs pos="100000">
                <a:srgbClr val="E3F2FD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41291" y="2965449"/>
            <a:ext cx="15811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2486025"/>
            <a:ext cx="133346" cy="133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397" y="2447924"/>
            <a:ext cx="193352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A5F5"/>
                </a:solidFill>
                <a:latin typeface="Montserrat"/>
              </a:rPr>
              <a:t>Filtrage des jours atypiques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2762249"/>
            <a:ext cx="3647983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7723" y="2905124"/>
            <a:ext cx="166683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" y="3343275"/>
            <a:ext cx="1666833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Montserrat"/>
              </a:rPr>
              <a:t>Min kWh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4557" y="3038475"/>
            <a:ext cx="19049" cy="33337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3606" y="2905124"/>
            <a:ext cx="166683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Montserrat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3606" y="3343275"/>
            <a:ext cx="1666833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Montserrat"/>
              </a:rPr>
              <a:t>Max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029075"/>
            <a:ext cx="4076598" cy="1943100"/>
          </a:xfrm>
          <a:prstGeom prst="roundRect">
            <a:avLst>
              <a:gd name="adj" fmla="val 11764"/>
            </a:avLst>
          </a:prstGeom>
          <a:solidFill>
            <a:srgbClr val="F8F9FA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03" y="4238624"/>
            <a:ext cx="123821" cy="1238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7723" y="4210049"/>
            <a:ext cx="211449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Importance des variables (Top 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703" y="45053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16258" y="46367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575" y="4610099"/>
            <a:ext cx="1247743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lag1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4517" y="4600575"/>
            <a:ext cx="228594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52656" y="45053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2621211" y="46367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5527" y="4610099"/>
            <a:ext cx="121916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daylight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1370" y="4600575"/>
            <a:ext cx="25716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703" y="49625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16258" y="50939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0575" y="5067299"/>
            <a:ext cx="121916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temp_min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5942" y="5057775"/>
            <a:ext cx="25716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52656" y="49625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2621211" y="50939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95527" y="5067299"/>
            <a:ext cx="121916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sunshine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1370" y="5057775"/>
            <a:ext cx="25716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0.06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703" y="54197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16258" y="55511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0575" y="5524499"/>
            <a:ext cx="121916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temp_max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5942" y="5514975"/>
            <a:ext cx="25716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2656" y="5419725"/>
            <a:ext cx="1809704" cy="36195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2621211" y="5551170"/>
            <a:ext cx="361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5527" y="5524499"/>
            <a:ext cx="121916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24242"/>
                </a:solidFill>
                <a:latin typeface="Montserrat"/>
              </a:rPr>
              <a:t>DJU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0895" y="5514975"/>
            <a:ext cx="25716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2A5F5"/>
                </a:solidFill>
                <a:latin typeface="Montserrat"/>
              </a:rPr>
              <a:t>0.05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4321" y="0"/>
            <a:ext cx="7067373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600559" y="2114550"/>
            <a:ext cx="1847803" cy="1495424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38739" y="2400300"/>
            <a:ext cx="17144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1">
                <a:solidFill>
                  <a:srgbClr val="757575"/>
                </a:solidFill>
                <a:latin typeface="Montserrat"/>
              </a:rPr>
              <a:t>R²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24401" y="2743200"/>
            <a:ext cx="12001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42A5F5"/>
                </a:solidFill>
                <a:latin typeface="Montserrat"/>
              </a:rPr>
              <a:t>0.664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3966" y="3143250"/>
            <a:ext cx="41908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9E9E9E"/>
                </a:solidFill>
                <a:latin typeface="Montserrat"/>
              </a:rPr>
              <a:t>score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8859" y="2114550"/>
            <a:ext cx="1847803" cy="1495424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43691" y="2400300"/>
            <a:ext cx="43813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1">
                <a:solidFill>
                  <a:srgbClr val="757575"/>
                </a:solidFill>
                <a:latin typeface="Montserrat"/>
              </a:rPr>
              <a:t>RMSE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7473" y="2743200"/>
            <a:ext cx="981050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42A5F5"/>
                </a:solidFill>
                <a:latin typeface="Montserrat"/>
              </a:rPr>
              <a:t>4.1</a:t>
            </a:r>
            <a:r>
              <a:rPr sz="956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77158" y="2114550"/>
            <a:ext cx="1847803" cy="1495424"/>
          </a:xfrm>
          <a:prstGeom prst="roundRect">
            <a:avLst>
              <a:gd name="adj" fmla="val 20382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29614" y="2400300"/>
            <a:ext cx="34289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1">
                <a:solidFill>
                  <a:srgbClr val="757575"/>
                </a:solidFill>
                <a:latin typeface="Montserrat"/>
              </a:rPr>
              <a:t>MAE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91475" y="2743200"/>
            <a:ext cx="1209644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42A5F5"/>
                </a:solidFill>
                <a:latin typeface="Montserrat"/>
              </a:rPr>
              <a:t>3.18</a:t>
            </a:r>
            <a:r>
              <a:rPr sz="956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00559" y="3905249"/>
            <a:ext cx="5924401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43A047"/>
              </a:gs>
              <a:gs pos="100000">
                <a:srgbClr val="66BB6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5791055" y="4152899"/>
            <a:ext cx="342891" cy="304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276818" y="4114800"/>
            <a:ext cx="505764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FFFFFF"/>
                </a:solidFill>
                <a:latin typeface="Montserrat"/>
              </a:rPr>
              <a:t>Performance significativement améliorée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6818" y="4371975"/>
            <a:ext cx="5057648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Montserrat"/>
              </a:rPr>
              <a:t>R² a augmenté de 0.23 à 0.664. RMSE réduit de 7.31 à 4.1 kWh.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67673" y="6362700"/>
            <a:ext cx="133346" cy="152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277218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61" name="Espace réservé du numéro de diapositive 60">
            <a:extLst>
              <a:ext uri="{FF2B5EF4-FFF2-40B4-BE49-F238E27FC236}">
                <a16:creationId xmlns:a16="http://schemas.microsoft.com/office/drawing/2014/main" id="{8954726B-1C9F-640F-3D69-6476F84E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447675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447675"/>
            <a:ext cx="32098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733424"/>
            <a:ext cx="3209844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GBoost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avec les valeurs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1904999"/>
            <a:ext cx="4248043" cy="1438274"/>
          </a:xfrm>
          <a:prstGeom prst="roundRect">
            <a:avLst>
              <a:gd name="adj" fmla="val 1589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25393" y="2541586"/>
            <a:ext cx="14382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181225"/>
            <a:ext cx="161920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04892" y="2143125"/>
            <a:ext cx="158111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DB6AC"/>
                </a:solidFill>
                <a:latin typeface="Montserrat"/>
              </a:rPr>
              <a:t>Méthode d'Ensemble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2495550"/>
            <a:ext cx="3724181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Montserrat"/>
              </a:rPr>
              <a:t> Construction </a:t>
            </a:r>
            <a:r>
              <a:rPr sz="837" b="1">
                <a:solidFill>
                  <a:srgbClr val="424242"/>
                </a:solidFill>
                <a:latin typeface="Montserrat"/>
              </a:rPr>
              <a:t>séquentielle</a:t>
            </a:r>
            <a:r>
              <a:rPr sz="837" b="0">
                <a:solidFill>
                  <a:srgbClr val="616161"/>
                </a:solidFill>
                <a:latin typeface="Montserrat"/>
              </a:rPr>
              <a:t> d'arbres de régression. Chaque nouvel arbre corrige les </a:t>
            </a:r>
            <a:r>
              <a:rPr sz="837" b="1">
                <a:solidFill>
                  <a:srgbClr val="424242"/>
                </a:solidFill>
                <a:latin typeface="Montserrat"/>
              </a:rPr>
              <a:t>erreurs résiduelles</a:t>
            </a:r>
            <a:r>
              <a:rPr sz="837" b="0">
                <a:solidFill>
                  <a:srgbClr val="616161"/>
                </a:solidFill>
                <a:latin typeface="Montserrat"/>
              </a:rPr>
              <a:t> du modèle courant.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80" y="3571875"/>
            <a:ext cx="2057348" cy="1428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13645" y="4220210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3790949"/>
            <a:ext cx="190495" cy="1904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525" y="4105274"/>
            <a:ext cx="16763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Descente de 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25" y="4352924"/>
            <a:ext cx="1676358" cy="323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Minimisation de la fonction de perte par itérations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2676" y="3571875"/>
            <a:ext cx="2057348" cy="142875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304341" y="4220210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2220" y="3790949"/>
            <a:ext cx="190495" cy="1904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62220" y="4105274"/>
            <a:ext cx="16763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Régularisable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2220" y="4352924"/>
            <a:ext cx="167635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Profondeur limitée, taux d'apprentissage, early stopping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" y="5143500"/>
            <a:ext cx="2057348" cy="1266824"/>
          </a:xfrm>
          <a:prstGeom prst="roundRect">
            <a:avLst>
              <a:gd name="adj" fmla="val 1503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94608" y="5710872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5362575"/>
            <a:ext cx="171445" cy="1904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1525" y="5676900"/>
            <a:ext cx="16763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Mêmes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25" y="5924549"/>
            <a:ext cx="1676358" cy="323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Variables sélectionnées par Random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2676" y="5143500"/>
            <a:ext cx="2057348" cy="1266824"/>
          </a:xfrm>
          <a:prstGeom prst="roundRect">
            <a:avLst>
              <a:gd name="adj" fmla="val 1503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2385304" y="5710872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2220" y="5362575"/>
            <a:ext cx="190495" cy="1904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162220" y="5676900"/>
            <a:ext cx="16763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390"/>
              </a:spcAft>
            </a:pPr>
            <a:r>
              <a:rPr sz="777" b="1">
                <a:solidFill>
                  <a:srgbClr val="424242"/>
                </a:solidFill>
                <a:latin typeface="Montserrat"/>
              </a:rPr>
              <a:t>Chronologique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2220" y="5924549"/>
            <a:ext cx="1676358" cy="323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Split 90%/10% ordonné dans le temps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2500" y="1962149"/>
            <a:ext cx="142871" cy="1428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00619" y="1924049"/>
            <a:ext cx="154301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Résultats du modèle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62500" y="2381250"/>
            <a:ext cx="1695407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4481" y="2667000"/>
            <a:ext cx="1619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R²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441" y="2962274"/>
            <a:ext cx="981050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4DB6AC"/>
                </a:solidFill>
                <a:latin typeface="Montserrat"/>
              </a:rPr>
              <a:t>0.661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48403" y="2381250"/>
            <a:ext cx="1695407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96087" y="2667000"/>
            <a:ext cx="40956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RMSE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4146" y="2962274"/>
            <a:ext cx="1114397" cy="361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4DB6AC"/>
                </a:solidFill>
                <a:latin typeface="Montserrat"/>
              </a:rPr>
              <a:t>4.12</a:t>
            </a:r>
            <a:r>
              <a:rPr sz="89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4306" y="2381250"/>
            <a:ext cx="1695407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20089" y="2667000"/>
            <a:ext cx="3238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MAE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0999" y="2962274"/>
            <a:ext cx="1152496" cy="361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4DB6AC"/>
                </a:solidFill>
                <a:latin typeface="Montserrat"/>
              </a:rPr>
              <a:t>3.33</a:t>
            </a:r>
            <a:r>
              <a:rPr sz="89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2500" y="3848099"/>
            <a:ext cx="5467213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8E1"/>
              </a:gs>
              <a:gs pos="100000">
                <a:srgbClr val="FFECB3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02125" y="4308474"/>
            <a:ext cx="10858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19669" y="4095749"/>
            <a:ext cx="133346" cy="13334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48263" y="4057650"/>
            <a:ext cx="276218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7C00"/>
                </a:solidFill>
                <a:latin typeface="Montserrat"/>
              </a:rPr>
              <a:t>Performance proche de Random 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9669" y="4352924"/>
            <a:ext cx="500049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R² légèrement inférieur (0.661 vs 0.664) mais RMSE et MAE très comparables, confirmant la robustesse des deux approches.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51" name="Espace réservé du numéro de diapositive 50">
            <a:extLst>
              <a:ext uri="{FF2B5EF4-FFF2-40B4-BE49-F238E27FC236}">
                <a16:creationId xmlns:a16="http://schemas.microsoft.com/office/drawing/2014/main" id="{AF275EC3-F570-A8CA-9E01-8B7CCE58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704849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704849"/>
            <a:ext cx="225736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AB47BC"/>
                </a:solidFill>
                <a:latin typeface="Roboto Slab"/>
              </a:rPr>
              <a:t>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990599"/>
            <a:ext cx="2257368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Régression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Linéaire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762" y="2586036"/>
            <a:ext cx="4248043" cy="752475"/>
          </a:xfrm>
          <a:prstGeom prst="roundRect">
            <a:avLst>
              <a:gd name="adj" fmla="val 2531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42565" y="2896233"/>
            <a:ext cx="752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2307" y="276701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604" y="2862261"/>
            <a:ext cx="142871" cy="190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7595" y="2757486"/>
            <a:ext cx="337176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Moindres Carrés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7595" y="3005136"/>
            <a:ext cx="3371765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Estimation des coefficients βⱼ par minimisation des erreurs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762" y="3481387"/>
            <a:ext cx="4248043" cy="752475"/>
          </a:xfrm>
          <a:prstGeom prst="roundRect">
            <a:avLst>
              <a:gd name="adj" fmla="val 2531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42565" y="3791584"/>
            <a:ext cx="752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2307" y="3662361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555" y="3757612"/>
            <a:ext cx="190495" cy="190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57595" y="3652837"/>
            <a:ext cx="337176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Simple &amp; Interprétable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595" y="3900487"/>
            <a:ext cx="3371765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Modèle linéaire facile à comprendre et à expliquer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762" y="4367212"/>
            <a:ext cx="4248043" cy="752475"/>
          </a:xfrm>
          <a:prstGeom prst="roundRect">
            <a:avLst>
              <a:gd name="adj" fmla="val 2531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42565" y="4677409"/>
            <a:ext cx="752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2307" y="4557712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555" y="4652962"/>
            <a:ext cx="190495" cy="1904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7595" y="4538662"/>
            <a:ext cx="337176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Mise à l'échelle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595" y="4786312"/>
            <a:ext cx="3371765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Montserrat"/>
              </a:rPr>
              <a:t>StandardScaler appliqué aux variables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1BEE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2500" y="1962149"/>
            <a:ext cx="142871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00619" y="1924049"/>
            <a:ext cx="154301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Résultats du modèle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2500" y="2381250"/>
            <a:ext cx="1695407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4481" y="2667000"/>
            <a:ext cx="1619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818" y="2962274"/>
            <a:ext cx="1057248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AB47BC"/>
                </a:solidFill>
                <a:latin typeface="Montserrat"/>
              </a:rPr>
              <a:t>0.534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48403" y="2381250"/>
            <a:ext cx="1704932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6562" y="2667000"/>
            <a:ext cx="40956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RMSE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6522" y="2962274"/>
            <a:ext cx="1228694" cy="361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AB47BC"/>
                </a:solidFill>
                <a:latin typeface="Montserrat"/>
              </a:rPr>
              <a:t>4.83</a:t>
            </a:r>
            <a:r>
              <a:rPr sz="89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4306" y="2381250"/>
            <a:ext cx="1695407" cy="1190625"/>
          </a:xfrm>
          <a:prstGeom prst="roundRect">
            <a:avLst>
              <a:gd name="adj" fmla="val 25600"/>
            </a:avLst>
          </a:prstGeom>
          <a:solidFill>
            <a:srgbClr val="FFFFFF"/>
          </a:solidFill>
          <a:ln w="41275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20089" y="2667000"/>
            <a:ext cx="3238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780"/>
              </a:spcAft>
            </a:pPr>
            <a:r>
              <a:rPr sz="777" b="1">
                <a:solidFill>
                  <a:srgbClr val="757575"/>
                </a:solidFill>
                <a:latin typeface="Montserrat"/>
              </a:rPr>
              <a:t>MAE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1950" y="2962274"/>
            <a:ext cx="1209644" cy="361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AB47BC"/>
                </a:solidFill>
                <a:latin typeface="Montserrat"/>
              </a:rPr>
              <a:t>3.94</a:t>
            </a:r>
            <a:r>
              <a:rPr sz="89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62500" y="3848099"/>
            <a:ext cx="5467213" cy="108585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FFF3E0"/>
              </a:gs>
              <a:gs pos="100000">
                <a:srgbClr val="FFE0B2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02125" y="4308474"/>
            <a:ext cx="10858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9669" y="4095749"/>
            <a:ext cx="133346" cy="13334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48263" y="4057650"/>
            <a:ext cx="150491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57C00"/>
                </a:solidFill>
                <a:latin typeface="Montserrat"/>
              </a:rPr>
              <a:t>Limitation du modèle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9669" y="4352924"/>
            <a:ext cx="500049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Sous-performance pour relations non-linéaires (température-consumption en forme U). Les modèles d'ensemble sont mieux adaptés.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62920" y="6362700"/>
            <a:ext cx="133346" cy="152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372465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49" name="Espace réservé du numéro de diapositive 48">
            <a:extLst>
              <a:ext uri="{FF2B5EF4-FFF2-40B4-BE49-F238E27FC236}">
                <a16:creationId xmlns:a16="http://schemas.microsoft.com/office/drawing/2014/main" id="{93534771-D2BE-7F6C-8B1A-4599B320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384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485" y="1238249"/>
            <a:ext cx="47623" cy="666750"/>
          </a:xfrm>
          <a:prstGeom prst="roundRect">
            <a:avLst>
              <a:gd name="adj" fmla="val 12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9604" y="1238249"/>
            <a:ext cx="30764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04" y="1544539"/>
            <a:ext cx="3076498" cy="11495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 dirty="0" err="1">
                <a:solidFill>
                  <a:srgbClr val="212121"/>
                </a:solidFill>
                <a:latin typeface="Montserrat"/>
              </a:rPr>
              <a:t>Comparaison</a:t>
            </a:r>
            <a:r>
              <a:rPr sz="1104" dirty="0"/>
              <a:t>
</a:t>
            </a:r>
            <a:r>
              <a:rPr sz="2272" b="1" dirty="0">
                <a:solidFill>
                  <a:srgbClr val="212121"/>
                </a:solidFill>
                <a:latin typeface="Montserrat"/>
              </a:rPr>
              <a:t>entre les </a:t>
            </a:r>
            <a:endParaRPr lang="fr-FR" sz="2272" b="1" dirty="0">
              <a:solidFill>
                <a:srgbClr val="212121"/>
              </a:solidFill>
              <a:latin typeface="Montserrat"/>
            </a:endParaRPr>
          </a:p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 dirty="0" err="1">
                <a:solidFill>
                  <a:srgbClr val="212121"/>
                </a:solidFill>
                <a:latin typeface="Montserrat"/>
              </a:rPr>
              <a:t>modèles</a:t>
            </a:r>
            <a:endParaRPr sz="2272" b="1" dirty="0">
              <a:solidFill>
                <a:srgbClr val="212121"/>
              </a:solidFill>
              <a:latin typeface="Montserra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486" y="3333749"/>
            <a:ext cx="2286252" cy="2286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4CAF50"/>
              </a:gs>
              <a:gs pos="100000">
                <a:srgbClr val="66BB6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3657600"/>
            <a:ext cx="39051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04" y="4229100"/>
            <a:ext cx="283837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Montserrat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4581524"/>
            <a:ext cx="283837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Montserrat"/>
              </a:rPr>
              <a:t> </a:t>
            </a:r>
            <a:r>
              <a:rPr sz="837" b="1">
                <a:solidFill>
                  <a:srgbClr val="FFFFFF"/>
                </a:solidFill>
                <a:latin typeface="Montserrat"/>
              </a:rPr>
              <a:t>Meilleur modèle</a:t>
            </a:r>
            <a:r>
              <a:rPr sz="1104"/>
              <a:t>
</a:t>
            </a:r>
            <a:r>
              <a:rPr sz="837" b="0">
                <a:solidFill>
                  <a:srgbClr val="FFFFFF"/>
                </a:solidFill>
                <a:latin typeface="Montserrat"/>
              </a:rPr>
              <a:t> R² le plus élevé</a:t>
            </a:r>
            <a:r>
              <a:rPr sz="1104"/>
              <a:t>
</a:t>
            </a:r>
            <a:r>
              <a:rPr sz="837" b="0">
                <a:solidFill>
                  <a:srgbClr val="FFFFFF"/>
                </a:solidFill>
                <a:latin typeface="Montserrat"/>
              </a:rPr>
              <a:t> RMSE et MAE les plus faibles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6045" y="0"/>
            <a:ext cx="890565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52726" y="1428750"/>
            <a:ext cx="2819330" cy="4000500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37044" y="1515219"/>
            <a:ext cx="15239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780"/>
              </a:spcAft>
            </a:pPr>
            <a:r>
              <a:rPr sz="837" b="1" dirty="0">
                <a:solidFill>
                  <a:srgbClr val="424242"/>
                </a:solidFill>
                <a:latin typeface="Montserrat"/>
              </a:rPr>
              <a:t>R²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4905" y="1885950"/>
            <a:ext cx="2584279" cy="2667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3657" y="4722911"/>
            <a:ext cx="106677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 dirty="0">
                <a:solidFill>
                  <a:srgbClr val="757575"/>
                </a:solidFill>
                <a:latin typeface="Montserrat"/>
              </a:rPr>
              <a:t>Plus </a:t>
            </a:r>
            <a:r>
              <a:rPr sz="717" b="0" dirty="0" err="1">
                <a:solidFill>
                  <a:srgbClr val="757575"/>
                </a:solidFill>
                <a:latin typeface="Montserrat"/>
              </a:rPr>
              <a:t>élevé</a:t>
            </a:r>
            <a:r>
              <a:rPr sz="717" b="0" dirty="0">
                <a:solidFill>
                  <a:srgbClr val="757575"/>
                </a:solidFill>
                <a:latin typeface="Montserrat"/>
              </a:rPr>
              <a:t> = </a:t>
            </a:r>
            <a:r>
              <a:rPr sz="717" b="0" dirty="0" err="1">
                <a:solidFill>
                  <a:srgbClr val="757575"/>
                </a:solidFill>
                <a:latin typeface="Montserrat"/>
              </a:rPr>
              <a:t>Mieux</a:t>
            </a:r>
            <a:endParaRPr sz="717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8264" y="1428750"/>
            <a:ext cx="2838377" cy="4000500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6939" y="1485582"/>
            <a:ext cx="86675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780"/>
              </a:spcAft>
            </a:pPr>
            <a:r>
              <a:rPr sz="837" b="1" dirty="0">
                <a:solidFill>
                  <a:srgbClr val="424242"/>
                </a:solidFill>
                <a:latin typeface="Montserrat"/>
              </a:rPr>
              <a:t>RMSE (kWh)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200" y="1885950"/>
            <a:ext cx="2590571" cy="2667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6939" y="4733925"/>
            <a:ext cx="96200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 dirty="0">
                <a:solidFill>
                  <a:srgbClr val="757575"/>
                </a:solidFill>
                <a:latin typeface="Montserrat"/>
              </a:rPr>
              <a:t>Plus bas = </a:t>
            </a:r>
            <a:r>
              <a:rPr sz="717" b="0" dirty="0" err="1">
                <a:solidFill>
                  <a:srgbClr val="757575"/>
                </a:solidFill>
                <a:latin typeface="Montserrat"/>
              </a:rPr>
              <a:t>Mieux</a:t>
            </a:r>
            <a:endParaRPr sz="717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419989" y="1428750"/>
            <a:ext cx="2650091" cy="4000500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77218" y="1585594"/>
            <a:ext cx="78103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780"/>
              </a:spcAft>
            </a:pPr>
            <a:r>
              <a:rPr sz="837" b="1" dirty="0">
                <a:solidFill>
                  <a:srgbClr val="424242"/>
                </a:solidFill>
                <a:latin typeface="Montserrat"/>
              </a:rPr>
              <a:t>MAE (kWh)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2860" y="1885950"/>
            <a:ext cx="2354820" cy="266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77218" y="4700586"/>
            <a:ext cx="96200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 dirty="0">
                <a:solidFill>
                  <a:srgbClr val="757575"/>
                </a:solidFill>
                <a:latin typeface="Montserrat"/>
              </a:rPr>
              <a:t>Plus bas = </a:t>
            </a:r>
            <a:r>
              <a:rPr sz="717" b="0" dirty="0" err="1">
                <a:solidFill>
                  <a:srgbClr val="757575"/>
                </a:solidFill>
                <a:latin typeface="Montserrat"/>
              </a:rPr>
              <a:t>Mieux</a:t>
            </a:r>
            <a:endParaRPr sz="717" b="0" dirty="0">
              <a:solidFill>
                <a:srgbClr val="757575"/>
              </a:solidFill>
              <a:latin typeface="Montserrat"/>
            </a:endParaRP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DF6A61CD-6BDE-7BFF-04A5-156A84C3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3197E03E-96C5-BC72-0B52-13C1F4ED4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156" y="2033586"/>
            <a:ext cx="2039603" cy="23717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33" y="1285875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377" y="1285875"/>
            <a:ext cx="35146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MODEL SELECTION &amp;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571625"/>
            <a:ext cx="3514637" cy="752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12121"/>
                </a:solidFill>
                <a:latin typeface="Montserrat"/>
              </a:rPr>
              <a:t>Prédiction et Choix</a:t>
            </a:r>
            <a:r>
              <a:rPr sz="1104"/>
              <a:t>
</a:t>
            </a:r>
            <a:r>
              <a:rPr sz="2152" b="1">
                <a:solidFill>
                  <a:srgbClr val="212121"/>
                </a:solidFill>
                <a:latin typeface="Montserrat"/>
              </a:rPr>
              <a:t>de Random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09850"/>
            <a:ext cx="5657708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4CAF50"/>
              </a:gs>
              <a:gs pos="100000">
                <a:srgbClr val="66BB6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2838450"/>
            <a:ext cx="17144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21" y="2800350"/>
            <a:ext cx="131441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Montserrat"/>
              </a:rPr>
              <a:t>Meilleur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3105149"/>
            <a:ext cx="5276718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FFFFFF"/>
                </a:solidFill>
                <a:latin typeface="Montserrat"/>
              </a:rPr>
              <a:t> </a:t>
            </a:r>
            <a:r>
              <a:rPr sz="777" b="1">
                <a:solidFill>
                  <a:srgbClr val="FFFFFF"/>
                </a:solidFill>
                <a:latin typeface="Montserrat"/>
              </a:rPr>
              <a:t>Random Forest</a:t>
            </a:r>
            <a:r>
              <a:rPr sz="777" b="0">
                <a:solidFill>
                  <a:srgbClr val="FFFFFF"/>
                </a:solidFill>
                <a:latin typeface="Montserrat"/>
              </a:rPr>
              <a:t> sélectionné grâce aux meilleures performances : R² = 0.664, RMSE = 4.1 kWh, MAE = 3.18 kWh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86200"/>
            <a:ext cx="1809704" cy="761999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030" y="4000500"/>
            <a:ext cx="1581110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657" b="1">
                <a:solidFill>
                  <a:srgbClr val="757575"/>
                </a:solidFill>
                <a:latin typeface="Montserrat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30" y="4210049"/>
            <a:ext cx="158111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A5F5"/>
                </a:solidFill>
                <a:latin typeface="Montserrat"/>
              </a:rPr>
              <a:t>0.664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0735" y="3886200"/>
            <a:ext cx="1809704" cy="761999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5032" y="4000500"/>
            <a:ext cx="1581110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657" b="1">
                <a:solidFill>
                  <a:srgbClr val="757575"/>
                </a:solidFill>
                <a:latin typeface="Montserrat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032" y="4210049"/>
            <a:ext cx="1581110" cy="314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A5F5"/>
                </a:solidFill>
                <a:latin typeface="Montserrat"/>
              </a:rPr>
              <a:t>4.1</a:t>
            </a:r>
            <a:r>
              <a:rPr sz="71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4737" y="3886200"/>
            <a:ext cx="1809704" cy="761999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9034" y="4000500"/>
            <a:ext cx="1581110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657" b="1">
                <a:solidFill>
                  <a:srgbClr val="757575"/>
                </a:solidFill>
                <a:latin typeface="Montserrat"/>
              </a:rP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034" y="4210049"/>
            <a:ext cx="1581110" cy="314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A5F5"/>
                </a:solidFill>
                <a:latin typeface="Montserrat"/>
              </a:rPr>
              <a:t>3.18</a:t>
            </a:r>
            <a:r>
              <a:rPr sz="71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829175"/>
            <a:ext cx="5657708" cy="742950"/>
          </a:xfrm>
          <a:prstGeom prst="roundRect">
            <a:avLst>
              <a:gd name="adj" fmla="val 20512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77808" y="5118100"/>
            <a:ext cx="7429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5076825"/>
            <a:ext cx="228594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0119" y="4972050"/>
            <a:ext cx="49814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777" b="1">
                <a:solidFill>
                  <a:srgbClr val="F57C00"/>
                </a:solidFill>
                <a:latin typeface="Montserrat"/>
              </a:rPr>
              <a:t>Marge d'erreur journalière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5200650"/>
            <a:ext cx="49814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24242"/>
                </a:solidFill>
                <a:latin typeface="Montserrat"/>
              </a:rPr>
              <a:t>RMSE = 4.1 kWh/jour ≈ 0.62€/jour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1670" y="1000125"/>
            <a:ext cx="142871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19789" y="962024"/>
            <a:ext cx="251453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424242"/>
                </a:solidFill>
                <a:latin typeface="Montserrat"/>
              </a:rPr>
              <a:t>Distribution des erreurs (Résidus)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81670" y="1323974"/>
            <a:ext cx="4438539" cy="457200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24541" y="1466849"/>
            <a:ext cx="4152796" cy="42862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67673" y="6362700"/>
            <a:ext cx="133346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77218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786D748D-C02A-0082-895F-81BE0BF9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2038349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2038349"/>
            <a:ext cx="148586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EF5350"/>
                </a:solidFill>
                <a:latin typeface="Roboto Slab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2324100"/>
            <a:ext cx="1485862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Limites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3467100"/>
            <a:ext cx="3638459" cy="1362075"/>
          </a:xfrm>
          <a:prstGeom prst="roundRect">
            <a:avLst>
              <a:gd name="adj" fmla="val 16783"/>
            </a:avLst>
          </a:prstGeom>
          <a:gradFill rotWithShape="1">
            <a:gsLst>
              <a:gs pos="0">
                <a:srgbClr val="FFEBEE"/>
              </a:gs>
              <a:gs pos="100000">
                <a:srgbClr val="FFCDD2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63493" y="4065587"/>
            <a:ext cx="13620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733799"/>
            <a:ext cx="142871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5842" y="3695699"/>
            <a:ext cx="14191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C62828"/>
                </a:solidFill>
                <a:latin typeface="Montserrat"/>
              </a:rPr>
              <a:t>Points de vigilance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4029075"/>
            <a:ext cx="3114597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Ces limitations doivent être prises en compte lors de l'application et l'interprétation des résultats du modèle.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FFEB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52916" y="1095374"/>
            <a:ext cx="2971725" cy="2162174"/>
          </a:xfrm>
          <a:prstGeom prst="roundRect">
            <a:avLst>
              <a:gd name="adj" fmla="val 105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354379" y="2093911"/>
            <a:ext cx="21621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38659" y="13335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5350"/>
              </a:gs>
              <a:gs pos="100000">
                <a:srgbClr val="E53935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2480" y="1466849"/>
            <a:ext cx="238119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38659" y="1952624"/>
            <a:ext cx="24478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212121"/>
                </a:solidFill>
                <a:latin typeface="Montserrat"/>
              </a:rPr>
              <a:t>Un seul foyer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659" y="2276474"/>
            <a:ext cx="2447863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Modèle ajusté sur un logement à Sceaux. Pas de garantie de transfert à d'autres sites ou ménages.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3236" y="1095374"/>
            <a:ext cx="2971725" cy="2162174"/>
          </a:xfrm>
          <a:prstGeom prst="roundRect">
            <a:avLst>
              <a:gd name="adj" fmla="val 105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554699" y="2093911"/>
            <a:ext cx="21621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38979" y="13335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5350"/>
              </a:gs>
              <a:gs pos="100000">
                <a:srgbClr val="E53935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91375" y="1466849"/>
            <a:ext cx="18097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38979" y="1952624"/>
            <a:ext cx="24478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212121"/>
                </a:solidFill>
                <a:latin typeface="Montserrat"/>
              </a:rPr>
              <a:t>Variable décalée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8979" y="2276474"/>
            <a:ext cx="2447863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Utilisation de lag-1 nécessite la consommation de la veille. Prévision sans lag demanderait d'autres variables.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2916" y="3495675"/>
            <a:ext cx="2971725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444867" y="4403724"/>
            <a:ext cx="19811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38659" y="3733799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5350"/>
              </a:gs>
              <a:gs pos="100000">
                <a:srgbClr val="E53935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3431" y="3867149"/>
            <a:ext cx="266693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38659" y="4352924"/>
            <a:ext cx="24478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212121"/>
                </a:solidFill>
                <a:latin typeface="Montserrat"/>
              </a:rPr>
              <a:t>API météo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8659" y="4676775"/>
            <a:ext cx="2447863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Données d'archive supposées correctes. Erreurs ou lacunes pourraient biaiser le modèle.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3236" y="3495675"/>
            <a:ext cx="2971725" cy="198119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645187" y="4403724"/>
            <a:ext cx="19811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838979" y="3733799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5350"/>
              </a:gs>
              <a:gs pos="100000">
                <a:srgbClr val="E53935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62800" y="3867149"/>
            <a:ext cx="238119" cy="2095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38979" y="4352924"/>
            <a:ext cx="24478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650"/>
              </a:spcAft>
            </a:pPr>
            <a:r>
              <a:rPr sz="956" b="1">
                <a:solidFill>
                  <a:srgbClr val="212121"/>
                </a:solidFill>
                <a:latin typeface="Montserrat"/>
              </a:rPr>
              <a:t>Aucune causalité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8979" y="4676775"/>
            <a:ext cx="2447863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Forte corrélation ne prouve pas la causalité. Facteurs non observés (présence) peuvent intervenir.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67673" y="6362700"/>
            <a:ext cx="133346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77218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C48F7175-0482-3C58-B064-D200BC25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33" y="1819275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377" y="1819275"/>
            <a:ext cx="350511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PREDICTION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2105024"/>
            <a:ext cx="350511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Montserrat"/>
              </a:rPr>
              <a:t>Test de Prédiction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90824"/>
            <a:ext cx="4343291" cy="1971675"/>
          </a:xfrm>
          <a:prstGeom prst="roundRect">
            <a:avLst>
              <a:gd name="adj" fmla="val 11594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36554" y="3694111"/>
            <a:ext cx="19716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3057525"/>
            <a:ext cx="180970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694" y="2998353"/>
            <a:ext cx="1180067" cy="2802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65C0"/>
                </a:solidFill>
                <a:latin typeface="Montserrat"/>
              </a:rPr>
              <a:t>Méthodologie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76" y="33813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952476" y="3375360"/>
            <a:ext cx="200632" cy="2787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2A5F5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466" y="3344281"/>
            <a:ext cx="3366563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24242"/>
                </a:solidFill>
                <a:latin typeface="Montserrat"/>
              </a:rPr>
              <a:t>Modèle Random Forest sélectionné (R² = 0.664)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082" y="4016373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927082" y="4009589"/>
            <a:ext cx="231089" cy="2802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100" b="1" dirty="0">
                <a:solidFill>
                  <a:srgbClr val="42A5F5"/>
                </a:solidFill>
                <a:latin typeface="Montserrat"/>
              </a:rPr>
              <a:t>2</a:t>
            </a:r>
            <a:endParaRPr sz="1100" b="1" dirty="0">
              <a:solidFill>
                <a:srgbClr val="42A5F5"/>
              </a:solidFill>
              <a:latin typeface="Montserra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08072" y="3992823"/>
            <a:ext cx="317260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24242"/>
                </a:solidFill>
                <a:latin typeface="Montserrat"/>
              </a:rPr>
              <a:t>Bootstrap : </a:t>
            </a:r>
            <a:r>
              <a:rPr sz="1050" b="0" dirty="0" err="1">
                <a:solidFill>
                  <a:srgbClr val="424242"/>
                </a:solidFill>
                <a:latin typeface="Montserrat"/>
              </a:rPr>
              <a:t>dernière</a:t>
            </a:r>
            <a:r>
              <a:rPr sz="1050"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424242"/>
                </a:solidFill>
                <a:latin typeface="Montserrat"/>
              </a:rPr>
              <a:t>consommation</a:t>
            </a:r>
            <a:r>
              <a:rPr sz="1050" b="0" dirty="0">
                <a:solidFill>
                  <a:srgbClr val="424242"/>
                </a:solidFill>
                <a:latin typeface="Montserrat"/>
              </a:rPr>
              <a:t> </a:t>
            </a:r>
            <a:r>
              <a:rPr sz="1050" b="0" dirty="0" err="1">
                <a:solidFill>
                  <a:srgbClr val="424242"/>
                </a:solidFill>
                <a:latin typeface="Montserrat"/>
              </a:rPr>
              <a:t>connue</a:t>
            </a:r>
            <a:r>
              <a:rPr sz="1050" b="0" dirty="0">
                <a:solidFill>
                  <a:srgbClr val="424242"/>
                </a:solidFill>
                <a:latin typeface="Montserrat"/>
              </a:rPr>
              <a:t> </a:t>
            </a:r>
            <a:endParaRPr lang="fr-FR" sz="1050" b="0" dirty="0">
              <a:solidFill>
                <a:srgbClr val="424242"/>
              </a:solidFill>
              <a:latin typeface="Montserrat"/>
            </a:endParaRPr>
          </a:p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24242"/>
                </a:solidFill>
                <a:latin typeface="Montserrat"/>
              </a:rPr>
              <a:t>+ </a:t>
            </a:r>
            <a:r>
              <a:rPr sz="1050" b="0" dirty="0" err="1">
                <a:solidFill>
                  <a:srgbClr val="424242"/>
                </a:solidFill>
                <a:latin typeface="Montserrat"/>
              </a:rPr>
              <a:t>enchaînement</a:t>
            </a:r>
            <a:endParaRPr sz="1050" b="0" dirty="0">
              <a:solidFill>
                <a:srgbClr val="424242"/>
              </a:solidFill>
              <a:latin typeface="Montserra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500" y="781050"/>
            <a:ext cx="123821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1570" y="725083"/>
            <a:ext cx="2715743" cy="2738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 dirty="0" err="1">
                <a:solidFill>
                  <a:srgbClr val="424242"/>
                </a:solidFill>
                <a:latin typeface="Montserrat"/>
              </a:rPr>
              <a:t>Prévisions</a:t>
            </a:r>
            <a:r>
              <a:rPr sz="897" b="1" dirty="0">
                <a:solidFill>
                  <a:srgbClr val="424242"/>
                </a:solidFill>
                <a:latin typeface="Montserrat"/>
              </a:rPr>
              <a:t> sur 7 </a:t>
            </a:r>
            <a:r>
              <a:rPr sz="897" b="1" dirty="0" err="1">
                <a:solidFill>
                  <a:srgbClr val="424242"/>
                </a:solidFill>
                <a:latin typeface="Montserrat"/>
              </a:rPr>
              <a:t>jours</a:t>
            </a:r>
            <a:r>
              <a:rPr sz="897" b="1" dirty="0">
                <a:solidFill>
                  <a:srgbClr val="424242"/>
                </a:solidFill>
                <a:latin typeface="Montserrat"/>
              </a:rPr>
              <a:t> (</a:t>
            </a:r>
            <a:r>
              <a:rPr lang="fr-FR" sz="897" b="1" dirty="0">
                <a:solidFill>
                  <a:srgbClr val="424242"/>
                </a:solidFill>
                <a:latin typeface="Montserrat"/>
              </a:rPr>
              <a:t>Lancé le 28-01-2026</a:t>
            </a:r>
            <a:r>
              <a:rPr sz="897" b="1" dirty="0">
                <a:solidFill>
                  <a:srgbClr val="424242"/>
                </a:solidFill>
                <a:latin typeface="Montserrat"/>
              </a:rPr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2500" y="1152524"/>
            <a:ext cx="5657708" cy="3838574"/>
          </a:xfrm>
          <a:prstGeom prst="roundRect">
            <a:avLst>
              <a:gd name="adj" fmla="val 59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2996" y="1457325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2026-01-29 (Jeudi)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65" y="1457325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28.42 kWh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2996" y="1952624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2026-01-30 (Vendredi)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365" y="1952624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27.87 kWh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2996" y="2447924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2026-01-31 (Samedi)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365" y="2447924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27.73 kWh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2996" y="2943225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2026-02-01 (Dimanche)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365" y="2943225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27.95 kWh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2996" y="3438525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2026-02-02 (Lundi)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365" y="3438525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27.31 kWh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2996" y="3933824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2026-02-03 (Mardi)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365" y="3933824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27.01 kWh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2996" y="4429125"/>
            <a:ext cx="307649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Montserrat"/>
              </a:rPr>
              <a:t>2026-02-04 (Mercredi)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365" y="4429125"/>
            <a:ext cx="205734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2A5F5"/>
                </a:solidFill>
                <a:latin typeface="Montserrat"/>
              </a:rPr>
              <a:t>27.16 kWh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2500" y="5229225"/>
            <a:ext cx="1790655" cy="8762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33946" y="5438774"/>
            <a:ext cx="144776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Moyenne Hebdo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3946" y="5686425"/>
            <a:ext cx="1447763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12121"/>
                </a:solidFill>
                <a:latin typeface="Montserrat"/>
              </a:rPr>
              <a:t>27.64</a:t>
            </a:r>
            <a:r>
              <a:rPr sz="837" b="1">
                <a:solidFill>
                  <a:srgbClr val="9E9E9E"/>
                </a:solidFill>
                <a:latin typeface="Montserrat"/>
              </a:rPr>
              <a:t>kWh/jour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96027" y="5229225"/>
            <a:ext cx="1790655" cy="8762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67473" y="5438774"/>
            <a:ext cx="144776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Total Hebdo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7473" y="5686425"/>
            <a:ext cx="1447763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12121"/>
                </a:solidFill>
                <a:latin typeface="Montserrat"/>
              </a:rPr>
              <a:t>193.46</a:t>
            </a:r>
            <a:r>
              <a:rPr sz="837" b="1">
                <a:solidFill>
                  <a:srgbClr val="9E9E9E"/>
                </a:solidFill>
                <a:latin typeface="Montserrat"/>
              </a:rPr>
              <a:t>kWh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9554" y="5229225"/>
            <a:ext cx="1790655" cy="8762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00999" y="5438774"/>
            <a:ext cx="144776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Erreur (RMSE)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0999" y="5686425"/>
            <a:ext cx="1447763" cy="247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12121"/>
                </a:solidFill>
                <a:latin typeface="Montserrat"/>
              </a:rPr>
              <a:t>4.1</a:t>
            </a:r>
            <a:r>
              <a:rPr sz="837" b="1">
                <a:solidFill>
                  <a:srgbClr val="9E9E9E"/>
                </a:solidFill>
                <a:latin typeface="Montserrat"/>
              </a:rPr>
              <a:t>kWh/jour</a:t>
            </a:r>
          </a:p>
        </p:txBody>
      </p:sp>
      <p:sp>
        <p:nvSpPr>
          <p:cNvPr id="50" name="Espace réservé du numéro de diapositive 49">
            <a:extLst>
              <a:ext uri="{FF2B5EF4-FFF2-40B4-BE49-F238E27FC236}">
                <a16:creationId xmlns:a16="http://schemas.microsoft.com/office/drawing/2014/main" id="{D48A4268-18B4-330E-F809-BFF21243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1266824"/>
            <a:ext cx="0" cy="714375"/>
          </a:xfrm>
          <a:prstGeom prst="roundRect">
            <a:avLst>
              <a:gd name="adj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1525" y="1266824"/>
            <a:ext cx="38289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552574"/>
            <a:ext cx="3828954" cy="12573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Recommandations</a:t>
            </a:r>
            <a:r>
              <a:rPr sz="1104"/>
              <a:t>
</a:t>
            </a:r>
            <a:r>
              <a:rPr sz="2392" b="1">
                <a:solidFill>
                  <a:srgbClr val="212121"/>
                </a:solidFill>
                <a:latin typeface="Montserrat"/>
              </a:rPr>
              <a:t>&amp; Pistes d'amélioration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3524250"/>
            <a:ext cx="3638459" cy="2076449"/>
          </a:xfrm>
          <a:prstGeom prst="roundRect">
            <a:avLst>
              <a:gd name="adj" fmla="val 14678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7723" y="3809999"/>
            <a:ext cx="428614" cy="42862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4DB6AC"/>
              </a:gs>
              <a:gs pos="100000">
                <a:srgbClr val="26A6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95" y="3924299"/>
            <a:ext cx="142871" cy="1904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4381499"/>
            <a:ext cx="30669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Pistes de 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4667249"/>
            <a:ext cx="3066973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40"/>
                </a:solidFill>
                <a:latin typeface="Montserrat"/>
              </a:rPr>
              <a:t>Quatre axes majeurs pour améliorer la précision du modèle et étendre son applicabilité opérationnelle.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0F2F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52916" y="1333500"/>
            <a:ext cx="2990775" cy="185737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506779" y="2179637"/>
            <a:ext cx="1857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38659" y="1581149"/>
            <a:ext cx="428614" cy="42862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4DB6AC"/>
              </a:gs>
              <a:gs pos="100000">
                <a:srgbClr val="26A6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956" y="1695449"/>
            <a:ext cx="190495" cy="1904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38659" y="2152650"/>
            <a:ext cx="24669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Granularité horaire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659" y="2438400"/>
            <a:ext cx="2466913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Refaire l'analyse à l'heure avec météo horaire pour capturer les profils intra-journaliers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34186" y="1333500"/>
            <a:ext cx="2990775" cy="185737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688049" y="2179637"/>
            <a:ext cx="1857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19929" y="1581149"/>
            <a:ext cx="428614" cy="42862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4DB6AC"/>
              </a:gs>
              <a:gs pos="100000">
                <a:srgbClr val="26A6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34226" y="1695449"/>
            <a:ext cx="190495" cy="1904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19929" y="2152650"/>
            <a:ext cx="24669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Hyperparamètres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9929" y="2438400"/>
            <a:ext cx="2466913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Tuner le RF ou GBoost par validation croisée temporelle (TimeSeriesSplit)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2916" y="3381375"/>
            <a:ext cx="2990775" cy="185737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506779" y="4227512"/>
            <a:ext cx="1857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38659" y="3619499"/>
            <a:ext cx="428614" cy="42862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4DB6AC"/>
              </a:gs>
              <a:gs pos="100000">
                <a:srgbClr val="26A6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2956" y="3733799"/>
            <a:ext cx="190495" cy="1904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38659" y="4190999"/>
            <a:ext cx="24669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Interprétabilité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8659" y="4476750"/>
            <a:ext cx="2466913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SHAP ou courbes de dépendance partielle pour clarifier l'effet du DJU, lag et week-end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4186" y="3381375"/>
            <a:ext cx="2990775" cy="1857375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688049" y="4227512"/>
            <a:ext cx="18573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819929" y="3619499"/>
            <a:ext cx="428614" cy="428625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4DB6AC"/>
              </a:gs>
              <a:gs pos="100000">
                <a:srgbClr val="26A6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15177" y="3733799"/>
            <a:ext cx="238119" cy="1904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19929" y="4190999"/>
            <a:ext cx="24669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Usage opérationnel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9929" y="4476750"/>
            <a:ext cx="2466913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Montserrat"/>
              </a:rPr>
              <a:t>Entraîner modèle sans lag (météo + calendrier) pour prévisions sans consommation de la veille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67673" y="6362700"/>
            <a:ext cx="133346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77218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CADE58F4-78F0-5E06-E714-A31982BE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1980" y="1609724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674" y="1609724"/>
            <a:ext cx="224784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0">
                <a:solidFill>
                  <a:srgbClr val="4DB6AC"/>
                </a:solidFill>
                <a:latin typeface="Roboto Slab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895474"/>
            <a:ext cx="2247843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Montserrat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981325"/>
            <a:ext cx="3638459" cy="2266950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4CAF50"/>
              </a:gs>
              <a:gs pos="100000">
                <a:srgbClr val="66BB6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352800"/>
            <a:ext cx="380990" cy="380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7723" y="3981449"/>
            <a:ext cx="306697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Montserrat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4486275"/>
            <a:ext cx="92390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FFFFFF"/>
                </a:solidFill>
                <a:latin typeface="Montserrat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4733925"/>
            <a:ext cx="9239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0.664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497" y="4486275"/>
            <a:ext cx="92390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FFFFFF"/>
                </a:solidFill>
                <a:latin typeface="Montserrat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4497" y="4733925"/>
            <a:ext cx="9239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0795" y="4486275"/>
            <a:ext cx="92390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FFFFFF"/>
                </a:solidFill>
                <a:latin typeface="Montserrat"/>
              </a:rP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0795" y="4733925"/>
            <a:ext cx="9239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3.18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20009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52916" y="1095374"/>
            <a:ext cx="2990775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649654" y="1798636"/>
            <a:ext cx="15716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0084" y="1352549"/>
            <a:ext cx="21906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10084" y="1790700"/>
            <a:ext cx="252406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Données fusionnées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0084" y="2076449"/>
            <a:ext cx="2524061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Collecte + Météo (Open-Meteo) + Calendrier (jours fériés, week-end)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4186" y="1095374"/>
            <a:ext cx="2990775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830924" y="1798636"/>
            <a:ext cx="15716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91355" y="1352549"/>
            <a:ext cx="190495" cy="24764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91355" y="1790700"/>
            <a:ext cx="252406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Hypothèse validée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1355" y="2076449"/>
            <a:ext cx="2524061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Température pas le seul facteur • Pics = Week-ends en hiver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52916" y="2847974"/>
            <a:ext cx="2990775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559167" y="3641723"/>
            <a:ext cx="17525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0084" y="3105149"/>
            <a:ext cx="276218" cy="2476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10084" y="3543300"/>
            <a:ext cx="252406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Variables dérivées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0084" y="3838574"/>
            <a:ext cx="2524061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DJU (18°C) • Lag-1 • Mois cyclique (sin/cos) • Filtrage des outliers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4186" y="2847974"/>
            <a:ext cx="2990775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7740437" y="3641723"/>
            <a:ext cx="17525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1355" y="3105149"/>
            <a:ext cx="247643" cy="24764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91355" y="3543300"/>
            <a:ext cx="252406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212121"/>
                </a:solidFill>
                <a:latin typeface="Montserrat"/>
              </a:rPr>
              <a:t>Comparaison modèles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1355" y="3838574"/>
            <a:ext cx="2524061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Montserrat"/>
              </a:rPr>
              <a:t>Random Forest sélectionné • Performance optimale sur R², RMSE, MAE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52916" y="4886325"/>
            <a:ext cx="6172045" cy="876299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42A5F5"/>
              </a:gs>
              <a:gs pos="100000">
                <a:srgbClr val="2196F3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19609" y="5162550"/>
            <a:ext cx="266693" cy="30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29174" y="5124449"/>
            <a:ext cx="5229094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Montserrat"/>
              </a:rPr>
              <a:t>Modèle Random Forest précis à 4.1 kWh/jour (≈0.62€/jour) pour la prévision de consommation électrique journalière.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67673" y="6362700"/>
            <a:ext cx="133346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77218" y="6353174"/>
            <a:ext cx="1342991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Montserrat"/>
              </a:rPr>
              <a:t>ENERGY ANALYTICS</a:t>
            </a:r>
          </a:p>
        </p:txBody>
      </p:sp>
      <p:sp>
        <p:nvSpPr>
          <p:cNvPr id="42" name="Espace réservé du numéro de diapositive 41">
            <a:extLst>
              <a:ext uri="{FF2B5EF4-FFF2-40B4-BE49-F238E27FC236}">
                <a16:creationId xmlns:a16="http://schemas.microsoft.com/office/drawing/2014/main" id="{AFD0660F-3EE2-28E6-5076-6E9619B7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2037</Words>
  <Application>Microsoft Office PowerPoint</Application>
  <PresentationFormat>Grand écran</PresentationFormat>
  <Paragraphs>507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Montserrat</vt:lpstr>
      <vt:lpstr>Roboto Slab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MANI Mohammed Adil</dc:creator>
  <cp:keywords/>
  <dc:description>generated using python-pptx</dc:description>
  <cp:lastModifiedBy>Mani Mohammed Adil</cp:lastModifiedBy>
  <cp:revision>4</cp:revision>
  <dcterms:created xsi:type="dcterms:W3CDTF">2013-01-27T09:14:16Z</dcterms:created>
  <dcterms:modified xsi:type="dcterms:W3CDTF">2026-01-30T20:32:12Z</dcterms:modified>
  <cp:category/>
</cp:coreProperties>
</file>