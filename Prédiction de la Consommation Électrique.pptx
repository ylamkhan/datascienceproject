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80" r:id="rId23"/>
    <p:sldId id="277" r:id="rId24"/>
    <p:sldId id="278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A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75" autoAdjust="0"/>
    <p:restoredTop sz="84957" autoAdjust="0"/>
  </p:normalViewPr>
  <p:slideViewPr>
    <p:cSldViewPr snapToGrid="0" snapToObjects="1">
      <p:cViewPr varScale="1">
        <p:scale>
          <a:sx n="94" d="100"/>
          <a:sy n="94" d="100"/>
        </p:scale>
        <p:origin x="948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D07B07-2C59-4B7F-B014-A7C1F1DEF2DC}" type="datetimeFigureOut">
              <a:rPr lang="fr-FR" smtClean="0"/>
              <a:t>30/01/2026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4F9F8C-C2F0-47BE-869B-A56261F7714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215305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imane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84021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imane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474680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youssef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2789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youssef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85037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adil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89003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adil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39030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adil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00187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imane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67454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imane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265908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imane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479630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youssef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902789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youssef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3426070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adil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30982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adil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81075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adil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68664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adil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5151245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imane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42532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youssef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992400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youssef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847555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youssef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3301430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Youssef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0511980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adil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1843097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imane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373283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imane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F9F8C-C2F0-47BE-869B-A56261F7714D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890440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6274C-2624-4B13-811C-EFB085CCF3EF}" type="datetime1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61260-BAD4-4847-8E7D-0379CF53B020}" type="datetime1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1C9F4-2B18-46D4-8F3B-E77EFFCAD3EA}" type="datetime1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15A3C-9776-463D-A332-A8A70B8D76BF}" type="datetime1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23EC8-06A0-4213-9614-0D62C459D808}" type="datetime1">
              <a:rPr lang="en-US" smtClean="0"/>
              <a:t>1/30/2026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A55F93-0982-48EE-AD53-201E7E1563F7}" type="datetime1">
              <a:rPr lang="en-US" smtClean="0"/>
              <a:t>1/30/2026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DDA1F-E858-4086-9D09-77E99A3BDA63}" type="datetime1">
              <a:rPr lang="en-US" smtClean="0"/>
              <a:t>1/30/2026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0094A-DB6B-491B-AE74-BF72E06B4F8F}" type="datetime1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CCE1A-1371-4799-8192-7F4692E49A7A}" type="datetime1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FD21BD-A266-4643-8A00-A07ACDC90931}" type="datetime1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B6238-3A0E-4865-AC95-269FDB4AE8BC}" type="datetime1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882518-A012-45B3-9A1F-D1E283A43FAF}" type="datetime1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jpeg"/><Relationship Id="rId3" Type="http://schemas.openxmlformats.org/officeDocument/2006/relationships/image" Target="../media/image18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Relationship Id="rId9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jpe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37.jp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jp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Relationship Id="rId9" Type="http://schemas.openxmlformats.org/officeDocument/2006/relationships/image" Target="../media/image48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33.png"/><Relationship Id="rId7" Type="http://schemas.openxmlformats.org/officeDocument/2006/relationships/image" Target="../media/image5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Relationship Id="rId9" Type="http://schemas.openxmlformats.org/officeDocument/2006/relationships/image" Target="../media/image5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3.png"/><Relationship Id="rId4" Type="http://schemas.openxmlformats.org/officeDocument/2006/relationships/image" Target="../media/image6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67.pn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10" Type="http://schemas.openxmlformats.org/officeDocument/2006/relationships/image" Target="../media/image33.png"/><Relationship Id="rId4" Type="http://schemas.openxmlformats.org/officeDocument/2006/relationships/image" Target="../media/image68.png"/><Relationship Id="rId9" Type="http://schemas.openxmlformats.org/officeDocument/2006/relationships/image" Target="../media/image72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73.png"/><Relationship Id="rId7" Type="http://schemas.openxmlformats.org/officeDocument/2006/relationships/image" Target="../media/image7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6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0.jpg"/><Relationship Id="rId5" Type="http://schemas.openxmlformats.org/officeDocument/2006/relationships/image" Target="../media/image79.jpg"/><Relationship Id="rId4" Type="http://schemas.openxmlformats.org/officeDocument/2006/relationships/image" Target="../media/image78.jp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3.jpg"/><Relationship Id="rId5" Type="http://schemas.openxmlformats.org/officeDocument/2006/relationships/image" Target="../media/image56.png"/><Relationship Id="rId4" Type="http://schemas.openxmlformats.org/officeDocument/2006/relationships/image" Target="../media/image82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84.png"/><Relationship Id="rId7" Type="http://schemas.openxmlformats.org/officeDocument/2006/relationships/image" Target="../media/image8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91.png"/><Relationship Id="rId7" Type="http://schemas.openxmlformats.org/officeDocument/2006/relationships/image" Target="../media/image9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4.png"/><Relationship Id="rId5" Type="http://schemas.openxmlformats.org/officeDocument/2006/relationships/image" Target="../media/image93.png"/><Relationship Id="rId4" Type="http://schemas.openxmlformats.org/officeDocument/2006/relationships/image" Target="../media/image92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1.png"/><Relationship Id="rId3" Type="http://schemas.openxmlformats.org/officeDocument/2006/relationships/image" Target="../media/image96.png"/><Relationship Id="rId7" Type="http://schemas.openxmlformats.org/officeDocument/2006/relationships/image" Target="../media/image10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9.png"/><Relationship Id="rId5" Type="http://schemas.openxmlformats.org/officeDocument/2006/relationships/image" Target="../media/image98.png"/><Relationship Id="rId4" Type="http://schemas.openxmlformats.org/officeDocument/2006/relationships/image" Target="../media/image97.png"/><Relationship Id="rId9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9858153" y="-1609724"/>
            <a:ext cx="3809904" cy="3809999"/>
          </a:xfrm>
          <a:prstGeom prst="roundRect">
            <a:avLst>
              <a:gd name="adj" fmla="val 50000"/>
            </a:avLst>
          </a:prstGeom>
          <a:solidFill>
            <a:srgbClr val="E3F2FD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9196" y="66675"/>
            <a:ext cx="200019" cy="228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80316" y="764539"/>
            <a:ext cx="76198" cy="2667000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1306" y="764539"/>
            <a:ext cx="6533986" cy="2543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4290"/>
              </a:lnSpc>
              <a:spcBef>
                <a:spcPts val="0"/>
              </a:spcBef>
              <a:spcAft>
                <a:spcPts val="1820"/>
              </a:spcAft>
            </a:pPr>
            <a:r>
              <a:rPr sz="3468" b="1">
                <a:solidFill>
                  <a:srgbClr val="212121"/>
                </a:solidFill>
                <a:latin typeface="Montserrat"/>
              </a:rPr>
              <a:t>Prédiction de la</a:t>
            </a:r>
            <a:r>
              <a:rPr sz="1104"/>
              <a:t>
</a:t>
            </a:r>
            <a:r>
              <a:rPr sz="3468" b="1">
                <a:solidFill>
                  <a:srgbClr val="42A5F5"/>
                </a:solidFill>
                <a:latin typeface="Montserrat"/>
              </a:rPr>
              <a:t>Consommation Électrique</a:t>
            </a:r>
            <a:r>
              <a:rPr sz="1104"/>
              <a:t>
</a:t>
            </a:r>
            <a:r>
              <a:rPr sz="3468" b="1">
                <a:solidFill>
                  <a:srgbClr val="212121"/>
                </a:solidFill>
                <a:latin typeface="Montserrat"/>
              </a:rPr>
              <a:t>Journalière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3466" y="4583411"/>
            <a:ext cx="8705632" cy="35817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2600"/>
              </a:spcAft>
            </a:pPr>
            <a:r>
              <a:rPr sz="1435" b="0" dirty="0" err="1">
                <a:solidFill>
                  <a:srgbClr val="757575"/>
                </a:solidFill>
                <a:latin typeface="Roboto Slab"/>
              </a:rPr>
              <a:t>Approche</a:t>
            </a:r>
            <a:r>
              <a:rPr sz="1435" b="0" dirty="0">
                <a:solidFill>
                  <a:srgbClr val="757575"/>
                </a:solidFill>
                <a:latin typeface="Roboto Slab"/>
              </a:rPr>
              <a:t> par </a:t>
            </a:r>
            <a:r>
              <a:rPr sz="1435" b="0" dirty="0" err="1">
                <a:solidFill>
                  <a:srgbClr val="757575"/>
                </a:solidFill>
                <a:latin typeface="Roboto Slab"/>
              </a:rPr>
              <a:t>régression</a:t>
            </a:r>
            <a:r>
              <a:rPr sz="1435" b="0" dirty="0">
                <a:solidFill>
                  <a:srgbClr val="757575"/>
                </a:solidFill>
                <a:latin typeface="Roboto Slab"/>
              </a:rPr>
              <a:t> : Random Forest, Gradient Boosting, </a:t>
            </a:r>
            <a:r>
              <a:rPr sz="1435" b="0" dirty="0" err="1">
                <a:solidFill>
                  <a:srgbClr val="757575"/>
                </a:solidFill>
                <a:latin typeface="Roboto Slab"/>
              </a:rPr>
              <a:t>Régression</a:t>
            </a:r>
            <a:r>
              <a:rPr sz="1435" b="0" dirty="0">
                <a:solidFill>
                  <a:srgbClr val="757575"/>
                </a:solidFill>
                <a:latin typeface="Roboto Slab"/>
              </a:rPr>
              <a:t> </a:t>
            </a:r>
            <a:r>
              <a:rPr sz="1435" b="0" dirty="0" err="1">
                <a:solidFill>
                  <a:srgbClr val="757575"/>
                </a:solidFill>
                <a:latin typeface="Roboto Slab"/>
              </a:rPr>
              <a:t>Linéaire</a:t>
            </a:r>
            <a:endParaRPr sz="1435" b="0" dirty="0">
              <a:solidFill>
                <a:srgbClr val="757575"/>
              </a:solidFill>
              <a:latin typeface="Roboto Slab"/>
            </a:endParaRP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33466" y="5557837"/>
            <a:ext cx="123821" cy="14287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552536" y="5484107"/>
            <a:ext cx="1143198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1" dirty="0">
                <a:solidFill>
                  <a:srgbClr val="616161"/>
                </a:solidFill>
                <a:latin typeface="Montserrat"/>
              </a:rPr>
              <a:t>AZZA Imane</a:t>
            </a:r>
            <a:endParaRPr sz="1200" b="1" dirty="0">
              <a:solidFill>
                <a:srgbClr val="616161"/>
              </a:solidFill>
              <a:latin typeface="Montserrat"/>
            </a:endParaRP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51521" y="5545384"/>
            <a:ext cx="142871" cy="1428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89640" y="5471654"/>
            <a:ext cx="1816459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616161"/>
                </a:solidFill>
                <a:latin typeface="Montserrat"/>
              </a:rPr>
              <a:t>Master 1 ISI - SUPMTI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97534" y="5529438"/>
            <a:ext cx="104772" cy="14287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997554" y="5455708"/>
            <a:ext cx="1200906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16161"/>
                </a:solidFill>
                <a:latin typeface="Montserrat"/>
              </a:rPr>
              <a:t>Rabat, Maroc</a:t>
            </a:r>
          </a:p>
        </p:txBody>
      </p:sp>
      <p:pic>
        <p:nvPicPr>
          <p:cNvPr id="19" name="Picture 9" descr="image.png">
            <a:extLst>
              <a:ext uri="{FF2B5EF4-FFF2-40B4-BE49-F238E27FC236}">
                <a16:creationId xmlns:a16="http://schemas.microsoft.com/office/drawing/2014/main" id="{6BE18F11-DDF8-FFD8-30FA-EDA73EC8484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33466" y="5819774"/>
            <a:ext cx="123821" cy="142875"/>
          </a:xfrm>
          <a:prstGeom prst="rect">
            <a:avLst/>
          </a:prstGeom>
        </p:spPr>
      </p:pic>
      <p:sp>
        <p:nvSpPr>
          <p:cNvPr id="20" name="TextBox 10">
            <a:extLst>
              <a:ext uri="{FF2B5EF4-FFF2-40B4-BE49-F238E27FC236}">
                <a16:creationId xmlns:a16="http://schemas.microsoft.com/office/drawing/2014/main" id="{8F21C5E2-5765-C028-732B-0BC15DB83625}"/>
              </a:ext>
            </a:extLst>
          </p:cNvPr>
          <p:cNvSpPr txBox="1"/>
          <p:nvPr/>
        </p:nvSpPr>
        <p:spPr>
          <a:xfrm>
            <a:off x="1552536" y="5746044"/>
            <a:ext cx="1991186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1" dirty="0">
                <a:solidFill>
                  <a:srgbClr val="616161"/>
                </a:solidFill>
                <a:latin typeface="Montserrat"/>
              </a:rPr>
              <a:t>LAMKHANTAR Youssef</a:t>
            </a:r>
            <a:endParaRPr sz="1200" b="1" dirty="0">
              <a:solidFill>
                <a:srgbClr val="616161"/>
              </a:solidFill>
              <a:latin typeface="Montserrat"/>
            </a:endParaRPr>
          </a:p>
        </p:txBody>
      </p:sp>
      <p:pic>
        <p:nvPicPr>
          <p:cNvPr id="22" name="Picture 12" descr="image.png">
            <a:extLst>
              <a:ext uri="{FF2B5EF4-FFF2-40B4-BE49-F238E27FC236}">
                <a16:creationId xmlns:a16="http://schemas.microsoft.com/office/drawing/2014/main" id="{9F6EFE4D-1720-1B40-8F42-F9B9C5431EBC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51521" y="5807321"/>
            <a:ext cx="142871" cy="142875"/>
          </a:xfrm>
          <a:prstGeom prst="rect">
            <a:avLst/>
          </a:prstGeom>
        </p:spPr>
      </p:pic>
      <p:sp>
        <p:nvSpPr>
          <p:cNvPr id="23" name="TextBox 13">
            <a:extLst>
              <a:ext uri="{FF2B5EF4-FFF2-40B4-BE49-F238E27FC236}">
                <a16:creationId xmlns:a16="http://schemas.microsoft.com/office/drawing/2014/main" id="{198DEE7C-D8D6-497F-B647-3B9737DDD1A3}"/>
              </a:ext>
            </a:extLst>
          </p:cNvPr>
          <p:cNvSpPr txBox="1"/>
          <p:nvPr/>
        </p:nvSpPr>
        <p:spPr>
          <a:xfrm>
            <a:off x="4789640" y="5733591"/>
            <a:ext cx="1816459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16161"/>
                </a:solidFill>
                <a:latin typeface="Montserrat"/>
              </a:rPr>
              <a:t>Master 1 ISI - SUPMTI</a:t>
            </a:r>
          </a:p>
        </p:txBody>
      </p:sp>
      <p:pic>
        <p:nvPicPr>
          <p:cNvPr id="25" name="Picture 15" descr="image.png">
            <a:extLst>
              <a:ext uri="{FF2B5EF4-FFF2-40B4-BE49-F238E27FC236}">
                <a16:creationId xmlns:a16="http://schemas.microsoft.com/office/drawing/2014/main" id="{7A6FA493-8D99-9457-804F-6304D78075E7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97534" y="5791375"/>
            <a:ext cx="104772" cy="142875"/>
          </a:xfrm>
          <a:prstGeom prst="rect">
            <a:avLst/>
          </a:prstGeom>
        </p:spPr>
      </p:pic>
      <p:sp>
        <p:nvSpPr>
          <p:cNvPr id="26" name="TextBox 16">
            <a:extLst>
              <a:ext uri="{FF2B5EF4-FFF2-40B4-BE49-F238E27FC236}">
                <a16:creationId xmlns:a16="http://schemas.microsoft.com/office/drawing/2014/main" id="{71271453-9BBA-8F17-DD15-C3C403FED572}"/>
              </a:ext>
            </a:extLst>
          </p:cNvPr>
          <p:cNvSpPr txBox="1"/>
          <p:nvPr/>
        </p:nvSpPr>
        <p:spPr>
          <a:xfrm>
            <a:off x="7997554" y="5717645"/>
            <a:ext cx="1200906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16161"/>
                </a:solidFill>
                <a:latin typeface="Montserrat"/>
              </a:rPr>
              <a:t>Rabat, Maroc</a:t>
            </a:r>
          </a:p>
        </p:txBody>
      </p:sp>
      <p:pic>
        <p:nvPicPr>
          <p:cNvPr id="27" name="Picture 9" descr="image.png">
            <a:extLst>
              <a:ext uri="{FF2B5EF4-FFF2-40B4-BE49-F238E27FC236}">
                <a16:creationId xmlns:a16="http://schemas.microsoft.com/office/drawing/2014/main" id="{67EC8201-A854-879D-3DE9-304F1E0E0B7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33466" y="6064551"/>
            <a:ext cx="123821" cy="142875"/>
          </a:xfrm>
          <a:prstGeom prst="rect">
            <a:avLst/>
          </a:prstGeom>
        </p:spPr>
      </p:pic>
      <p:sp>
        <p:nvSpPr>
          <p:cNvPr id="28" name="TextBox 10">
            <a:extLst>
              <a:ext uri="{FF2B5EF4-FFF2-40B4-BE49-F238E27FC236}">
                <a16:creationId xmlns:a16="http://schemas.microsoft.com/office/drawing/2014/main" id="{70A26E4B-8CF9-345F-2E58-7BB865C3F250}"/>
              </a:ext>
            </a:extLst>
          </p:cNvPr>
          <p:cNvSpPr txBox="1"/>
          <p:nvPr/>
        </p:nvSpPr>
        <p:spPr>
          <a:xfrm>
            <a:off x="1552536" y="5990821"/>
            <a:ext cx="1968744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616161"/>
                </a:solidFill>
                <a:latin typeface="Montserrat"/>
              </a:rPr>
              <a:t>MANI Mohammed Adil</a:t>
            </a:r>
          </a:p>
        </p:txBody>
      </p:sp>
      <p:pic>
        <p:nvPicPr>
          <p:cNvPr id="30" name="Picture 12" descr="image.png">
            <a:extLst>
              <a:ext uri="{FF2B5EF4-FFF2-40B4-BE49-F238E27FC236}">
                <a16:creationId xmlns:a16="http://schemas.microsoft.com/office/drawing/2014/main" id="{0AB20BE5-1366-A9D1-C635-D6DAADD1711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51521" y="6052098"/>
            <a:ext cx="142871" cy="142875"/>
          </a:xfrm>
          <a:prstGeom prst="rect">
            <a:avLst/>
          </a:prstGeom>
        </p:spPr>
      </p:pic>
      <p:sp>
        <p:nvSpPr>
          <p:cNvPr id="31" name="TextBox 13">
            <a:extLst>
              <a:ext uri="{FF2B5EF4-FFF2-40B4-BE49-F238E27FC236}">
                <a16:creationId xmlns:a16="http://schemas.microsoft.com/office/drawing/2014/main" id="{6E9EFE2D-7432-E1D7-8A47-2D864B52766B}"/>
              </a:ext>
            </a:extLst>
          </p:cNvPr>
          <p:cNvSpPr txBox="1"/>
          <p:nvPr/>
        </p:nvSpPr>
        <p:spPr>
          <a:xfrm>
            <a:off x="4789640" y="5978368"/>
            <a:ext cx="1816459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616161"/>
                </a:solidFill>
                <a:latin typeface="Montserrat"/>
              </a:rPr>
              <a:t>Master 1 ISI - SUPMTI</a:t>
            </a:r>
          </a:p>
        </p:txBody>
      </p:sp>
      <p:pic>
        <p:nvPicPr>
          <p:cNvPr id="33" name="Picture 15" descr="image.png">
            <a:extLst>
              <a:ext uri="{FF2B5EF4-FFF2-40B4-BE49-F238E27FC236}">
                <a16:creationId xmlns:a16="http://schemas.microsoft.com/office/drawing/2014/main" id="{E185047C-03B0-6BA4-3885-A8D2678AF046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97534" y="6036152"/>
            <a:ext cx="104772" cy="142875"/>
          </a:xfrm>
          <a:prstGeom prst="rect">
            <a:avLst/>
          </a:prstGeom>
        </p:spPr>
      </p:pic>
      <p:sp>
        <p:nvSpPr>
          <p:cNvPr id="34" name="TextBox 16">
            <a:extLst>
              <a:ext uri="{FF2B5EF4-FFF2-40B4-BE49-F238E27FC236}">
                <a16:creationId xmlns:a16="http://schemas.microsoft.com/office/drawing/2014/main" id="{10856705-4BBB-1318-9B11-EAC13263CE9E}"/>
              </a:ext>
            </a:extLst>
          </p:cNvPr>
          <p:cNvSpPr txBox="1"/>
          <p:nvPr/>
        </p:nvSpPr>
        <p:spPr>
          <a:xfrm>
            <a:off x="7997554" y="5962422"/>
            <a:ext cx="1200906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16161"/>
                </a:solidFill>
                <a:latin typeface="Montserrat"/>
              </a:rPr>
              <a:t>Rabat, Maroc</a:t>
            </a:r>
          </a:p>
        </p:txBody>
      </p:sp>
      <p:sp>
        <p:nvSpPr>
          <p:cNvPr id="35" name="Espace réservé du numéro de diapositive 34">
            <a:extLst>
              <a:ext uri="{FF2B5EF4-FFF2-40B4-BE49-F238E27FC236}">
                <a16:creationId xmlns:a16="http://schemas.microsoft.com/office/drawing/2014/main" id="{7C7D15D5-CFDB-CAC3-9AE0-B2B8F0D77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0"/>
            <a:ext cx="2651624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71485" y="3200400"/>
            <a:ext cx="3047923" cy="5333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1950"/>
              </a:spcAft>
            </a:pPr>
            <a:r>
              <a:rPr sz="3348" b="1">
                <a:solidFill>
                  <a:srgbClr val="212121"/>
                </a:solidFill>
                <a:latin typeface="Montserrat"/>
              </a:rPr>
              <a:t>Plan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485" y="4019549"/>
            <a:ext cx="571485" cy="57150"/>
          </a:xfrm>
          <a:prstGeom prst="roundRect">
            <a:avLst>
              <a:gd name="adj" fmla="val 100000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2052" y="186055"/>
            <a:ext cx="152396" cy="1714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>
            <a:alphaModFix amt="5000"/>
          </a:blip>
          <a:stretch>
            <a:fillRect/>
          </a:stretch>
        </p:blipFill>
        <p:spPr>
          <a:xfrm>
            <a:off x="8417771" y="3045100"/>
            <a:ext cx="3809904" cy="38099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278782" y="1716538"/>
            <a:ext cx="586956" cy="3756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42A5F5"/>
                </a:solidFill>
                <a:latin typeface="Montserrat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44666" y="1567956"/>
            <a:ext cx="1502271" cy="29610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260"/>
              </a:spcAft>
            </a:pPr>
            <a:r>
              <a:rPr sz="1600" b="1">
                <a:solidFill>
                  <a:srgbClr val="424242"/>
                </a:solidFill>
                <a:latin typeface="Montserrat"/>
              </a:rPr>
              <a:t>Introduction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44666" y="1821789"/>
            <a:ext cx="1543949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E9E9E"/>
                </a:solidFill>
                <a:latin typeface="Montserrat"/>
              </a:rPr>
              <a:t>Contexte et objectifs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86637" y="4821688"/>
            <a:ext cx="670312" cy="3756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dirty="0">
                <a:solidFill>
                  <a:srgbClr val="4DB6AC"/>
                </a:solidFill>
                <a:latin typeface="Montserrat"/>
              </a:rPr>
              <a:t>0</a:t>
            </a:r>
            <a:r>
              <a:rPr lang="fr-FR" sz="3200" b="1" dirty="0">
                <a:solidFill>
                  <a:srgbClr val="4DB6AC"/>
                </a:solidFill>
                <a:latin typeface="Montserrat"/>
              </a:rPr>
              <a:t>5</a:t>
            </a:r>
            <a:endParaRPr sz="3200" b="1" dirty="0">
              <a:solidFill>
                <a:srgbClr val="4DB6AC"/>
              </a:solidFill>
              <a:latin typeface="Montserrat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052522" y="4673106"/>
            <a:ext cx="2651623" cy="29610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260"/>
              </a:spcAft>
            </a:pPr>
            <a:r>
              <a:rPr sz="1600" b="1">
                <a:solidFill>
                  <a:srgbClr val="424242"/>
                </a:solidFill>
                <a:latin typeface="Montserrat"/>
              </a:rPr>
              <a:t>Modèle Random Forest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52522" y="4926939"/>
            <a:ext cx="2026452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E9E9E"/>
                </a:solidFill>
                <a:latin typeface="Montserrat"/>
              </a:rPr>
              <a:t>Premier modèle, DJU, Lag-1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78782" y="2469013"/>
            <a:ext cx="668709" cy="3756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5C6BC0"/>
                </a:solidFill>
                <a:latin typeface="Montserrat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44666" y="2320431"/>
            <a:ext cx="1311513" cy="29610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260"/>
              </a:spcAft>
            </a:pPr>
            <a:r>
              <a:rPr sz="1600" b="1">
                <a:solidFill>
                  <a:srgbClr val="424242"/>
                </a:solidFill>
                <a:latin typeface="Montserrat"/>
              </a:rPr>
              <a:t>Hypothèse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44666" y="2574266"/>
            <a:ext cx="2781467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dirty="0">
                <a:solidFill>
                  <a:srgbClr val="9E9E9E"/>
                </a:solidFill>
                <a:latin typeface="Montserrat"/>
              </a:rPr>
              <a:t>Relation avec la météo et le calendrier</a:t>
            </a:r>
            <a:endParaRPr sz="1050" b="0" dirty="0">
              <a:solidFill>
                <a:srgbClr val="9E9E9E"/>
              </a:solidFill>
              <a:latin typeface="Montserrat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286637" y="5663674"/>
            <a:ext cx="687945" cy="3756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dirty="0">
                <a:solidFill>
                  <a:srgbClr val="7E57C2"/>
                </a:solidFill>
                <a:latin typeface="Montserrat"/>
              </a:rPr>
              <a:t>0</a:t>
            </a:r>
            <a:r>
              <a:rPr lang="fr-FR" sz="3200" b="1" dirty="0">
                <a:solidFill>
                  <a:srgbClr val="7E57C2"/>
                </a:solidFill>
                <a:latin typeface="Montserrat"/>
              </a:rPr>
              <a:t>6</a:t>
            </a:r>
            <a:endParaRPr sz="3200" b="1" dirty="0">
              <a:solidFill>
                <a:srgbClr val="7E57C2"/>
              </a:solidFill>
              <a:latin typeface="Montserrat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167263" y="5530358"/>
            <a:ext cx="2117824" cy="29610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260"/>
              </a:spcAft>
            </a:pPr>
            <a:r>
              <a:rPr sz="1600" b="1">
                <a:solidFill>
                  <a:srgbClr val="424242"/>
                </a:solidFill>
                <a:latin typeface="Montserrat"/>
              </a:rPr>
              <a:t>Gradient Boosting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7263" y="5784192"/>
            <a:ext cx="1912639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E9E9E"/>
                </a:solidFill>
                <a:latin typeface="Montserrat"/>
              </a:rPr>
              <a:t>Entraînement et résultats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78782" y="3221489"/>
            <a:ext cx="670312" cy="3756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AB47BC"/>
                </a:solidFill>
                <a:latin typeface="Montserrat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44666" y="3072905"/>
            <a:ext cx="2454454" cy="29610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260"/>
              </a:spcAft>
            </a:pPr>
            <a:r>
              <a:rPr sz="1600" b="1">
                <a:solidFill>
                  <a:srgbClr val="424242"/>
                </a:solidFill>
                <a:latin typeface="Montserrat"/>
              </a:rPr>
              <a:t>Collecte des données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44666" y="3326741"/>
            <a:ext cx="3541290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9E9E9E"/>
                </a:solidFill>
                <a:latin typeface="Montserrat"/>
              </a:rPr>
              <a:t>Dataset</a:t>
            </a:r>
            <a:r>
              <a:rPr lang="fr-FR" sz="1200" b="0" dirty="0">
                <a:solidFill>
                  <a:srgbClr val="9E9E9E"/>
                </a:solidFill>
                <a:latin typeface="Montserrat"/>
              </a:rPr>
              <a:t> Consommation</a:t>
            </a:r>
            <a:r>
              <a:rPr sz="1200" b="0" dirty="0">
                <a:solidFill>
                  <a:srgbClr val="9E9E9E"/>
                </a:solidFill>
                <a:latin typeface="Montserrat"/>
              </a:rPr>
              <a:t>, </a:t>
            </a:r>
            <a:r>
              <a:rPr sz="1200" b="0" dirty="0" err="1">
                <a:solidFill>
                  <a:srgbClr val="9E9E9E"/>
                </a:solidFill>
                <a:latin typeface="Montserrat"/>
              </a:rPr>
              <a:t>Météo</a:t>
            </a:r>
            <a:r>
              <a:rPr sz="1200" b="0" dirty="0">
                <a:solidFill>
                  <a:srgbClr val="9E9E9E"/>
                </a:solidFill>
                <a:latin typeface="Montserrat"/>
              </a:rPr>
              <a:t>, </a:t>
            </a:r>
            <a:r>
              <a:rPr sz="1200" b="0" dirty="0" err="1">
                <a:solidFill>
                  <a:srgbClr val="9E9E9E"/>
                </a:solidFill>
                <a:latin typeface="Montserrat"/>
              </a:rPr>
              <a:t>Jours</a:t>
            </a:r>
            <a:r>
              <a:rPr sz="1200" b="0" dirty="0">
                <a:solidFill>
                  <a:srgbClr val="9E9E9E"/>
                </a:solidFill>
                <a:latin typeface="Montserrat"/>
              </a:rPr>
              <a:t> </a:t>
            </a:r>
            <a:r>
              <a:rPr sz="1200" b="0" dirty="0" err="1">
                <a:solidFill>
                  <a:srgbClr val="9E9E9E"/>
                </a:solidFill>
                <a:latin typeface="Montserrat"/>
              </a:rPr>
              <a:t>fériés</a:t>
            </a:r>
            <a:endParaRPr sz="1200" b="0" dirty="0">
              <a:solidFill>
                <a:srgbClr val="9E9E9E"/>
              </a:solidFill>
              <a:latin typeface="Montserrat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198992" y="1676223"/>
            <a:ext cx="681533" cy="3756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dirty="0">
                <a:solidFill>
                  <a:srgbClr val="42A5F5"/>
                </a:solidFill>
                <a:latin typeface="Montserrat"/>
              </a:rPr>
              <a:t>0</a:t>
            </a:r>
            <a:r>
              <a:rPr lang="fr-FR" sz="3200" b="1" dirty="0">
                <a:solidFill>
                  <a:srgbClr val="42A5F5"/>
                </a:solidFill>
                <a:latin typeface="Montserrat"/>
              </a:rPr>
              <a:t>7</a:t>
            </a:r>
            <a:endParaRPr sz="3200" b="1" dirty="0">
              <a:solidFill>
                <a:srgbClr val="42A5F5"/>
              </a:solidFill>
              <a:latin typeface="Montserrat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9079618" y="1542905"/>
            <a:ext cx="2268506" cy="29610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260"/>
              </a:spcAft>
            </a:pPr>
            <a:r>
              <a:rPr sz="1600" b="1">
                <a:solidFill>
                  <a:srgbClr val="424242"/>
                </a:solidFill>
                <a:latin typeface="Montserrat"/>
              </a:rPr>
              <a:t>Régression Linéaire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9618" y="1796740"/>
            <a:ext cx="1973554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E9E9E"/>
                </a:solidFill>
                <a:latin typeface="Montserrat"/>
              </a:rPr>
              <a:t>Comparaison des modèles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78782" y="3983488"/>
            <a:ext cx="708784" cy="3756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4DB6AC"/>
                </a:solidFill>
                <a:latin typeface="Montserrat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44666" y="3834905"/>
            <a:ext cx="2422394" cy="29610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260"/>
              </a:spcAft>
            </a:pPr>
            <a:r>
              <a:rPr sz="1600" b="1">
                <a:solidFill>
                  <a:srgbClr val="424242"/>
                </a:solidFill>
                <a:latin typeface="Montserrat"/>
              </a:rPr>
              <a:t>Analyse des données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44666" y="4079215"/>
            <a:ext cx="1624099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dirty="0" err="1">
                <a:solidFill>
                  <a:srgbClr val="9E9E9E"/>
                </a:solidFill>
                <a:latin typeface="Montserrat"/>
              </a:rPr>
              <a:t>Graphes</a:t>
            </a:r>
            <a:r>
              <a:rPr sz="1050" b="0" dirty="0">
                <a:solidFill>
                  <a:srgbClr val="9E9E9E"/>
                </a:solidFill>
                <a:latin typeface="Montserrat"/>
              </a:rPr>
              <a:t> et validation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0184" y="3362150"/>
            <a:ext cx="687945" cy="3756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5C6BC0"/>
                </a:solidFill>
                <a:latin typeface="Montserrat"/>
              </a:rPr>
              <a:t>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00810" y="3228833"/>
            <a:ext cx="1271438" cy="29610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260"/>
              </a:spcAft>
            </a:pPr>
            <a:r>
              <a:rPr sz="1600" b="1" dirty="0" err="1">
                <a:solidFill>
                  <a:srgbClr val="424242"/>
                </a:solidFill>
                <a:latin typeface="Montserrat"/>
              </a:rPr>
              <a:t>Prédiction</a:t>
            </a:r>
            <a:endParaRPr sz="1600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9100810" y="3473143"/>
            <a:ext cx="1535933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E9E9E"/>
                </a:solidFill>
                <a:latin typeface="Montserrat"/>
              </a:rPr>
              <a:t>Résultats et erreurs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88061" y="4098235"/>
            <a:ext cx="586956" cy="3756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dirty="0">
                <a:solidFill>
                  <a:srgbClr val="AB47BC"/>
                </a:solidFill>
                <a:latin typeface="Montserrat"/>
              </a:rPr>
              <a:t>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00810" y="3981309"/>
            <a:ext cx="939616" cy="29610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260"/>
              </a:spcAft>
            </a:pPr>
            <a:r>
              <a:rPr lang="fr-FR" sz="1600" b="1" dirty="0">
                <a:solidFill>
                  <a:srgbClr val="424242"/>
                </a:solidFill>
                <a:latin typeface="Montserrat"/>
              </a:rPr>
              <a:t>Limites</a:t>
            </a:r>
            <a:endParaRPr sz="1600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43" name="TextBox 33">
            <a:extLst>
              <a:ext uri="{FF2B5EF4-FFF2-40B4-BE49-F238E27FC236}">
                <a16:creationId xmlns:a16="http://schemas.microsoft.com/office/drawing/2014/main" id="{0DBBC0C6-85F5-DBA9-79FC-1D067AE83267}"/>
              </a:ext>
            </a:extLst>
          </p:cNvPr>
          <p:cNvSpPr txBox="1"/>
          <p:nvPr/>
        </p:nvSpPr>
        <p:spPr>
          <a:xfrm>
            <a:off x="8198993" y="2438225"/>
            <a:ext cx="697563" cy="3756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dirty="0">
                <a:solidFill>
                  <a:srgbClr val="7E57C2"/>
                </a:solidFill>
                <a:latin typeface="Montserrat"/>
              </a:rPr>
              <a:t>0</a:t>
            </a:r>
            <a:r>
              <a:rPr lang="fr-FR" sz="3200" b="1" dirty="0">
                <a:solidFill>
                  <a:srgbClr val="7E57C2"/>
                </a:solidFill>
                <a:latin typeface="Montserrat"/>
              </a:rPr>
              <a:t>8</a:t>
            </a:r>
            <a:endParaRPr sz="3200" b="1" dirty="0">
              <a:solidFill>
                <a:srgbClr val="7E57C2"/>
              </a:solidFill>
              <a:latin typeface="Montserrat"/>
            </a:endParaRPr>
          </a:p>
        </p:txBody>
      </p:sp>
      <p:sp>
        <p:nvSpPr>
          <p:cNvPr id="44" name="TextBox 34">
            <a:extLst>
              <a:ext uri="{FF2B5EF4-FFF2-40B4-BE49-F238E27FC236}">
                <a16:creationId xmlns:a16="http://schemas.microsoft.com/office/drawing/2014/main" id="{2F6A7F37-C56C-CEAD-2AD1-4EAA3E97C575}"/>
              </a:ext>
            </a:extLst>
          </p:cNvPr>
          <p:cNvSpPr txBox="1"/>
          <p:nvPr/>
        </p:nvSpPr>
        <p:spPr>
          <a:xfrm>
            <a:off x="9079618" y="2304908"/>
            <a:ext cx="1577611" cy="29610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260"/>
              </a:spcAft>
            </a:pPr>
            <a:r>
              <a:rPr sz="1600" b="1">
                <a:solidFill>
                  <a:srgbClr val="424242"/>
                </a:solidFill>
                <a:latin typeface="Montserrat"/>
              </a:rPr>
              <a:t>Comparaison</a:t>
            </a:r>
          </a:p>
        </p:txBody>
      </p:sp>
      <p:sp>
        <p:nvSpPr>
          <p:cNvPr id="45" name="TextBox 35">
            <a:extLst>
              <a:ext uri="{FF2B5EF4-FFF2-40B4-BE49-F238E27FC236}">
                <a16:creationId xmlns:a16="http://schemas.microsoft.com/office/drawing/2014/main" id="{44EC8FF6-3A07-F0AB-E718-4BF375E51319}"/>
              </a:ext>
            </a:extLst>
          </p:cNvPr>
          <p:cNvSpPr txBox="1"/>
          <p:nvPr/>
        </p:nvSpPr>
        <p:spPr>
          <a:xfrm>
            <a:off x="9079618" y="2549217"/>
            <a:ext cx="1866152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dirty="0" err="1">
                <a:solidFill>
                  <a:srgbClr val="9E9E9E"/>
                </a:solidFill>
                <a:latin typeface="Montserrat"/>
              </a:rPr>
              <a:t>Métriques</a:t>
            </a:r>
            <a:r>
              <a:rPr sz="1050" b="0" dirty="0">
                <a:solidFill>
                  <a:srgbClr val="9E9E9E"/>
                </a:solidFill>
                <a:latin typeface="Montserrat"/>
              </a:rPr>
              <a:t> R², RMSE, MAE</a:t>
            </a:r>
          </a:p>
        </p:txBody>
      </p:sp>
      <p:sp>
        <p:nvSpPr>
          <p:cNvPr id="46" name="Espace réservé du numéro de diapositive 45">
            <a:extLst>
              <a:ext uri="{FF2B5EF4-FFF2-40B4-BE49-F238E27FC236}">
                <a16:creationId xmlns:a16="http://schemas.microsoft.com/office/drawing/2014/main" id="{38F6A13B-88AD-0AF2-C45B-20692DFCE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 dirty="0"/>
          </a:p>
        </p:txBody>
      </p:sp>
      <p:sp>
        <p:nvSpPr>
          <p:cNvPr id="47" name="TextBox 36">
            <a:extLst>
              <a:ext uri="{FF2B5EF4-FFF2-40B4-BE49-F238E27FC236}">
                <a16:creationId xmlns:a16="http://schemas.microsoft.com/office/drawing/2014/main" id="{39BF449D-582B-95AD-35D4-38A919713B44}"/>
              </a:ext>
            </a:extLst>
          </p:cNvPr>
          <p:cNvSpPr txBox="1"/>
          <p:nvPr/>
        </p:nvSpPr>
        <p:spPr>
          <a:xfrm>
            <a:off x="8304612" y="5475834"/>
            <a:ext cx="550087" cy="3756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dirty="0">
                <a:solidFill>
                  <a:schemeClr val="accent3">
                    <a:lumMod val="75000"/>
                  </a:schemeClr>
                </a:solidFill>
                <a:latin typeface="Montserrat"/>
              </a:rPr>
              <a:t>1</a:t>
            </a:r>
            <a:r>
              <a:rPr lang="fr-FR" sz="3200" b="1" dirty="0">
                <a:solidFill>
                  <a:schemeClr val="accent3">
                    <a:lumMod val="75000"/>
                  </a:schemeClr>
                </a:solidFill>
                <a:latin typeface="Montserrat"/>
              </a:rPr>
              <a:t>2</a:t>
            </a:r>
            <a:endParaRPr sz="3200" b="1" dirty="0">
              <a:solidFill>
                <a:schemeClr val="accent3">
                  <a:lumMod val="75000"/>
                </a:schemeClr>
              </a:solidFill>
              <a:latin typeface="Montserrat"/>
            </a:endParaRPr>
          </a:p>
        </p:txBody>
      </p:sp>
      <p:sp>
        <p:nvSpPr>
          <p:cNvPr id="48" name="TextBox 37">
            <a:extLst>
              <a:ext uri="{FF2B5EF4-FFF2-40B4-BE49-F238E27FC236}">
                <a16:creationId xmlns:a16="http://schemas.microsoft.com/office/drawing/2014/main" id="{8F3EF052-D244-12BE-ED63-3C63FBD53679}"/>
              </a:ext>
            </a:extLst>
          </p:cNvPr>
          <p:cNvSpPr txBox="1"/>
          <p:nvPr/>
        </p:nvSpPr>
        <p:spPr>
          <a:xfrm>
            <a:off x="8864667" y="5468729"/>
            <a:ext cx="1346779" cy="29610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260"/>
              </a:spcAft>
            </a:pPr>
            <a:r>
              <a:rPr lang="fr-FR" sz="1600" b="1" dirty="0">
                <a:solidFill>
                  <a:srgbClr val="424242"/>
                </a:solidFill>
                <a:latin typeface="Montserrat"/>
              </a:rPr>
              <a:t>Conclusion</a:t>
            </a:r>
            <a:endParaRPr sz="1600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40" name="TextBox 36">
            <a:extLst>
              <a:ext uri="{FF2B5EF4-FFF2-40B4-BE49-F238E27FC236}">
                <a16:creationId xmlns:a16="http://schemas.microsoft.com/office/drawing/2014/main" id="{FB0F9D8D-91C7-32BA-288F-6ED8B1585804}"/>
              </a:ext>
            </a:extLst>
          </p:cNvPr>
          <p:cNvSpPr txBox="1"/>
          <p:nvPr/>
        </p:nvSpPr>
        <p:spPr>
          <a:xfrm>
            <a:off x="8309600" y="4749287"/>
            <a:ext cx="468333" cy="3756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dirty="0">
                <a:solidFill>
                  <a:srgbClr val="AB47BC"/>
                </a:solidFill>
                <a:latin typeface="Montserrat"/>
              </a:rPr>
              <a:t>1</a:t>
            </a:r>
            <a:r>
              <a:rPr lang="fr-FR" sz="3200" b="1" dirty="0">
                <a:solidFill>
                  <a:srgbClr val="AB47BC"/>
                </a:solidFill>
                <a:latin typeface="Montserrat"/>
              </a:rPr>
              <a:t>1</a:t>
            </a:r>
            <a:endParaRPr sz="3200" b="1" dirty="0">
              <a:solidFill>
                <a:srgbClr val="AB47BC"/>
              </a:solidFill>
              <a:latin typeface="Montserrat"/>
            </a:endParaRPr>
          </a:p>
        </p:txBody>
      </p:sp>
      <p:sp>
        <p:nvSpPr>
          <p:cNvPr id="41" name="TextBox 37">
            <a:extLst>
              <a:ext uri="{FF2B5EF4-FFF2-40B4-BE49-F238E27FC236}">
                <a16:creationId xmlns:a16="http://schemas.microsoft.com/office/drawing/2014/main" id="{DBE6896A-23BC-429C-04BD-C251AE717BA4}"/>
              </a:ext>
            </a:extLst>
          </p:cNvPr>
          <p:cNvSpPr txBox="1"/>
          <p:nvPr/>
        </p:nvSpPr>
        <p:spPr>
          <a:xfrm>
            <a:off x="9122349" y="4632361"/>
            <a:ext cx="1532727" cy="29610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260"/>
              </a:spcAft>
            </a:pPr>
            <a:r>
              <a:rPr sz="1600" b="1" dirty="0">
                <a:solidFill>
                  <a:srgbClr val="424242"/>
                </a:solidFill>
                <a:latin typeface="Montserrat"/>
              </a:rPr>
              <a:t>Perspectives</a:t>
            </a:r>
          </a:p>
        </p:txBody>
      </p:sp>
      <p:sp>
        <p:nvSpPr>
          <p:cNvPr id="42" name="TextBox 38">
            <a:extLst>
              <a:ext uri="{FF2B5EF4-FFF2-40B4-BE49-F238E27FC236}">
                <a16:creationId xmlns:a16="http://schemas.microsoft.com/office/drawing/2014/main" id="{E19D345D-E6CF-45D2-C4C9-A796A9AF84C4}"/>
              </a:ext>
            </a:extLst>
          </p:cNvPr>
          <p:cNvSpPr txBox="1"/>
          <p:nvPr/>
        </p:nvSpPr>
        <p:spPr>
          <a:xfrm>
            <a:off x="9122349" y="4876670"/>
            <a:ext cx="1471813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E9E9E"/>
                </a:solidFill>
                <a:latin typeface="Montserrat"/>
              </a:rPr>
              <a:t>Recommandations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09584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1980" y="1295399"/>
            <a:ext cx="57148" cy="761999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TextBox 4"/>
          <p:cNvSpPr txBox="1"/>
          <p:nvPr/>
        </p:nvSpPr>
        <p:spPr>
          <a:xfrm>
            <a:off x="1057248" y="1573634"/>
            <a:ext cx="2851999" cy="510333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212121"/>
                </a:solidFill>
                <a:latin typeface="Montserrat"/>
              </a:rPr>
              <a:t>Introduction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0029" y="2457705"/>
            <a:ext cx="380990" cy="380999"/>
          </a:xfrm>
          <a:prstGeom prst="roundRect">
            <a:avLst>
              <a:gd name="adj" fmla="val 400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4802" y="2562479"/>
            <a:ext cx="171445" cy="1714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74622" y="2242448"/>
            <a:ext cx="2010422" cy="3219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260"/>
              </a:spcAft>
            </a:pPr>
            <a:r>
              <a:rPr sz="1200" b="1" dirty="0">
                <a:solidFill>
                  <a:srgbClr val="424242"/>
                </a:solidFill>
                <a:latin typeface="Montserrat"/>
              </a:rPr>
              <a:t>Gestion de la </a:t>
            </a:r>
            <a:r>
              <a:rPr sz="1200" b="1" dirty="0" err="1">
                <a:solidFill>
                  <a:srgbClr val="424242"/>
                </a:solidFill>
                <a:latin typeface="Montserrat"/>
              </a:rPr>
              <a:t>demande</a:t>
            </a:r>
            <a:endParaRPr sz="1200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285842" y="2500582"/>
            <a:ext cx="4333766" cy="456663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 err="1">
                <a:solidFill>
                  <a:srgbClr val="757575"/>
                </a:solidFill>
                <a:latin typeface="Montserrat"/>
              </a:rPr>
              <a:t>Prédiction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de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consommation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pour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facturation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et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efficacité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énergétique</a:t>
            </a:r>
            <a:endParaRPr sz="1000" b="0" dirty="0">
              <a:solidFill>
                <a:srgbClr val="757575"/>
              </a:solidFill>
              <a:latin typeface="Montserrat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80029" y="3362579"/>
            <a:ext cx="380990" cy="380999"/>
          </a:xfrm>
          <a:prstGeom prst="roundRect">
            <a:avLst>
              <a:gd name="adj" fmla="val 400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5277" y="3467355"/>
            <a:ext cx="190495" cy="1714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06176" y="3124920"/>
            <a:ext cx="1997598" cy="3219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260"/>
              </a:spcAft>
            </a:pPr>
            <a:r>
              <a:rPr sz="1200" b="1" dirty="0">
                <a:solidFill>
                  <a:srgbClr val="424242"/>
                </a:solidFill>
                <a:latin typeface="Montserrat"/>
              </a:rPr>
              <a:t>Foyer à </a:t>
            </a:r>
            <a:r>
              <a:rPr sz="1200" b="1" dirty="0" err="1">
                <a:solidFill>
                  <a:srgbClr val="424242"/>
                </a:solidFill>
                <a:latin typeface="Montserrat"/>
              </a:rPr>
              <a:t>Sceaux</a:t>
            </a:r>
            <a:r>
              <a:rPr sz="1200" b="1" dirty="0">
                <a:solidFill>
                  <a:srgbClr val="424242"/>
                </a:solidFill>
                <a:latin typeface="Montserrat"/>
              </a:rPr>
              <a:t>, France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5842" y="3491731"/>
            <a:ext cx="4333766" cy="277127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 err="1">
                <a:solidFill>
                  <a:srgbClr val="757575"/>
                </a:solidFill>
                <a:latin typeface="Montserrat"/>
              </a:rPr>
              <a:t>Données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minute-level UCI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0029" y="4267454"/>
            <a:ext cx="380990" cy="380999"/>
          </a:xfrm>
          <a:prstGeom prst="roundRect">
            <a:avLst>
              <a:gd name="adj" fmla="val 400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4802" y="4372230"/>
            <a:ext cx="171445" cy="1714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85842" y="4130038"/>
            <a:ext cx="1885388" cy="3219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260"/>
              </a:spcAft>
            </a:pPr>
            <a:r>
              <a:rPr sz="1200" b="1">
                <a:solidFill>
                  <a:srgbClr val="424242"/>
                </a:solidFill>
                <a:latin typeface="Montserrat"/>
              </a:rPr>
              <a:t>Modèle de régression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5842" y="4419150"/>
            <a:ext cx="3983719" cy="27712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 err="1">
                <a:solidFill>
                  <a:srgbClr val="757575"/>
                </a:solidFill>
                <a:latin typeface="Montserrat"/>
              </a:rPr>
              <a:t>Expliquer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et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prédire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consommation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via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météo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et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calendrier</a:t>
            </a:r>
            <a:endParaRPr sz="1000" b="0" dirty="0">
              <a:solidFill>
                <a:srgbClr val="757575"/>
              </a:solidFill>
              <a:latin typeface="Montserrat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80029" y="4972305"/>
            <a:ext cx="380990" cy="380999"/>
          </a:xfrm>
          <a:prstGeom prst="roundRect">
            <a:avLst>
              <a:gd name="adj" fmla="val 400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84802" y="5077080"/>
            <a:ext cx="171445" cy="1714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85842" y="4834888"/>
            <a:ext cx="1999202" cy="3219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260"/>
              </a:spcAft>
            </a:pPr>
            <a:r>
              <a:rPr sz="1200" b="1">
                <a:solidFill>
                  <a:srgbClr val="424242"/>
                </a:solidFill>
                <a:latin typeface="Montserrat"/>
              </a:rPr>
              <a:t>Métriques d'évaluation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5842" y="5135814"/>
            <a:ext cx="4333766" cy="453522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rgbClr val="757575"/>
                </a:solidFill>
                <a:latin typeface="Montserrat"/>
              </a:rPr>
              <a:t>Documentation impact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nettoyage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, feature engineering et </a:t>
            </a:r>
            <a:r>
              <a:rPr sz="1000" b="0" dirty="0" err="1">
                <a:solidFill>
                  <a:srgbClr val="757575"/>
                </a:solidFill>
                <a:latin typeface="Montserrat"/>
              </a:rPr>
              <a:t>filtrage</a:t>
            </a:r>
            <a:r>
              <a:rPr sz="1000" b="0" dirty="0">
                <a:solidFill>
                  <a:srgbClr val="757575"/>
                </a:solidFill>
                <a:latin typeface="Montserrat"/>
              </a:rPr>
              <a:t> (R², RMSE, MAE)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5847" y="0"/>
            <a:ext cx="6095847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824516" y="158503"/>
            <a:ext cx="1916535" cy="2001574"/>
          </a:xfrm>
          <a:prstGeom prst="roundRect">
            <a:avLst>
              <a:gd name="adj" fmla="val 50000"/>
            </a:avLst>
          </a:prstGeom>
          <a:solidFill>
            <a:srgbClr val="E3F2FD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Image 34">
            <a:extLst>
              <a:ext uri="{FF2B5EF4-FFF2-40B4-BE49-F238E27FC236}">
                <a16:creationId xmlns:a16="http://schemas.microsoft.com/office/drawing/2014/main" id="{F39F89F9-A23B-29E5-B495-4FA37A3B54A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8163" y="2932220"/>
            <a:ext cx="3746121" cy="1816681"/>
          </a:xfrm>
          <a:prstGeom prst="rect">
            <a:avLst/>
          </a:prstGeom>
          <a:ln w="38100" cap="sq">
            <a:solidFill>
              <a:srgbClr val="42A5F5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28" name="Rounded Rectangle 27"/>
          <p:cNvSpPr/>
          <p:nvPr/>
        </p:nvSpPr>
        <p:spPr>
          <a:xfrm>
            <a:off x="8552093" y="3651900"/>
            <a:ext cx="3504591" cy="952499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9" name="TextBox 28"/>
          <p:cNvSpPr txBox="1"/>
          <p:nvPr/>
        </p:nvSpPr>
        <p:spPr>
          <a:xfrm>
            <a:off x="8742589" y="3957334"/>
            <a:ext cx="723211" cy="341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rgbClr val="4DB6AC"/>
                </a:solidFill>
                <a:latin typeface="Montserrat"/>
              </a:rPr>
              <a:t>4</a:t>
            </a:r>
            <a:r>
              <a:rPr lang="fr-FR" sz="1600" b="1" dirty="0">
                <a:solidFill>
                  <a:srgbClr val="4DB6AC"/>
                </a:solidFill>
                <a:latin typeface="Montserrat"/>
              </a:rPr>
              <a:t> ans</a:t>
            </a:r>
            <a:endParaRPr sz="1600" b="1" dirty="0">
              <a:solidFill>
                <a:srgbClr val="4DB6AC"/>
              </a:solidFill>
              <a:latin typeface="Montserrat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9480462" y="4128149"/>
            <a:ext cx="1431739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dirty="0">
                <a:solidFill>
                  <a:srgbClr val="9E9E9E"/>
                </a:solidFill>
                <a:latin typeface="Montserrat"/>
              </a:rPr>
              <a:t>De chaque minute</a:t>
            </a:r>
            <a:endParaRPr sz="1050" b="0" dirty="0">
              <a:solidFill>
                <a:srgbClr val="9E9E9E"/>
              </a:solidFill>
              <a:latin typeface="Montserrat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9479646" y="3869880"/>
            <a:ext cx="2521781" cy="30271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130"/>
              </a:spcAft>
            </a:pPr>
            <a:r>
              <a:rPr lang="fr-FR" sz="1200" b="1" dirty="0">
                <a:solidFill>
                  <a:srgbClr val="424242"/>
                </a:solidFill>
                <a:latin typeface="Montserrat"/>
              </a:rPr>
              <a:t>Consommation d’une maison</a:t>
            </a:r>
            <a:endParaRPr sz="1200" b="1" dirty="0">
              <a:solidFill>
                <a:srgbClr val="424242"/>
              </a:solidFill>
              <a:latin typeface="Montserrat"/>
            </a:endParaRPr>
          </a:p>
        </p:txBody>
      </p:sp>
      <p:pic>
        <p:nvPicPr>
          <p:cNvPr id="37" name="Image 36">
            <a:extLst>
              <a:ext uri="{FF2B5EF4-FFF2-40B4-BE49-F238E27FC236}">
                <a16:creationId xmlns:a16="http://schemas.microsoft.com/office/drawing/2014/main" id="{C817DC14-76DE-90D7-0732-14B23FD656B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0272508">
            <a:off x="7456363" y="3543600"/>
            <a:ext cx="701195" cy="701195"/>
          </a:xfrm>
          <a:prstGeom prst="rect">
            <a:avLst/>
          </a:prstGeom>
        </p:spPr>
      </p:pic>
      <p:pic>
        <p:nvPicPr>
          <p:cNvPr id="39" name="Image 38">
            <a:extLst>
              <a:ext uri="{FF2B5EF4-FFF2-40B4-BE49-F238E27FC236}">
                <a16:creationId xmlns:a16="http://schemas.microsoft.com/office/drawing/2014/main" id="{7ACBD629-C826-A5AF-5143-ECA91599619D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r="47686"/>
          <a:stretch/>
        </p:blipFill>
        <p:spPr>
          <a:xfrm>
            <a:off x="7637855" y="5305093"/>
            <a:ext cx="4320224" cy="723900"/>
          </a:xfrm>
          <a:prstGeom prst="rect">
            <a:avLst/>
          </a:prstGeom>
          <a:ln w="38100" cap="sq">
            <a:solidFill>
              <a:srgbClr val="42A5F5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E41A3B13-41D1-AC5F-4215-52EE14CB38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75334" y="346464"/>
            <a:ext cx="1733163" cy="17331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Rounded Rectangle 27">
            <a:extLst>
              <a:ext uri="{FF2B5EF4-FFF2-40B4-BE49-F238E27FC236}">
                <a16:creationId xmlns:a16="http://schemas.microsoft.com/office/drawing/2014/main" id="{A0AE331F-AD46-51B3-DD7D-639617B6D533}"/>
              </a:ext>
            </a:extLst>
          </p:cNvPr>
          <p:cNvSpPr/>
          <p:nvPr/>
        </p:nvSpPr>
        <p:spPr>
          <a:xfrm>
            <a:off x="6709486" y="1326066"/>
            <a:ext cx="3504591" cy="952499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42" name="TextBox 28">
            <a:extLst>
              <a:ext uri="{FF2B5EF4-FFF2-40B4-BE49-F238E27FC236}">
                <a16:creationId xmlns:a16="http://schemas.microsoft.com/office/drawing/2014/main" id="{CA9BFFB0-68A8-C8FC-F15D-D8180AA7751C}"/>
              </a:ext>
            </a:extLst>
          </p:cNvPr>
          <p:cNvSpPr txBox="1"/>
          <p:nvPr/>
        </p:nvSpPr>
        <p:spPr>
          <a:xfrm>
            <a:off x="6899982" y="1631500"/>
            <a:ext cx="485967" cy="341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00" b="1" dirty="0">
                <a:solidFill>
                  <a:srgbClr val="4DB6AC"/>
                </a:solidFill>
                <a:latin typeface="Montserrat"/>
              </a:rPr>
              <a:t>Mr.</a:t>
            </a:r>
            <a:endParaRPr sz="1600" b="1" dirty="0">
              <a:solidFill>
                <a:srgbClr val="4DB6AC"/>
              </a:solidFill>
              <a:latin typeface="Montserrat"/>
            </a:endParaRPr>
          </a:p>
        </p:txBody>
      </p:sp>
      <p:sp>
        <p:nvSpPr>
          <p:cNvPr id="43" name="TextBox 30">
            <a:extLst>
              <a:ext uri="{FF2B5EF4-FFF2-40B4-BE49-F238E27FC236}">
                <a16:creationId xmlns:a16="http://schemas.microsoft.com/office/drawing/2014/main" id="{8A9AEC65-6AE5-9205-7CEB-7CE6EC2C526B}"/>
              </a:ext>
            </a:extLst>
          </p:cNvPr>
          <p:cNvSpPr txBox="1"/>
          <p:nvPr/>
        </p:nvSpPr>
        <p:spPr>
          <a:xfrm>
            <a:off x="7637855" y="1784171"/>
            <a:ext cx="2220416" cy="41857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dirty="0">
                <a:solidFill>
                  <a:srgbClr val="9E9E9E"/>
                </a:solidFill>
                <a:latin typeface="Montserrat"/>
              </a:rPr>
              <a:t>Chercheur senior en « Science </a:t>
            </a:r>
          </a:p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dirty="0">
                <a:solidFill>
                  <a:srgbClr val="9E9E9E"/>
                </a:solidFill>
                <a:latin typeface="Montserrat"/>
              </a:rPr>
              <a:t>des Données » à EDF R&amp;D</a:t>
            </a:r>
            <a:endParaRPr lang="fr-FR" sz="1050" b="0" dirty="0">
              <a:solidFill>
                <a:srgbClr val="9E9E9E"/>
              </a:solidFill>
              <a:latin typeface="Montserrat"/>
            </a:endParaRPr>
          </a:p>
        </p:txBody>
      </p:sp>
      <p:sp>
        <p:nvSpPr>
          <p:cNvPr id="44" name="TextBox 29">
            <a:extLst>
              <a:ext uri="{FF2B5EF4-FFF2-40B4-BE49-F238E27FC236}">
                <a16:creationId xmlns:a16="http://schemas.microsoft.com/office/drawing/2014/main" id="{FC38576D-7917-12D6-D240-19BC76A0DC16}"/>
              </a:ext>
            </a:extLst>
          </p:cNvPr>
          <p:cNvSpPr txBox="1"/>
          <p:nvPr/>
        </p:nvSpPr>
        <p:spPr>
          <a:xfrm>
            <a:off x="7637039" y="1448844"/>
            <a:ext cx="1442959" cy="30271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130"/>
              </a:spcAft>
            </a:pPr>
            <a:r>
              <a:rPr lang="fr-FR" sz="1200" b="1" dirty="0">
                <a:solidFill>
                  <a:srgbClr val="424242"/>
                </a:solidFill>
                <a:latin typeface="Montserrat"/>
              </a:rPr>
              <a:t>Georges </a:t>
            </a:r>
            <a:r>
              <a:rPr lang="fr-FR" sz="1200" b="1" dirty="0" err="1">
                <a:solidFill>
                  <a:srgbClr val="424242"/>
                </a:solidFill>
                <a:latin typeface="Montserrat"/>
              </a:rPr>
              <a:t>Hébrail</a:t>
            </a:r>
            <a:endParaRPr lang="fr-FR" sz="1200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46" name="Rounded Rectangle 27">
            <a:extLst>
              <a:ext uri="{FF2B5EF4-FFF2-40B4-BE49-F238E27FC236}">
                <a16:creationId xmlns:a16="http://schemas.microsoft.com/office/drawing/2014/main" id="{02EB26D9-C0B9-BC52-BFCA-C1E78FEEE61A}"/>
              </a:ext>
            </a:extLst>
          </p:cNvPr>
          <p:cNvSpPr/>
          <p:nvPr/>
        </p:nvSpPr>
        <p:spPr>
          <a:xfrm>
            <a:off x="6224965" y="5753983"/>
            <a:ext cx="3504591" cy="952499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47" name="TextBox 28">
            <a:extLst>
              <a:ext uri="{FF2B5EF4-FFF2-40B4-BE49-F238E27FC236}">
                <a16:creationId xmlns:a16="http://schemas.microsoft.com/office/drawing/2014/main" id="{CEF48195-F5C7-34FD-36FD-11252A84F567}"/>
              </a:ext>
            </a:extLst>
          </p:cNvPr>
          <p:cNvSpPr txBox="1"/>
          <p:nvPr/>
        </p:nvSpPr>
        <p:spPr>
          <a:xfrm>
            <a:off x="6415461" y="6059417"/>
            <a:ext cx="532453" cy="341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00" b="1" dirty="0">
                <a:solidFill>
                  <a:srgbClr val="4DB6AC"/>
                </a:solidFill>
                <a:latin typeface="Montserrat"/>
              </a:rPr>
              <a:t>334</a:t>
            </a:r>
            <a:endParaRPr sz="1600" b="1" dirty="0">
              <a:solidFill>
                <a:srgbClr val="4DB6AC"/>
              </a:solidFill>
              <a:latin typeface="Montserrat"/>
            </a:endParaRPr>
          </a:p>
        </p:txBody>
      </p:sp>
      <p:sp>
        <p:nvSpPr>
          <p:cNvPr id="48" name="TextBox 30">
            <a:extLst>
              <a:ext uri="{FF2B5EF4-FFF2-40B4-BE49-F238E27FC236}">
                <a16:creationId xmlns:a16="http://schemas.microsoft.com/office/drawing/2014/main" id="{238FC58A-6781-669E-F4AA-6415B5AA2305}"/>
              </a:ext>
            </a:extLst>
          </p:cNvPr>
          <p:cNvSpPr txBox="1"/>
          <p:nvPr/>
        </p:nvSpPr>
        <p:spPr>
          <a:xfrm>
            <a:off x="7153334" y="6230232"/>
            <a:ext cx="1221745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dirty="0">
                <a:solidFill>
                  <a:srgbClr val="9E9E9E"/>
                </a:solidFill>
                <a:latin typeface="Montserrat"/>
              </a:rPr>
              <a:t>Google Scholar </a:t>
            </a:r>
            <a:endParaRPr sz="1050" b="0" dirty="0">
              <a:solidFill>
                <a:srgbClr val="9E9E9E"/>
              </a:solidFill>
              <a:latin typeface="Montserrat"/>
            </a:endParaRPr>
          </a:p>
        </p:txBody>
      </p:sp>
      <p:sp>
        <p:nvSpPr>
          <p:cNvPr id="49" name="TextBox 29">
            <a:extLst>
              <a:ext uri="{FF2B5EF4-FFF2-40B4-BE49-F238E27FC236}">
                <a16:creationId xmlns:a16="http://schemas.microsoft.com/office/drawing/2014/main" id="{BE32394A-DCD8-3109-8184-038A799989B8}"/>
              </a:ext>
            </a:extLst>
          </p:cNvPr>
          <p:cNvSpPr txBox="1"/>
          <p:nvPr/>
        </p:nvSpPr>
        <p:spPr>
          <a:xfrm>
            <a:off x="7152518" y="5971963"/>
            <a:ext cx="788934" cy="30271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130"/>
              </a:spcAft>
            </a:pPr>
            <a:r>
              <a:rPr lang="fr-FR" sz="1200" b="1" dirty="0">
                <a:solidFill>
                  <a:srgbClr val="424242"/>
                </a:solidFill>
                <a:latin typeface="Montserrat"/>
              </a:rPr>
              <a:t>Citation</a:t>
            </a:r>
            <a:endParaRPr sz="1200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40" name="Espace réservé du numéro de diapositive 39">
            <a:extLst>
              <a:ext uri="{FF2B5EF4-FFF2-40B4-BE49-F238E27FC236}">
                <a16:creationId xmlns:a16="http://schemas.microsoft.com/office/drawing/2014/main" id="{74FCEEB8-7E6A-9617-F747-84D11B29F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8" grpId="0" animBg="1"/>
      <p:bldP spid="29" grpId="0"/>
      <p:bldP spid="31" grpId="0"/>
      <p:bldP spid="30" grpId="0"/>
      <p:bldP spid="41" grpId="0" animBg="1"/>
      <p:bldP spid="42" grpId="0"/>
      <p:bldP spid="43" grpId="0"/>
      <p:bldP spid="44" grpId="0"/>
      <p:bldP spid="46" grpId="0" animBg="1"/>
      <p:bldP spid="47" grpId="0"/>
      <p:bldP spid="48" grpId="0"/>
      <p:bldP spid="4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9620009" y="-1143000"/>
            <a:ext cx="3333666" cy="3333749"/>
          </a:xfrm>
          <a:prstGeom prst="roundRect">
            <a:avLst>
              <a:gd name="adj" fmla="val 50000"/>
            </a:avLst>
          </a:prstGeom>
          <a:solidFill>
            <a:srgbClr val="E3F2F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-571485" y="5238749"/>
            <a:ext cx="2381190" cy="2381250"/>
          </a:xfrm>
          <a:prstGeom prst="roundRect">
            <a:avLst>
              <a:gd name="adj" fmla="val 50000"/>
            </a:avLst>
          </a:prstGeom>
          <a:solidFill>
            <a:srgbClr val="E0F2F1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61980" y="476249"/>
            <a:ext cx="57148" cy="666750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7248" y="476249"/>
            <a:ext cx="2419289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325"/>
              </a:spcAft>
            </a:pPr>
            <a:r>
              <a:rPr sz="1076" b="0">
                <a:solidFill>
                  <a:srgbClr val="4DB6AC"/>
                </a:solidFill>
                <a:latin typeface="Roboto Slab"/>
              </a:rPr>
              <a:t>HYPOTHESIS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48" y="781050"/>
            <a:ext cx="2419289" cy="457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631" b="1">
                <a:solidFill>
                  <a:srgbClr val="212121"/>
                </a:solidFill>
                <a:latin typeface="Montserrat"/>
              </a:rPr>
              <a:t>Hypothèse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4113" y="162790"/>
            <a:ext cx="152396" cy="1714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61980" y="1714500"/>
            <a:ext cx="5095747" cy="1476375"/>
          </a:xfrm>
          <a:prstGeom prst="roundRect">
            <a:avLst>
              <a:gd name="adj" fmla="val 15483"/>
            </a:avLst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 Same Side Corner Rectangle 9"/>
          <p:cNvSpPr/>
          <p:nvPr/>
        </p:nvSpPr>
        <p:spPr>
          <a:xfrm rot="16200000">
            <a:off x="106343" y="2370137"/>
            <a:ext cx="147637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5347" y="2000250"/>
            <a:ext cx="4476638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975"/>
              </a:spcAft>
            </a:pPr>
            <a:r>
              <a:rPr sz="777" b="1">
                <a:solidFill>
                  <a:srgbClr val="42A5F5"/>
                </a:solidFill>
                <a:latin typeface="Montserrat"/>
              </a:rPr>
              <a:t>HYPOTHÈSE PRINCIPALE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347" y="2333624"/>
            <a:ext cx="4476638" cy="5715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1" dirty="0">
                <a:solidFill>
                  <a:srgbClr val="212121"/>
                </a:solidFill>
                <a:latin typeface="Montserrat"/>
              </a:rPr>
              <a:t>La </a:t>
            </a:r>
            <a:r>
              <a:rPr sz="1196" b="1" dirty="0" err="1">
                <a:solidFill>
                  <a:srgbClr val="212121"/>
                </a:solidFill>
                <a:latin typeface="Montserrat"/>
              </a:rPr>
              <a:t>température</a:t>
            </a:r>
            <a:r>
              <a:rPr sz="1196" b="1" dirty="0">
                <a:solidFill>
                  <a:srgbClr val="212121"/>
                </a:solidFill>
                <a:latin typeface="Montserrat"/>
              </a:rPr>
              <a:t> </a:t>
            </a:r>
            <a:r>
              <a:rPr sz="1196" b="1" dirty="0" err="1">
                <a:solidFill>
                  <a:srgbClr val="212121"/>
                </a:solidFill>
                <a:latin typeface="Montserrat"/>
              </a:rPr>
              <a:t>n'est</a:t>
            </a:r>
            <a:r>
              <a:rPr sz="1196" b="1" dirty="0">
                <a:solidFill>
                  <a:srgbClr val="212121"/>
                </a:solidFill>
                <a:latin typeface="Montserrat"/>
              </a:rPr>
              <a:t> pas le </a:t>
            </a:r>
            <a:r>
              <a:rPr sz="1196" b="1" dirty="0" err="1">
                <a:solidFill>
                  <a:srgbClr val="212121"/>
                </a:solidFill>
                <a:latin typeface="Montserrat"/>
              </a:rPr>
              <a:t>seul</a:t>
            </a:r>
            <a:r>
              <a:rPr sz="1196" b="1" dirty="0">
                <a:solidFill>
                  <a:srgbClr val="212121"/>
                </a:solidFill>
                <a:latin typeface="Montserrat"/>
              </a:rPr>
              <a:t> </a:t>
            </a:r>
            <a:r>
              <a:rPr sz="1196" b="1" dirty="0" err="1">
                <a:solidFill>
                  <a:srgbClr val="212121"/>
                </a:solidFill>
                <a:latin typeface="Montserrat"/>
              </a:rPr>
              <a:t>critère</a:t>
            </a:r>
            <a:r>
              <a:rPr sz="1196" b="1" dirty="0">
                <a:solidFill>
                  <a:srgbClr val="212121"/>
                </a:solidFill>
                <a:latin typeface="Montserrat"/>
              </a:rPr>
              <a:t> </a:t>
            </a:r>
            <a:r>
              <a:rPr sz="1196" b="1" dirty="0" err="1">
                <a:solidFill>
                  <a:srgbClr val="212121"/>
                </a:solidFill>
                <a:latin typeface="Montserrat"/>
              </a:rPr>
              <a:t>déterminant</a:t>
            </a:r>
            <a:r>
              <a:rPr sz="1196" b="1" dirty="0">
                <a:solidFill>
                  <a:srgbClr val="212121"/>
                </a:solidFill>
                <a:latin typeface="Montserrat"/>
              </a:rPr>
              <a:t> la </a:t>
            </a:r>
            <a:r>
              <a:rPr sz="1196" b="1" dirty="0" err="1">
                <a:solidFill>
                  <a:srgbClr val="212121"/>
                </a:solidFill>
                <a:latin typeface="Montserrat"/>
              </a:rPr>
              <a:t>consommation</a:t>
            </a:r>
            <a:r>
              <a:rPr sz="1196" b="1" dirty="0">
                <a:solidFill>
                  <a:srgbClr val="212121"/>
                </a:solidFill>
                <a:latin typeface="Montserrat"/>
              </a:rPr>
              <a:t> </a:t>
            </a:r>
            <a:r>
              <a:rPr sz="1196" b="1" dirty="0" err="1">
                <a:solidFill>
                  <a:srgbClr val="212121"/>
                </a:solidFill>
                <a:latin typeface="Montserrat"/>
              </a:rPr>
              <a:t>d'énergie</a:t>
            </a:r>
            <a:r>
              <a:rPr sz="1196" b="1" dirty="0">
                <a:solidFill>
                  <a:srgbClr val="212121"/>
                </a:solidFill>
                <a:latin typeface="Montserrat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1980" y="3429000"/>
            <a:ext cx="5095747" cy="866775"/>
          </a:xfrm>
          <a:prstGeom prst="roundRect">
            <a:avLst>
              <a:gd name="adj" fmla="val 2197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00099" y="3619499"/>
            <a:ext cx="476238" cy="476249"/>
          </a:xfrm>
          <a:prstGeom prst="roundRect">
            <a:avLst>
              <a:gd name="adj" fmla="val 500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71545" y="3752849"/>
            <a:ext cx="133346" cy="2095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647783" y="3619499"/>
            <a:ext cx="3114597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260"/>
              </a:spcAft>
            </a:pPr>
            <a:r>
              <a:rPr sz="1076" b="1" dirty="0" err="1">
                <a:solidFill>
                  <a:srgbClr val="424242"/>
                </a:solidFill>
                <a:latin typeface="Montserrat"/>
              </a:rPr>
              <a:t>Température</a:t>
            </a:r>
            <a:endParaRPr sz="1076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47783" y="3914775"/>
            <a:ext cx="3114597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837" b="0" dirty="0" err="1">
                <a:solidFill>
                  <a:srgbClr val="757575"/>
                </a:solidFill>
                <a:latin typeface="Montserrat"/>
              </a:rPr>
              <a:t>Facteur</a:t>
            </a:r>
            <a:r>
              <a:rPr sz="837" b="0" dirty="0">
                <a:solidFill>
                  <a:srgbClr val="757575"/>
                </a:solidFill>
                <a:latin typeface="Montserrat"/>
              </a:rPr>
              <a:t> principal de </a:t>
            </a:r>
            <a:r>
              <a:rPr sz="837" b="0" dirty="0" err="1">
                <a:solidFill>
                  <a:srgbClr val="757575"/>
                </a:solidFill>
                <a:latin typeface="Montserrat"/>
              </a:rPr>
              <a:t>chauffage</a:t>
            </a:r>
            <a:r>
              <a:rPr sz="837" b="0" dirty="0">
                <a:solidFill>
                  <a:srgbClr val="757575"/>
                </a:solidFill>
                <a:latin typeface="Montserrat"/>
              </a:rPr>
              <a:t> et </a:t>
            </a:r>
            <a:r>
              <a:rPr sz="837" b="0" dirty="0" err="1">
                <a:solidFill>
                  <a:srgbClr val="757575"/>
                </a:solidFill>
                <a:latin typeface="Montserrat"/>
              </a:rPr>
              <a:t>climatisation</a:t>
            </a:r>
            <a:endParaRPr sz="837" b="0" dirty="0">
              <a:solidFill>
                <a:srgbClr val="757575"/>
              </a:solidFill>
              <a:latin typeface="Montserrat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761980" y="4524374"/>
            <a:ext cx="5095747" cy="866775"/>
          </a:xfrm>
          <a:prstGeom prst="roundRect">
            <a:avLst>
              <a:gd name="adj" fmla="val 2197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00099" y="4724399"/>
            <a:ext cx="476238" cy="476249"/>
          </a:xfrm>
          <a:prstGeom prst="roundRect">
            <a:avLst>
              <a:gd name="adj" fmla="val 50000"/>
            </a:avLst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42971" y="4857750"/>
            <a:ext cx="180970" cy="2095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647783" y="4714875"/>
            <a:ext cx="3467013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260"/>
              </a:spcAft>
            </a:pPr>
            <a:r>
              <a:rPr sz="1076" b="1">
                <a:solidFill>
                  <a:srgbClr val="424242"/>
                </a:solidFill>
                <a:latin typeface="Montserrat"/>
              </a:rPr>
              <a:t>Jours fériés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7783" y="5010149"/>
            <a:ext cx="3467013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757575"/>
                </a:solidFill>
                <a:latin typeface="Montserrat"/>
              </a:rPr>
              <a:t>Périodes de présence accrue et activités spécifiques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1980" y="5629275"/>
            <a:ext cx="5095747" cy="866775"/>
          </a:xfrm>
          <a:prstGeom prst="roundRect">
            <a:avLst>
              <a:gd name="adj" fmla="val 2197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000099" y="5819775"/>
            <a:ext cx="476238" cy="476249"/>
          </a:xfrm>
          <a:prstGeom prst="roundRect">
            <a:avLst>
              <a:gd name="adj" fmla="val 50000"/>
            </a:avLst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647783" y="5819775"/>
            <a:ext cx="3695607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260"/>
              </a:spcAft>
            </a:pPr>
            <a:r>
              <a:rPr sz="1076" b="1">
                <a:solidFill>
                  <a:srgbClr val="424242"/>
                </a:solidFill>
                <a:latin typeface="Montserrat"/>
              </a:rPr>
              <a:t>Type de jour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7783" y="6115050"/>
            <a:ext cx="3695607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757575"/>
                </a:solidFill>
                <a:latin typeface="Montserrat"/>
              </a:rPr>
              <a:t>Week-ends vs jours ouvrables influencent les habitudes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591135" y="3166935"/>
            <a:ext cx="200019" cy="26669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905452" y="3123379"/>
            <a:ext cx="2297360" cy="35381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rgbClr val="212121"/>
                </a:solidFill>
                <a:latin typeface="Montserrat"/>
              </a:rPr>
              <a:t>Validation </a:t>
            </a:r>
            <a:r>
              <a:rPr sz="1600" b="1" dirty="0" err="1">
                <a:solidFill>
                  <a:srgbClr val="212121"/>
                </a:solidFill>
                <a:latin typeface="Montserrat"/>
              </a:rPr>
              <a:t>attendue</a:t>
            </a:r>
            <a:endParaRPr sz="1600" b="1" dirty="0">
              <a:solidFill>
                <a:srgbClr val="212121"/>
              </a:solidFill>
              <a:latin typeface="Montserrat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591134" y="3432782"/>
            <a:ext cx="4838885" cy="172598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b="0" dirty="0">
                <a:solidFill>
                  <a:srgbClr val="424242"/>
                </a:solidFill>
                <a:latin typeface="Montserrat"/>
              </a:rPr>
              <a:t>Les pics de </a:t>
            </a:r>
            <a:r>
              <a:rPr b="0" dirty="0" err="1">
                <a:solidFill>
                  <a:srgbClr val="424242"/>
                </a:solidFill>
                <a:latin typeface="Montserrat"/>
              </a:rPr>
              <a:t>consommation</a:t>
            </a:r>
            <a:r>
              <a:rPr b="0" dirty="0">
                <a:solidFill>
                  <a:srgbClr val="424242"/>
                </a:solidFill>
                <a:latin typeface="Montserrat"/>
              </a:rPr>
              <a:t> </a:t>
            </a:r>
            <a:r>
              <a:rPr b="0" dirty="0" err="1">
                <a:solidFill>
                  <a:srgbClr val="424242"/>
                </a:solidFill>
                <a:latin typeface="Montserrat"/>
              </a:rPr>
              <a:t>surviennent</a:t>
            </a:r>
            <a:r>
              <a:rPr b="0" dirty="0">
                <a:solidFill>
                  <a:srgbClr val="424242"/>
                </a:solidFill>
                <a:latin typeface="Montserrat"/>
              </a:rPr>
              <a:t> </a:t>
            </a:r>
            <a:r>
              <a:rPr b="0" dirty="0" err="1">
                <a:solidFill>
                  <a:srgbClr val="424242"/>
                </a:solidFill>
                <a:latin typeface="Montserrat"/>
              </a:rPr>
              <a:t>principalement</a:t>
            </a:r>
            <a:r>
              <a:rPr b="0" dirty="0">
                <a:solidFill>
                  <a:srgbClr val="424242"/>
                </a:solidFill>
                <a:latin typeface="Montserrat"/>
              </a:rPr>
              <a:t> </a:t>
            </a:r>
            <a:r>
              <a:rPr b="0" dirty="0" err="1">
                <a:solidFill>
                  <a:srgbClr val="424242"/>
                </a:solidFill>
                <a:latin typeface="Montserrat"/>
              </a:rPr>
              <a:t>lors</a:t>
            </a:r>
            <a:r>
              <a:rPr b="0" dirty="0">
                <a:solidFill>
                  <a:srgbClr val="424242"/>
                </a:solidFill>
                <a:latin typeface="Montserrat"/>
              </a:rPr>
              <a:t> des week-ends </a:t>
            </a:r>
            <a:r>
              <a:rPr b="0" dirty="0" err="1">
                <a:solidFill>
                  <a:srgbClr val="424242"/>
                </a:solidFill>
                <a:latin typeface="Montserrat"/>
              </a:rPr>
              <a:t>en</a:t>
            </a:r>
            <a:r>
              <a:rPr b="0" dirty="0">
                <a:solidFill>
                  <a:srgbClr val="424242"/>
                </a:solidFill>
                <a:latin typeface="Montserrat"/>
              </a:rPr>
              <a:t> hiver, </a:t>
            </a:r>
            <a:r>
              <a:rPr b="0" dirty="0" err="1">
                <a:solidFill>
                  <a:srgbClr val="424242"/>
                </a:solidFill>
                <a:latin typeface="Montserrat"/>
              </a:rPr>
              <a:t>confirmant</a:t>
            </a:r>
            <a:r>
              <a:rPr b="0" dirty="0">
                <a:solidFill>
                  <a:srgbClr val="424242"/>
                </a:solidFill>
                <a:latin typeface="Montserrat"/>
              </a:rPr>
              <a:t> </a:t>
            </a:r>
            <a:r>
              <a:rPr b="0" dirty="0" err="1">
                <a:solidFill>
                  <a:srgbClr val="424242"/>
                </a:solidFill>
                <a:latin typeface="Montserrat"/>
              </a:rPr>
              <a:t>l'impact</a:t>
            </a:r>
            <a:r>
              <a:rPr b="0" dirty="0">
                <a:solidFill>
                  <a:srgbClr val="424242"/>
                </a:solidFill>
                <a:latin typeface="Montserrat"/>
              </a:rPr>
              <a:t> </a:t>
            </a:r>
            <a:r>
              <a:rPr b="0" dirty="0" err="1">
                <a:solidFill>
                  <a:srgbClr val="424242"/>
                </a:solidFill>
                <a:latin typeface="Montserrat"/>
              </a:rPr>
              <a:t>combiné</a:t>
            </a:r>
            <a:r>
              <a:rPr b="0" dirty="0">
                <a:solidFill>
                  <a:srgbClr val="424242"/>
                </a:solidFill>
                <a:latin typeface="Montserrat"/>
              </a:rPr>
              <a:t> du </a:t>
            </a:r>
            <a:r>
              <a:rPr b="0" dirty="0" err="1">
                <a:solidFill>
                  <a:srgbClr val="424242"/>
                </a:solidFill>
                <a:latin typeface="Montserrat"/>
              </a:rPr>
              <a:t>calendrier</a:t>
            </a:r>
            <a:r>
              <a:rPr b="0" dirty="0">
                <a:solidFill>
                  <a:srgbClr val="424242"/>
                </a:solidFill>
                <a:latin typeface="Montserrat"/>
              </a:rPr>
              <a:t> et de la </a:t>
            </a:r>
            <a:r>
              <a:rPr b="0" dirty="0" err="1">
                <a:solidFill>
                  <a:srgbClr val="424242"/>
                </a:solidFill>
                <a:latin typeface="Montserrat"/>
              </a:rPr>
              <a:t>saisonnalité</a:t>
            </a:r>
            <a:r>
              <a:rPr b="0" dirty="0">
                <a:solidFill>
                  <a:srgbClr val="424242"/>
                </a:solidFill>
                <a:latin typeface="Montserrat"/>
              </a:rPr>
              <a:t>.</a:t>
            </a:r>
          </a:p>
        </p:txBody>
      </p:sp>
      <p:sp>
        <p:nvSpPr>
          <p:cNvPr id="31" name="Espace réservé du numéro de diapositive 30">
            <a:extLst>
              <a:ext uri="{FF2B5EF4-FFF2-40B4-BE49-F238E27FC236}">
                <a16:creationId xmlns:a16="http://schemas.microsoft.com/office/drawing/2014/main" id="{41B58365-92DB-5D45-418C-F8E2114DD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124321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1980" y="761999"/>
            <a:ext cx="57148" cy="714375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28674" y="761999"/>
            <a:ext cx="247643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4DB6AC"/>
                </a:solidFill>
                <a:latin typeface="Roboto Slab"/>
              </a:rPr>
              <a:t>DATA COLLECTION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8674" y="1047749"/>
            <a:ext cx="2476438" cy="838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212121"/>
                </a:solidFill>
                <a:latin typeface="Montserrat"/>
              </a:rPr>
              <a:t>Collecte des</a:t>
            </a:r>
            <a:r>
              <a:rPr sz="1104"/>
              <a:t>
</a:t>
            </a:r>
            <a:r>
              <a:rPr sz="2392" b="1">
                <a:solidFill>
                  <a:srgbClr val="212121"/>
                </a:solidFill>
                <a:latin typeface="Montserrat"/>
              </a:rPr>
              <a:t>Données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1980" y="2219324"/>
            <a:ext cx="3886102" cy="1162050"/>
          </a:xfrm>
          <a:prstGeom prst="roundRect">
            <a:avLst>
              <a:gd name="adj" fmla="val 16393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 Same Side Corner Rectangle 6"/>
          <p:cNvSpPr/>
          <p:nvPr/>
        </p:nvSpPr>
        <p:spPr>
          <a:xfrm rot="16200000">
            <a:off x="263505" y="2717799"/>
            <a:ext cx="1162050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47723" y="2457450"/>
            <a:ext cx="3362240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650"/>
              </a:spcAft>
            </a:pPr>
            <a:r>
              <a:rPr sz="897" b="1">
                <a:solidFill>
                  <a:srgbClr val="42A5F5"/>
                </a:solidFill>
                <a:latin typeface="Montserrat"/>
              </a:rPr>
              <a:t>DATASET PRINCIPAL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23" y="2719820"/>
            <a:ext cx="3362240" cy="37147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 dirty="0">
                <a:solidFill>
                  <a:srgbClr val="757575"/>
                </a:solidFill>
                <a:latin typeface="Montserrat"/>
              </a:rPr>
              <a:t>UCI/Kaggle - Individual Household Electric Power Consumption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980" y="3638550"/>
            <a:ext cx="304792" cy="304800"/>
          </a:xfrm>
          <a:prstGeom prst="roundRect">
            <a:avLst>
              <a:gd name="adj" fmla="val 375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7703" y="3724274"/>
            <a:ext cx="133346" cy="13334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81070" y="3590473"/>
            <a:ext cx="1499065" cy="27712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260"/>
              </a:spcAft>
            </a:pPr>
            <a:r>
              <a:rPr sz="1000" b="1">
                <a:solidFill>
                  <a:srgbClr val="424242"/>
                </a:solidFill>
                <a:latin typeface="Montserrat"/>
              </a:rPr>
              <a:t>Mesures à la minute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1070" y="3839788"/>
            <a:ext cx="3467013" cy="2547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dirty="0">
                <a:solidFill>
                  <a:srgbClr val="757575"/>
                </a:solidFill>
                <a:latin typeface="Montserrat"/>
              </a:rPr>
              <a:t>Puissance active </a:t>
            </a:r>
            <a:r>
              <a:rPr sz="900" b="0" dirty="0" err="1">
                <a:solidFill>
                  <a:srgbClr val="757575"/>
                </a:solidFill>
                <a:latin typeface="Montserrat"/>
              </a:rPr>
              <a:t>globale</a:t>
            </a:r>
            <a:r>
              <a:rPr sz="900" b="0" dirty="0">
                <a:solidFill>
                  <a:srgbClr val="757575"/>
                </a:solidFill>
                <a:latin typeface="Montserrat"/>
              </a:rPr>
              <a:t> (kW), Tension (V), Courant (A)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1980" y="4381499"/>
            <a:ext cx="304792" cy="304800"/>
          </a:xfrm>
          <a:prstGeom prst="roundRect">
            <a:avLst>
              <a:gd name="adj" fmla="val 375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66753" y="4467224"/>
            <a:ext cx="104772" cy="1333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81070" y="4333424"/>
            <a:ext cx="1521507" cy="27712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260"/>
              </a:spcAft>
            </a:pPr>
            <a:r>
              <a:rPr sz="1000" b="1">
                <a:solidFill>
                  <a:srgbClr val="424242"/>
                </a:solidFill>
                <a:latin typeface="Montserrat"/>
              </a:rPr>
              <a:t>Format des données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1070" y="4568450"/>
            <a:ext cx="2276521" cy="254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57575"/>
                </a:solidFill>
                <a:latin typeface="Montserrat"/>
              </a:rPr>
              <a:t>Valeurs séparées par ";", décimale: ","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1980" y="4943475"/>
            <a:ext cx="304792" cy="304800"/>
          </a:xfrm>
          <a:prstGeom prst="roundRect">
            <a:avLst>
              <a:gd name="adj" fmla="val 375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47703" y="5029200"/>
            <a:ext cx="133346" cy="13334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81070" y="4895398"/>
            <a:ext cx="853054" cy="27712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260"/>
              </a:spcAft>
            </a:pPr>
            <a:r>
              <a:rPr sz="1000" b="1" dirty="0" err="1">
                <a:solidFill>
                  <a:srgbClr val="424242"/>
                </a:solidFill>
                <a:latin typeface="Montserrat"/>
              </a:rPr>
              <a:t>Nettoyage</a:t>
            </a:r>
            <a:endParaRPr sz="1000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181070" y="5148730"/>
            <a:ext cx="3467013" cy="408638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dirty="0" err="1">
                <a:solidFill>
                  <a:srgbClr val="757575"/>
                </a:solidFill>
                <a:latin typeface="Montserrat"/>
              </a:rPr>
              <a:t>Valeurs</a:t>
            </a:r>
            <a:r>
              <a:rPr sz="900" b="0" dirty="0">
                <a:solidFill>
                  <a:srgbClr val="757575"/>
                </a:solidFill>
                <a:latin typeface="Montserrat"/>
              </a:rPr>
              <a:t> </a:t>
            </a:r>
            <a:r>
              <a:rPr sz="900" b="0" dirty="0" err="1">
                <a:solidFill>
                  <a:srgbClr val="757575"/>
                </a:solidFill>
                <a:latin typeface="Montserrat"/>
              </a:rPr>
              <a:t>manquantes</a:t>
            </a:r>
            <a:r>
              <a:rPr sz="900" b="0" dirty="0">
                <a:solidFill>
                  <a:srgbClr val="757575"/>
                </a:solidFill>
                <a:latin typeface="Montserrat"/>
              </a:rPr>
              <a:t>: "?", suppression des </a:t>
            </a:r>
            <a:r>
              <a:rPr sz="900" b="0" dirty="0" err="1">
                <a:solidFill>
                  <a:srgbClr val="757575"/>
                </a:solidFill>
                <a:latin typeface="Montserrat"/>
              </a:rPr>
              <a:t>lignes</a:t>
            </a:r>
            <a:r>
              <a:rPr sz="900" b="0" dirty="0">
                <a:solidFill>
                  <a:srgbClr val="757575"/>
                </a:solidFill>
                <a:latin typeface="Montserrat"/>
              </a:rPr>
              <a:t> </a:t>
            </a:r>
            <a:r>
              <a:rPr sz="900" b="0" dirty="0" err="1">
                <a:solidFill>
                  <a:srgbClr val="757575"/>
                </a:solidFill>
                <a:latin typeface="Montserrat"/>
              </a:rPr>
              <a:t>incomplètes</a:t>
            </a:r>
            <a:endParaRPr sz="900" b="0" dirty="0">
              <a:solidFill>
                <a:srgbClr val="757575"/>
              </a:solidFill>
              <a:latin typeface="Montserrat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761980" y="5686425"/>
            <a:ext cx="304792" cy="304800"/>
          </a:xfrm>
          <a:prstGeom prst="roundRect">
            <a:avLst>
              <a:gd name="adj" fmla="val 375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4" name="TextBox 23"/>
          <p:cNvSpPr txBox="1"/>
          <p:nvPr/>
        </p:nvSpPr>
        <p:spPr>
          <a:xfrm>
            <a:off x="1181070" y="5638348"/>
            <a:ext cx="1665777" cy="27712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260"/>
              </a:spcAft>
            </a:pPr>
            <a:r>
              <a:rPr sz="1000" b="1">
                <a:solidFill>
                  <a:srgbClr val="424242"/>
                </a:solidFill>
                <a:latin typeface="Montserrat"/>
              </a:rPr>
              <a:t>Agrégation journalière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1070" y="5882900"/>
            <a:ext cx="2967415" cy="254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dirty="0">
                <a:solidFill>
                  <a:srgbClr val="757575"/>
                </a:solidFill>
                <a:latin typeface="Montserrat"/>
              </a:rPr>
              <a:t>Index datetime, </a:t>
            </a:r>
            <a:r>
              <a:rPr sz="900" b="0" dirty="0" err="1">
                <a:solidFill>
                  <a:srgbClr val="757575"/>
                </a:solidFill>
                <a:latin typeface="Montserrat"/>
              </a:rPr>
              <a:t>somme</a:t>
            </a:r>
            <a:r>
              <a:rPr sz="900" b="0" dirty="0">
                <a:solidFill>
                  <a:srgbClr val="757575"/>
                </a:solidFill>
                <a:latin typeface="Montserrat"/>
              </a:rPr>
              <a:t> </a:t>
            </a:r>
            <a:r>
              <a:rPr sz="900" b="0" dirty="0" err="1">
                <a:solidFill>
                  <a:srgbClr val="757575"/>
                </a:solidFill>
                <a:latin typeface="Montserrat"/>
              </a:rPr>
              <a:t>Global_active_power</a:t>
            </a:r>
            <a:r>
              <a:rPr sz="900" b="0" dirty="0">
                <a:solidFill>
                  <a:srgbClr val="757575"/>
                </a:solidFill>
                <a:latin typeface="Montserrat"/>
              </a:rPr>
              <a:t>/60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24321" y="0"/>
            <a:ext cx="7067373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33" name="Image 32">
            <a:extLst>
              <a:ext uri="{FF2B5EF4-FFF2-40B4-BE49-F238E27FC236}">
                <a16:creationId xmlns:a16="http://schemas.microsoft.com/office/drawing/2014/main" id="{52CCEA3D-0B92-3614-CA41-94B669EED1B7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52885" b="26405"/>
          <a:stretch/>
        </p:blipFill>
        <p:spPr>
          <a:xfrm>
            <a:off x="5538112" y="387566"/>
            <a:ext cx="5337270" cy="1831758"/>
          </a:xfrm>
          <a:prstGeom prst="rect">
            <a:avLst/>
          </a:prstGeom>
          <a:ln w="38100" cap="sq">
            <a:solidFill>
              <a:srgbClr val="42A5F5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34" name="Picture 19" descr="image.png">
            <a:extLst>
              <a:ext uri="{FF2B5EF4-FFF2-40B4-BE49-F238E27FC236}">
                <a16:creationId xmlns:a16="http://schemas.microsoft.com/office/drawing/2014/main" id="{394FFCC6-4114-E977-5360-324709D0A896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prstClr val="black"/>
              <a:srgbClr val="42A5F5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812751" y="5734050"/>
            <a:ext cx="180970" cy="209550"/>
          </a:xfrm>
          <a:prstGeom prst="rect">
            <a:avLst/>
          </a:prstGeom>
          <a:solidFill>
            <a:srgbClr val="E3F2FD"/>
          </a:solidFill>
          <a:ln>
            <a:noFill/>
          </a:ln>
        </p:spPr>
      </p:pic>
      <p:pic>
        <p:nvPicPr>
          <p:cNvPr id="2050" name="Picture 2" descr="Statlog (Image Segmentation) - UCI Machine Learning Repository">
            <a:extLst>
              <a:ext uri="{FF2B5EF4-FFF2-40B4-BE49-F238E27FC236}">
                <a16:creationId xmlns:a16="http://schemas.microsoft.com/office/drawing/2014/main" id="{8CE444EE-9DD7-6484-6998-6444BDC763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1001" y="133840"/>
            <a:ext cx="1207851" cy="1207851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8" name="Image 37">
            <a:extLst>
              <a:ext uri="{FF2B5EF4-FFF2-40B4-BE49-F238E27FC236}">
                <a16:creationId xmlns:a16="http://schemas.microsoft.com/office/drawing/2014/main" id="{F5F3A22B-7E84-BE39-C04F-14E2477C837C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r="15966" b="25620"/>
          <a:stretch/>
        </p:blipFill>
        <p:spPr>
          <a:xfrm>
            <a:off x="5531327" y="3500436"/>
            <a:ext cx="5337270" cy="1933576"/>
          </a:xfrm>
          <a:prstGeom prst="rect">
            <a:avLst/>
          </a:prstGeom>
          <a:ln w="38100" cap="sq">
            <a:solidFill>
              <a:srgbClr val="42A5F5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cxnSp>
        <p:nvCxnSpPr>
          <p:cNvPr id="40" name="Connecteur droit avec flèche 39">
            <a:extLst>
              <a:ext uri="{FF2B5EF4-FFF2-40B4-BE49-F238E27FC236}">
                <a16:creationId xmlns:a16="http://schemas.microsoft.com/office/drawing/2014/main" id="{D3591EF3-DE1C-4D34-54DD-00D4D37D016B}"/>
              </a:ext>
            </a:extLst>
          </p:cNvPr>
          <p:cNvCxnSpPr/>
          <p:nvPr/>
        </p:nvCxnSpPr>
        <p:spPr>
          <a:xfrm flipH="1">
            <a:off x="6095846" y="2219324"/>
            <a:ext cx="135519" cy="11620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35655AED-BD4F-8B3D-5666-78B35144B708}"/>
              </a:ext>
            </a:extLst>
          </p:cNvPr>
          <p:cNvCxnSpPr>
            <a:cxnSpLocks/>
          </p:cNvCxnSpPr>
          <p:nvPr/>
        </p:nvCxnSpPr>
        <p:spPr>
          <a:xfrm flipH="1">
            <a:off x="6231365" y="2278855"/>
            <a:ext cx="1170430" cy="11025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eur droit avec flèche 44">
            <a:extLst>
              <a:ext uri="{FF2B5EF4-FFF2-40B4-BE49-F238E27FC236}">
                <a16:creationId xmlns:a16="http://schemas.microsoft.com/office/drawing/2014/main" id="{E84FA2FA-3C1A-1D90-2300-934D46D5A5F4}"/>
              </a:ext>
            </a:extLst>
          </p:cNvPr>
          <p:cNvCxnSpPr/>
          <p:nvPr/>
        </p:nvCxnSpPr>
        <p:spPr>
          <a:xfrm flipH="1">
            <a:off x="8080964" y="2278855"/>
            <a:ext cx="238119" cy="11501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19">
            <a:extLst>
              <a:ext uri="{FF2B5EF4-FFF2-40B4-BE49-F238E27FC236}">
                <a16:creationId xmlns:a16="http://schemas.microsoft.com/office/drawing/2014/main" id="{59F0C05D-2DBA-EDE3-F156-59FB499D00C8}"/>
              </a:ext>
            </a:extLst>
          </p:cNvPr>
          <p:cNvSpPr txBox="1"/>
          <p:nvPr/>
        </p:nvSpPr>
        <p:spPr>
          <a:xfrm>
            <a:off x="6207572" y="2361059"/>
            <a:ext cx="776110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260"/>
              </a:spcAft>
            </a:pPr>
            <a:r>
              <a:rPr lang="fr-FR" sz="1400" b="1" dirty="0">
                <a:solidFill>
                  <a:srgbClr val="424242"/>
                </a:solidFill>
                <a:latin typeface="Montserrat"/>
              </a:rPr>
              <a:t>Fusion</a:t>
            </a:r>
            <a:endParaRPr sz="1400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49" name="TextBox 19">
            <a:extLst>
              <a:ext uri="{FF2B5EF4-FFF2-40B4-BE49-F238E27FC236}">
                <a16:creationId xmlns:a16="http://schemas.microsoft.com/office/drawing/2014/main" id="{B1ED0146-7FA8-84D3-6319-73A9103DAEDA}"/>
              </a:ext>
            </a:extLst>
          </p:cNvPr>
          <p:cNvSpPr txBox="1"/>
          <p:nvPr/>
        </p:nvSpPr>
        <p:spPr>
          <a:xfrm>
            <a:off x="8496946" y="2348181"/>
            <a:ext cx="867482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260"/>
              </a:spcAft>
            </a:pPr>
            <a:r>
              <a:rPr lang="fr-FR" sz="1400" b="1" dirty="0">
                <a:solidFill>
                  <a:srgbClr val="424242"/>
                </a:solidFill>
                <a:latin typeface="Montserrat"/>
              </a:rPr>
              <a:t>Somme</a:t>
            </a:r>
            <a:endParaRPr sz="1400" b="1" dirty="0">
              <a:solidFill>
                <a:srgbClr val="424242"/>
              </a:solidFill>
              <a:latin typeface="Montserrat"/>
            </a:endParaRPr>
          </a:p>
        </p:txBody>
      </p:sp>
      <p:cxnSp>
        <p:nvCxnSpPr>
          <p:cNvPr id="50" name="Connecteur droit avec flèche 49">
            <a:extLst>
              <a:ext uri="{FF2B5EF4-FFF2-40B4-BE49-F238E27FC236}">
                <a16:creationId xmlns:a16="http://schemas.microsoft.com/office/drawing/2014/main" id="{F6BB8C0B-E559-373E-0034-FC50D81E74BA}"/>
              </a:ext>
            </a:extLst>
          </p:cNvPr>
          <p:cNvCxnSpPr/>
          <p:nvPr/>
        </p:nvCxnSpPr>
        <p:spPr>
          <a:xfrm>
            <a:off x="9534284" y="2290760"/>
            <a:ext cx="287363" cy="11382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19">
            <a:extLst>
              <a:ext uri="{FF2B5EF4-FFF2-40B4-BE49-F238E27FC236}">
                <a16:creationId xmlns:a16="http://schemas.microsoft.com/office/drawing/2014/main" id="{69077C67-3AB9-1D81-7A75-FD7243F78C2E}"/>
              </a:ext>
            </a:extLst>
          </p:cNvPr>
          <p:cNvSpPr txBox="1"/>
          <p:nvPr/>
        </p:nvSpPr>
        <p:spPr>
          <a:xfrm>
            <a:off x="6349700" y="6107415"/>
            <a:ext cx="2868029" cy="27058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1" dirty="0">
                <a:solidFill>
                  <a:srgbClr val="424242"/>
                </a:solidFill>
                <a:latin typeface="Montserrat"/>
              </a:rPr>
              <a:t>Cellule de fusion avec météo</a:t>
            </a:r>
            <a:endParaRPr sz="1400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56" name="Espace réservé du numéro de diapositive 55">
            <a:extLst>
              <a:ext uri="{FF2B5EF4-FFF2-40B4-BE49-F238E27FC236}">
                <a16:creationId xmlns:a16="http://schemas.microsoft.com/office/drawing/2014/main" id="{46D0110D-59B8-1EA9-55B9-31A47222B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26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1980" y="276225"/>
            <a:ext cx="57148" cy="714375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28674" y="276225"/>
            <a:ext cx="247643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4DB6AC"/>
                </a:solidFill>
                <a:latin typeface="Roboto Slab"/>
              </a:rPr>
              <a:t>CALENDAR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8674" y="561974"/>
            <a:ext cx="2476438" cy="12573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212121"/>
                </a:solidFill>
                <a:latin typeface="Montserrat"/>
              </a:rPr>
              <a:t>Collecte des</a:t>
            </a:r>
            <a:r>
              <a:rPr sz="1104"/>
              <a:t>
</a:t>
            </a:r>
            <a:r>
              <a:rPr sz="2392" b="1">
                <a:solidFill>
                  <a:srgbClr val="212121"/>
                </a:solidFill>
                <a:latin typeface="Montserrat"/>
              </a:rPr>
              <a:t>Données :</a:t>
            </a:r>
            <a:r>
              <a:rPr sz="1104"/>
              <a:t>
</a:t>
            </a:r>
            <a:r>
              <a:rPr sz="2392" b="1">
                <a:solidFill>
                  <a:srgbClr val="212121"/>
                </a:solidFill>
                <a:latin typeface="Montserrat"/>
              </a:rPr>
              <a:t>Jours Fériés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1980" y="2152650"/>
            <a:ext cx="4248043" cy="1171575"/>
          </a:xfrm>
          <a:prstGeom prst="roundRect">
            <a:avLst>
              <a:gd name="adj" fmla="val 16260"/>
            </a:avLst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 Same Side Corner Rectangle 6"/>
          <p:cNvSpPr/>
          <p:nvPr/>
        </p:nvSpPr>
        <p:spPr>
          <a:xfrm rot="16200000">
            <a:off x="258743" y="2655887"/>
            <a:ext cx="117157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47723" y="2390774"/>
            <a:ext cx="3724181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650"/>
              </a:spcAft>
            </a:pPr>
            <a:r>
              <a:rPr sz="837" b="1">
                <a:solidFill>
                  <a:srgbClr val="EF5350"/>
                </a:solidFill>
                <a:latin typeface="Montserrat"/>
              </a:rPr>
              <a:t>BIBLIOTHÈQUE PYTHON HOLIDAYS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23" y="2686050"/>
            <a:ext cx="3724181" cy="4000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757575"/>
                </a:solidFill>
                <a:latin typeface="Montserrat"/>
              </a:rPr>
              <a:t> Jours fériés français 2006-2010</a:t>
            </a:r>
            <a:r>
              <a:rPr sz="1104"/>
              <a:t>
</a:t>
            </a:r>
            <a:r>
              <a:rPr sz="837" b="0">
                <a:solidFill>
                  <a:srgbClr val="757575"/>
                </a:solidFill>
                <a:latin typeface="Montserrat"/>
              </a:rPr>
              <a:t> </a:t>
            </a:r>
            <a:r>
              <a:rPr sz="777" b="0">
                <a:solidFill>
                  <a:srgbClr val="9E9E9E"/>
                </a:solidFill>
                <a:latin typeface="Montserrat"/>
              </a:rPr>
              <a:t>holidays.France(years=[2006,...,2010])</a:t>
            </a:r>
            <a:r>
              <a:rPr sz="837" b="0">
                <a:solidFill>
                  <a:srgbClr val="757575"/>
                </a:solidFill>
                <a:latin typeface="Montserrat"/>
              </a:rPr>
              <a:t> 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980" y="3562349"/>
            <a:ext cx="4248043" cy="771525"/>
          </a:xfrm>
          <a:prstGeom prst="roundRect">
            <a:avLst>
              <a:gd name="adj" fmla="val 19753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33426" y="3733799"/>
            <a:ext cx="428614" cy="428625"/>
          </a:xfrm>
          <a:prstGeom prst="roundRect">
            <a:avLst>
              <a:gd name="adj" fmla="val 35555"/>
            </a:avLst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42971" y="3943350"/>
            <a:ext cx="0" cy="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EF5350"/>
                </a:solidFill>
              </a:rPr>
              <a:t>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12" y="3743325"/>
            <a:ext cx="3333666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260"/>
              </a:spcAft>
            </a:pPr>
            <a:r>
              <a:rPr sz="897" b="1">
                <a:solidFill>
                  <a:srgbClr val="424242"/>
                </a:solidFill>
                <a:latin typeface="Montserrat"/>
              </a:rPr>
              <a:t>is_holiday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4912" y="3990974"/>
            <a:ext cx="3333666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757575"/>
                </a:solidFill>
                <a:latin typeface="Montserrat"/>
              </a:rPr>
              <a:t>Variable binaire pour les jours fériés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1980" y="4448175"/>
            <a:ext cx="4248043" cy="771525"/>
          </a:xfrm>
          <a:prstGeom prst="roundRect">
            <a:avLst>
              <a:gd name="adj" fmla="val 19753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33426" y="4619625"/>
            <a:ext cx="428614" cy="428625"/>
          </a:xfrm>
          <a:prstGeom prst="roundRect">
            <a:avLst>
              <a:gd name="adj" fmla="val 35555"/>
            </a:avLst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66773" y="4733925"/>
            <a:ext cx="18" cy="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5C6BC0"/>
                </a:solidFill>
              </a:rPr>
              <a:t>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4912" y="4629150"/>
            <a:ext cx="3333666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260"/>
              </a:spcAft>
            </a:pPr>
            <a:r>
              <a:rPr sz="897" b="1">
                <a:solidFill>
                  <a:srgbClr val="424242"/>
                </a:solidFill>
                <a:latin typeface="Montserrat"/>
              </a:rPr>
              <a:t>is_weekend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4912" y="4876800"/>
            <a:ext cx="3333666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757575"/>
                </a:solidFill>
                <a:latin typeface="Montserrat"/>
              </a:rPr>
              <a:t>Samedi ou dimanche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1980" y="5334000"/>
            <a:ext cx="4248043" cy="1257300"/>
          </a:xfrm>
          <a:prstGeom prst="roundRect">
            <a:avLst>
              <a:gd name="adj" fmla="val 15151"/>
            </a:avLst>
          </a:prstGeom>
          <a:solidFill>
            <a:srgbClr val="F0F7FF"/>
          </a:solidFill>
          <a:ln w="16510">
            <a:solidFill>
              <a:srgbClr val="42A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71525" y="5543550"/>
            <a:ext cx="3828954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780"/>
              </a:spcAft>
            </a:pPr>
            <a:r>
              <a:rPr sz="1104"/>
              <a:t>  </a:t>
            </a:r>
            <a:r>
              <a:rPr sz="837" b="1">
                <a:solidFill>
                  <a:srgbClr val="42A5F5"/>
                </a:solidFill>
                <a:latin typeface="Montserrat"/>
              </a:rPr>
              <a:t> FUSION DES TABLEAUX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1525" y="5686425"/>
            <a:ext cx="0" cy="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42A5F5"/>
                </a:solidFill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1525" y="5857875"/>
            <a:ext cx="3828954" cy="52387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 DataFrame consommation + DataFrame météo</a:t>
            </a:r>
            <a:r>
              <a:rPr sz="1104"/>
              <a:t>
</a:t>
            </a:r>
            <a:r>
              <a:rPr sz="777" b="0">
                <a:solidFill>
                  <a:srgbClr val="616161"/>
                </a:solidFill>
                <a:latin typeface="Montserrat"/>
              </a:rPr>
              <a:t> Jointure sur colonne </a:t>
            </a:r>
            <a:r>
              <a:rPr sz="777" b="1">
                <a:solidFill>
                  <a:srgbClr val="616161"/>
                </a:solidFill>
                <a:latin typeface="Montserrat"/>
              </a:rPr>
              <a:t>date</a:t>
            </a:r>
            <a:r>
              <a:rPr sz="777" b="0">
                <a:solidFill>
                  <a:srgbClr val="616161"/>
                </a:solidFill>
                <a:latin typeface="Montserrat"/>
              </a:rPr>
              <a:t> (how='left')</a:t>
            </a:r>
            <a:r>
              <a:rPr sz="1104"/>
              <a:t>
</a:t>
            </a:r>
            <a:r>
              <a:rPr sz="777" b="0">
                <a:solidFill>
                  <a:srgbClr val="616161"/>
                </a:solidFill>
                <a:latin typeface="Montserrat"/>
              </a:rPr>
              <a:t> Création du tableau fusionné (données + météo + calendrier) 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262" y="0"/>
            <a:ext cx="6705432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mage 28">
            <a:extLst>
              <a:ext uri="{FF2B5EF4-FFF2-40B4-BE49-F238E27FC236}">
                <a16:creationId xmlns:a16="http://schemas.microsoft.com/office/drawing/2014/main" id="{6E21E47D-6315-3A03-79A5-DDB3AE50B8C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5966" b="25620"/>
          <a:stretch/>
        </p:blipFill>
        <p:spPr>
          <a:xfrm>
            <a:off x="5962501" y="612773"/>
            <a:ext cx="5337270" cy="1933576"/>
          </a:xfrm>
          <a:prstGeom prst="rect">
            <a:avLst/>
          </a:prstGeom>
          <a:ln w="38100" cap="sq">
            <a:solidFill>
              <a:srgbClr val="42A5F5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31" name="Image 30">
            <a:extLst>
              <a:ext uri="{FF2B5EF4-FFF2-40B4-BE49-F238E27FC236}">
                <a16:creationId xmlns:a16="http://schemas.microsoft.com/office/drawing/2014/main" id="{70A15B82-B5BE-FCB2-72A1-EE379B03FE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2501" y="3304990"/>
            <a:ext cx="5270597" cy="2363017"/>
          </a:xfrm>
          <a:prstGeom prst="rect">
            <a:avLst/>
          </a:prstGeom>
          <a:ln w="38100" cap="sq">
            <a:solidFill>
              <a:srgbClr val="42A5F5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8FEF2010-54FD-7DF9-A60F-7EDEEABFF09E}"/>
              </a:ext>
            </a:extLst>
          </p:cNvPr>
          <p:cNvCxnSpPr>
            <a:cxnSpLocks/>
          </p:cNvCxnSpPr>
          <p:nvPr/>
        </p:nvCxnSpPr>
        <p:spPr>
          <a:xfrm>
            <a:off x="8318500" y="2590799"/>
            <a:ext cx="0" cy="7141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19">
            <a:extLst>
              <a:ext uri="{FF2B5EF4-FFF2-40B4-BE49-F238E27FC236}">
                <a16:creationId xmlns:a16="http://schemas.microsoft.com/office/drawing/2014/main" id="{79426749-7523-7DFF-97E0-14C284EDA2C5}"/>
              </a:ext>
            </a:extLst>
          </p:cNvPr>
          <p:cNvSpPr txBox="1"/>
          <p:nvPr/>
        </p:nvSpPr>
        <p:spPr>
          <a:xfrm>
            <a:off x="8571556" y="2868786"/>
            <a:ext cx="2133854" cy="29033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260"/>
              </a:spcAft>
            </a:pPr>
            <a:r>
              <a:rPr lang="fr-FR" sz="1400" b="1" dirty="0">
                <a:solidFill>
                  <a:srgbClr val="424242"/>
                </a:solidFill>
                <a:latin typeface="Montserrat"/>
              </a:rPr>
              <a:t>Génération des Flags</a:t>
            </a:r>
            <a:endParaRPr sz="1400" b="1" dirty="0">
              <a:solidFill>
                <a:srgbClr val="424242"/>
              </a:solidFill>
              <a:latin typeface="Montserrat"/>
            </a:endParaRPr>
          </a:p>
        </p:txBody>
      </p:sp>
      <p:cxnSp>
        <p:nvCxnSpPr>
          <p:cNvPr id="35" name="Connecteur droit avec flèche 34">
            <a:extLst>
              <a:ext uri="{FF2B5EF4-FFF2-40B4-BE49-F238E27FC236}">
                <a16:creationId xmlns:a16="http://schemas.microsoft.com/office/drawing/2014/main" id="{FFDBD078-3918-AB00-EBA5-FF91CC70997E}"/>
              </a:ext>
            </a:extLst>
          </p:cNvPr>
          <p:cNvCxnSpPr>
            <a:cxnSpLocks/>
          </p:cNvCxnSpPr>
          <p:nvPr/>
        </p:nvCxnSpPr>
        <p:spPr>
          <a:xfrm flipH="1" flipV="1">
            <a:off x="6695164" y="5658484"/>
            <a:ext cx="559686" cy="37745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17">
            <a:extLst>
              <a:ext uri="{FF2B5EF4-FFF2-40B4-BE49-F238E27FC236}">
                <a16:creationId xmlns:a16="http://schemas.microsoft.com/office/drawing/2014/main" id="{F8B52D04-DFA8-C017-219C-DFFB9F23FD3C}"/>
              </a:ext>
            </a:extLst>
          </p:cNvPr>
          <p:cNvSpPr/>
          <p:nvPr/>
        </p:nvSpPr>
        <p:spPr>
          <a:xfrm>
            <a:off x="6975007" y="6035936"/>
            <a:ext cx="3070436" cy="619124"/>
          </a:xfrm>
          <a:prstGeom prst="roundRect">
            <a:avLst>
              <a:gd name="adj" fmla="val 24615"/>
            </a:avLst>
          </a:prstGeom>
          <a:solidFill>
            <a:srgbClr val="FFFFFF"/>
          </a:solidFill>
          <a:ln w="825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19">
            <a:extLst>
              <a:ext uri="{FF2B5EF4-FFF2-40B4-BE49-F238E27FC236}">
                <a16:creationId xmlns:a16="http://schemas.microsoft.com/office/drawing/2014/main" id="{D899E542-BC09-B379-5D8C-565DEA826F26}"/>
              </a:ext>
            </a:extLst>
          </p:cNvPr>
          <p:cNvSpPr txBox="1"/>
          <p:nvPr/>
        </p:nvSpPr>
        <p:spPr>
          <a:xfrm>
            <a:off x="7177414" y="6234226"/>
            <a:ext cx="2868029" cy="27058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1" dirty="0">
                <a:solidFill>
                  <a:srgbClr val="424242"/>
                </a:solidFill>
                <a:latin typeface="Montserrat"/>
              </a:rPr>
              <a:t>Cellule de fusion avec météo</a:t>
            </a:r>
            <a:endParaRPr sz="1400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39" name="Espace réservé du numéro de diapositive 38">
            <a:extLst>
              <a:ext uri="{FF2B5EF4-FFF2-40B4-BE49-F238E27FC236}">
                <a16:creationId xmlns:a16="http://schemas.microsoft.com/office/drawing/2014/main" id="{8911FB78-DDC2-FDCF-59FA-B653783FC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26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1980" y="657225"/>
            <a:ext cx="57148" cy="714375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28674" y="657225"/>
            <a:ext cx="247643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4DB6AC"/>
                </a:solidFill>
                <a:latin typeface="Roboto Slab"/>
              </a:rPr>
              <a:t>WEATHER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8674" y="942975"/>
            <a:ext cx="2476438" cy="12573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212121"/>
                </a:solidFill>
                <a:latin typeface="Montserrat"/>
              </a:rPr>
              <a:t>Collecte des</a:t>
            </a:r>
            <a:r>
              <a:rPr sz="1104"/>
              <a:t>
</a:t>
            </a:r>
            <a:r>
              <a:rPr sz="2392" b="1">
                <a:solidFill>
                  <a:srgbClr val="212121"/>
                </a:solidFill>
                <a:latin typeface="Montserrat"/>
              </a:rPr>
              <a:t>Données :</a:t>
            </a:r>
            <a:r>
              <a:rPr sz="1104"/>
              <a:t>
</a:t>
            </a:r>
            <a:r>
              <a:rPr sz="2392" b="1">
                <a:solidFill>
                  <a:srgbClr val="212121"/>
                </a:solidFill>
                <a:latin typeface="Montserrat"/>
              </a:rPr>
              <a:t>API Météo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1980" y="2533649"/>
            <a:ext cx="4248043" cy="923924"/>
          </a:xfrm>
          <a:prstGeom prst="roundRect">
            <a:avLst>
              <a:gd name="adj" fmla="val 20618"/>
            </a:avLst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 Same Side Corner Rectangle 6"/>
          <p:cNvSpPr/>
          <p:nvPr/>
        </p:nvSpPr>
        <p:spPr>
          <a:xfrm rot="16200000">
            <a:off x="382568" y="2913061"/>
            <a:ext cx="923924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47723" y="2771775"/>
            <a:ext cx="3724181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520"/>
              </a:spcAft>
            </a:pPr>
            <a:r>
              <a:rPr sz="837" b="1">
                <a:solidFill>
                  <a:srgbClr val="42A5F5"/>
                </a:solidFill>
                <a:latin typeface="Montserrat"/>
              </a:rPr>
              <a:t>SOURCE DE DONNÉES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23" y="3047999"/>
            <a:ext cx="3724181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757575"/>
                </a:solidFill>
                <a:latin typeface="Montserrat"/>
              </a:rPr>
              <a:t>Open-Meteo Historical Weather API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980" y="3743325"/>
            <a:ext cx="4248043" cy="742950"/>
          </a:xfrm>
          <a:prstGeom prst="roundRect">
            <a:avLst>
              <a:gd name="adj" fmla="val 20512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04852" y="3924299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8674" y="4029075"/>
            <a:ext cx="133346" cy="1714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28714" y="3886200"/>
            <a:ext cx="1381090" cy="4572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424242"/>
                </a:solidFill>
                <a:latin typeface="Montserrat"/>
              </a:rPr>
              <a:t>Sceaux, France</a:t>
            </a:r>
            <a:r>
              <a:rPr sz="1104"/>
              <a:t>
</a:t>
            </a:r>
            <a:r>
              <a:rPr sz="777" b="1">
                <a:solidFill>
                  <a:srgbClr val="757575"/>
                </a:solidFill>
                <a:latin typeface="Montserrat"/>
              </a:rPr>
              <a:t>Lat: 48.78° | Lon: 2.29°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1980" y="4724399"/>
            <a:ext cx="4248043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780"/>
              </a:spcAft>
            </a:pPr>
            <a:r>
              <a:rPr sz="837" b="1">
                <a:solidFill>
                  <a:srgbClr val="424242"/>
                </a:solidFill>
                <a:latin typeface="Montserrat"/>
              </a:rPr>
              <a:t>VARIABLES RÉCUPÉRÉES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1980" y="5038724"/>
            <a:ext cx="2066873" cy="619124"/>
          </a:xfrm>
          <a:prstGeom prst="roundRect">
            <a:avLst>
              <a:gd name="adj" fmla="val 24615"/>
            </a:avLst>
          </a:prstGeom>
          <a:solidFill>
            <a:srgbClr val="FFFFFF"/>
          </a:solidFill>
          <a:ln w="825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377" y="5267324"/>
            <a:ext cx="16" cy="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4DB6AC"/>
                </a:solidFill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2020" y="5162550"/>
            <a:ext cx="1514437" cy="3714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424242"/>
                </a:solidFill>
                <a:latin typeface="Montserrat"/>
              </a:rPr>
              <a:t>Température (min/max/moyenne)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43151" y="5038724"/>
            <a:ext cx="2066873" cy="619124"/>
          </a:xfrm>
          <a:prstGeom prst="roundRect">
            <a:avLst>
              <a:gd name="adj" fmla="val 24615"/>
            </a:avLst>
          </a:prstGeom>
          <a:solidFill>
            <a:srgbClr val="FFFFFF"/>
          </a:solidFill>
          <a:ln w="825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095547" y="5267324"/>
            <a:ext cx="18" cy="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4DB6AC"/>
                </a:solidFill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2240" y="5162550"/>
            <a:ext cx="1495387" cy="3714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424242"/>
                </a:solidFill>
                <a:latin typeface="Montserrat"/>
              </a:rPr>
              <a:t>Précipitations journalières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1980" y="5772150"/>
            <a:ext cx="2066873" cy="438149"/>
          </a:xfrm>
          <a:prstGeom prst="roundRect">
            <a:avLst>
              <a:gd name="adj" fmla="val 34782"/>
            </a:avLst>
          </a:prstGeom>
          <a:solidFill>
            <a:srgbClr val="FFFFFF"/>
          </a:solidFill>
          <a:ln w="825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14377" y="5915025"/>
            <a:ext cx="190495" cy="1524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200119" y="5895974"/>
            <a:ext cx="1371565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424242"/>
                </a:solidFill>
                <a:latin typeface="Montserrat"/>
              </a:rPr>
              <a:t>Durée ensoleillement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943151" y="5772150"/>
            <a:ext cx="2066873" cy="438149"/>
          </a:xfrm>
          <a:prstGeom prst="roundRect">
            <a:avLst>
              <a:gd name="adj" fmla="val 34782"/>
            </a:avLst>
          </a:prstGeom>
          <a:solidFill>
            <a:srgbClr val="FFFFFF"/>
          </a:solidFill>
          <a:ln w="825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095547" y="5915025"/>
            <a:ext cx="190495" cy="152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381290" y="5895974"/>
            <a:ext cx="885802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424242"/>
                </a:solidFill>
                <a:latin typeface="Montserrat"/>
              </a:rPr>
              <a:t>Durée du jour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262" y="0"/>
            <a:ext cx="6705432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74" name="Picture 2" descr="Open-Meteo 🌤🌍 (@open_meteo) / Posts / X">
            <a:extLst>
              <a:ext uri="{FF2B5EF4-FFF2-40B4-BE49-F238E27FC236}">
                <a16:creationId xmlns:a16="http://schemas.microsoft.com/office/drawing/2014/main" id="{2DB63649-7563-F96A-D5A8-F33273E2DD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09933" y="181000"/>
            <a:ext cx="1200133" cy="1200133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3" name="Image 3072">
            <a:extLst>
              <a:ext uri="{FF2B5EF4-FFF2-40B4-BE49-F238E27FC236}">
                <a16:creationId xmlns:a16="http://schemas.microsoft.com/office/drawing/2014/main" id="{593D3060-9AFC-4565-7322-8409DF19E4B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41661" y="3570801"/>
            <a:ext cx="6242170" cy="1496173"/>
          </a:xfrm>
          <a:prstGeom prst="rect">
            <a:avLst/>
          </a:prstGeom>
        </p:spPr>
      </p:pic>
      <p:cxnSp>
        <p:nvCxnSpPr>
          <p:cNvPr id="3077" name="Connecteur droit avec flèche 3076">
            <a:extLst>
              <a:ext uri="{FF2B5EF4-FFF2-40B4-BE49-F238E27FC236}">
                <a16:creationId xmlns:a16="http://schemas.microsoft.com/office/drawing/2014/main" id="{253C6AC9-741B-4522-6042-3C217F033FA9}"/>
              </a:ext>
            </a:extLst>
          </p:cNvPr>
          <p:cNvCxnSpPr>
            <a:cxnSpLocks/>
          </p:cNvCxnSpPr>
          <p:nvPr/>
        </p:nvCxnSpPr>
        <p:spPr>
          <a:xfrm>
            <a:off x="10883900" y="2533649"/>
            <a:ext cx="838200" cy="96574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17">
            <a:extLst>
              <a:ext uri="{FF2B5EF4-FFF2-40B4-BE49-F238E27FC236}">
                <a16:creationId xmlns:a16="http://schemas.microsoft.com/office/drawing/2014/main" id="{9AE5B237-281A-AC19-8471-37215F14179C}"/>
              </a:ext>
            </a:extLst>
          </p:cNvPr>
          <p:cNvSpPr/>
          <p:nvPr/>
        </p:nvSpPr>
        <p:spPr>
          <a:xfrm>
            <a:off x="9443801" y="1857165"/>
            <a:ext cx="2066873" cy="619124"/>
          </a:xfrm>
          <a:prstGeom prst="roundRect">
            <a:avLst>
              <a:gd name="adj" fmla="val 24615"/>
            </a:avLst>
          </a:prstGeom>
          <a:solidFill>
            <a:srgbClr val="FFFFFF"/>
          </a:solidFill>
          <a:ln w="825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19">
            <a:extLst>
              <a:ext uri="{FF2B5EF4-FFF2-40B4-BE49-F238E27FC236}">
                <a16:creationId xmlns:a16="http://schemas.microsoft.com/office/drawing/2014/main" id="{68711281-28CE-42C4-298B-75938FE9AD9C}"/>
              </a:ext>
            </a:extLst>
          </p:cNvPr>
          <p:cNvSpPr txBox="1"/>
          <p:nvPr/>
        </p:nvSpPr>
        <p:spPr>
          <a:xfrm>
            <a:off x="9646208" y="2055455"/>
            <a:ext cx="1717073" cy="27058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1" dirty="0">
                <a:solidFill>
                  <a:srgbClr val="424242"/>
                </a:solidFill>
                <a:latin typeface="Montserrat"/>
              </a:rPr>
              <a:t>Cellule de fusion</a:t>
            </a:r>
            <a:endParaRPr sz="1400" b="1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3079" name="Espace réservé du numéro de diapositive 3078">
            <a:extLst>
              <a:ext uri="{FF2B5EF4-FFF2-40B4-BE49-F238E27FC236}">
                <a16:creationId xmlns:a16="http://schemas.microsoft.com/office/drawing/2014/main" id="{A6C96BBB-CD57-DFCA-E0BA-CA85AF15A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26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1980" y="209550"/>
            <a:ext cx="57148" cy="714375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28674" y="209550"/>
            <a:ext cx="294315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4DB6AC"/>
                </a:solidFill>
                <a:latin typeface="Roboto Slab"/>
              </a:rPr>
              <a:t>DATA CLEANING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8674" y="495299"/>
            <a:ext cx="2943151" cy="838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212121"/>
                </a:solidFill>
                <a:latin typeface="Montserrat"/>
              </a:rPr>
              <a:t>Nettoyage des</a:t>
            </a:r>
            <a:r>
              <a:rPr sz="1104"/>
              <a:t>
</a:t>
            </a:r>
            <a:r>
              <a:rPr sz="2392" b="1">
                <a:solidFill>
                  <a:srgbClr val="212121"/>
                </a:solidFill>
                <a:latin typeface="Montserrat"/>
              </a:rPr>
              <a:t>Données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1980" y="1666874"/>
            <a:ext cx="4248043" cy="2314575"/>
          </a:xfrm>
          <a:prstGeom prst="roundRect">
            <a:avLst>
              <a:gd name="adj" fmla="val 9876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 Same Side Corner Rectangle 6"/>
          <p:cNvSpPr/>
          <p:nvPr/>
        </p:nvSpPr>
        <p:spPr>
          <a:xfrm rot="16200000">
            <a:off x="-312757" y="2741611"/>
            <a:ext cx="231457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47723" y="1704975"/>
            <a:ext cx="333366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913" b="1" dirty="0">
                <a:solidFill>
                  <a:srgbClr val="42A5F5"/>
                </a:solidFill>
                <a:latin typeface="Montserrat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23" y="2000250"/>
            <a:ext cx="3724181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780"/>
              </a:spcAft>
            </a:pPr>
            <a:r>
              <a:rPr sz="1076" b="1">
                <a:solidFill>
                  <a:srgbClr val="424242"/>
                </a:solidFill>
                <a:latin typeface="Montserrat"/>
              </a:rPr>
              <a:t>Suppression des valeurs manquantes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23" y="2371725"/>
            <a:ext cx="3724181" cy="60007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757575"/>
                </a:solidFill>
                <a:latin typeface="Montserrat"/>
              </a:rPr>
              <a:t>Élimination des lignes avec valeurs vides dans les colonnes numériques clés pour garantir la qualité des données.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7723" y="3114675"/>
            <a:ext cx="3724181" cy="628650"/>
          </a:xfrm>
          <a:prstGeom prst="roundRect">
            <a:avLst>
              <a:gd name="adj" fmla="val 24242"/>
            </a:avLst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47723" y="3114675"/>
            <a:ext cx="3724181" cy="6286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975"/>
              </a:spcBef>
              <a:spcAft>
                <a:spcPts val="0"/>
              </a:spcAft>
            </a:pPr>
            <a:r>
              <a:rPr sz="777" b="0">
                <a:solidFill>
                  <a:srgbClr val="E8E8E8"/>
                </a:solidFill>
                <a:latin typeface="Courier New"/>
              </a:rPr>
              <a:t> </a:t>
            </a:r>
            <a:r>
              <a:rPr sz="777" b="0">
                <a:solidFill>
                  <a:srgbClr val="42A5F5"/>
                </a:solidFill>
                <a:latin typeface="Courier New"/>
              </a:rPr>
              <a:t>df</a:t>
            </a:r>
            <a:r>
              <a:rPr sz="777" b="0">
                <a:solidFill>
                  <a:srgbClr val="E8E8E8"/>
                </a:solidFill>
                <a:latin typeface="Courier New"/>
              </a:rPr>
              <a:t>.dropna(subset=[</a:t>
            </a:r>
            <a:r>
              <a:rPr sz="777" b="0">
                <a:solidFill>
                  <a:srgbClr val="4DB6AC"/>
                </a:solidFill>
                <a:latin typeface="Courier New"/>
              </a:rPr>
              <a:t>'Global_active_power'</a:t>
            </a:r>
            <a:r>
              <a:rPr sz="777" b="0">
                <a:solidFill>
                  <a:srgbClr val="E8E8E8"/>
                </a:solidFill>
                <a:latin typeface="Courier New"/>
              </a:rPr>
              <a:t>, </a:t>
            </a:r>
            <a:r>
              <a:rPr sz="777" b="0">
                <a:solidFill>
                  <a:srgbClr val="4DB6AC"/>
                </a:solidFill>
                <a:latin typeface="Courier New"/>
              </a:rPr>
              <a:t>'Voltage'</a:t>
            </a:r>
            <a:r>
              <a:rPr sz="777" b="0">
                <a:solidFill>
                  <a:srgbClr val="E8E8E8"/>
                </a:solidFill>
                <a:latin typeface="Courier New"/>
              </a:rPr>
              <a:t>, </a:t>
            </a:r>
            <a:r>
              <a:rPr sz="777" b="0">
                <a:solidFill>
                  <a:srgbClr val="4DB6AC"/>
                </a:solidFill>
                <a:latin typeface="Courier New"/>
              </a:rPr>
              <a:t>'Current'</a:t>
            </a:r>
            <a:r>
              <a:rPr sz="777" b="0">
                <a:solidFill>
                  <a:srgbClr val="E8E8E8"/>
                </a:solidFill>
                <a:latin typeface="Courier New"/>
              </a:rPr>
              <a:t>]) 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1980" y="4171950"/>
            <a:ext cx="4248043" cy="2295525"/>
          </a:xfrm>
          <a:prstGeom prst="roundRect">
            <a:avLst>
              <a:gd name="adj" fmla="val 9958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 Same Side Corner Rectangle 13"/>
          <p:cNvSpPr/>
          <p:nvPr/>
        </p:nvSpPr>
        <p:spPr>
          <a:xfrm rot="16200000">
            <a:off x="-303232" y="5237162"/>
            <a:ext cx="229552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47723" y="4244975"/>
            <a:ext cx="390515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913" b="1" dirty="0">
                <a:solidFill>
                  <a:srgbClr val="42A5F5"/>
                </a:solidFill>
                <a:latin typeface="Montserrat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23" y="4505325"/>
            <a:ext cx="3724181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780"/>
              </a:spcAft>
            </a:pPr>
            <a:r>
              <a:rPr sz="1076" b="1">
                <a:solidFill>
                  <a:srgbClr val="424242"/>
                </a:solidFill>
                <a:latin typeface="Montserrat"/>
              </a:rPr>
              <a:t>Création de l'index temporel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23" y="4876800"/>
            <a:ext cx="3724181" cy="4000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757575"/>
                </a:solidFill>
                <a:latin typeface="Montserrat"/>
              </a:rPr>
              <a:t>Fusion des colonnes Date et Time en index datetime pour l'agrégation journalière et l'ordre chronologique.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7723" y="5419725"/>
            <a:ext cx="3724181" cy="809625"/>
          </a:xfrm>
          <a:prstGeom prst="roundRect">
            <a:avLst>
              <a:gd name="adj" fmla="val 18823"/>
            </a:avLst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47723" y="5419725"/>
            <a:ext cx="3724181" cy="80962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975"/>
              </a:spcBef>
              <a:spcAft>
                <a:spcPts val="0"/>
              </a:spcAft>
            </a:pPr>
            <a:r>
              <a:rPr sz="777" b="0">
                <a:solidFill>
                  <a:srgbClr val="E8E8E8"/>
                </a:solidFill>
                <a:latin typeface="Courier New"/>
              </a:rPr>
              <a:t> df[</a:t>
            </a:r>
            <a:r>
              <a:rPr sz="777" b="0">
                <a:solidFill>
                  <a:srgbClr val="4DB6AC"/>
                </a:solidFill>
                <a:latin typeface="Courier New"/>
              </a:rPr>
              <a:t>'datetime'</a:t>
            </a:r>
            <a:r>
              <a:rPr sz="777" b="0">
                <a:solidFill>
                  <a:srgbClr val="E8E8E8"/>
                </a:solidFill>
                <a:latin typeface="Courier New"/>
              </a:rPr>
              <a:t>] = pd.to_datetime(df[</a:t>
            </a:r>
            <a:r>
              <a:rPr sz="777" b="0">
                <a:solidFill>
                  <a:srgbClr val="4DB6AC"/>
                </a:solidFill>
                <a:latin typeface="Courier New"/>
              </a:rPr>
              <a:t>'Date'</a:t>
            </a:r>
            <a:r>
              <a:rPr sz="777" b="0">
                <a:solidFill>
                  <a:srgbClr val="E8E8E8"/>
                </a:solidFill>
                <a:latin typeface="Courier New"/>
              </a:rPr>
              <a:t>] + </a:t>
            </a:r>
            <a:r>
              <a:rPr sz="777" b="0">
                <a:solidFill>
                  <a:srgbClr val="4DB6AC"/>
                </a:solidFill>
                <a:latin typeface="Courier New"/>
              </a:rPr>
              <a:t>' '</a:t>
            </a:r>
            <a:r>
              <a:rPr sz="777" b="0">
                <a:solidFill>
                  <a:srgbClr val="E8E8E8"/>
                </a:solidFill>
                <a:latin typeface="Courier New"/>
              </a:rPr>
              <a:t> + df[</a:t>
            </a:r>
            <a:r>
              <a:rPr sz="777" b="0">
                <a:solidFill>
                  <a:srgbClr val="4DB6AC"/>
                </a:solidFill>
                <a:latin typeface="Courier New"/>
              </a:rPr>
              <a:t>'Time'</a:t>
            </a:r>
            <a:r>
              <a:rPr sz="777" b="0">
                <a:solidFill>
                  <a:srgbClr val="E8E8E8"/>
                </a:solidFill>
                <a:latin typeface="Courier New"/>
              </a:rPr>
              <a:t>])</a:t>
            </a:r>
            <a:r>
              <a:rPr sz="1104"/>
              <a:t>
</a:t>
            </a:r>
            <a:r>
              <a:rPr sz="777" b="0">
                <a:solidFill>
                  <a:srgbClr val="E8E8E8"/>
                </a:solidFill>
                <a:latin typeface="Courier New"/>
              </a:rPr>
              <a:t> df.set_index(</a:t>
            </a:r>
            <a:r>
              <a:rPr sz="777" b="0">
                <a:solidFill>
                  <a:srgbClr val="4DB6AC"/>
                </a:solidFill>
                <a:latin typeface="Courier New"/>
              </a:rPr>
              <a:t>'datetime'</a:t>
            </a:r>
            <a:r>
              <a:rPr sz="777" b="0">
                <a:solidFill>
                  <a:srgbClr val="E8E8E8"/>
                </a:solidFill>
                <a:latin typeface="Courier New"/>
              </a:rPr>
              <a:t>, inplace=</a:t>
            </a:r>
            <a:r>
              <a:rPr sz="777" b="0">
                <a:solidFill>
                  <a:srgbClr val="FF9800"/>
                </a:solidFill>
                <a:latin typeface="Courier New"/>
              </a:rPr>
              <a:t>True</a:t>
            </a:r>
            <a:r>
              <a:rPr sz="777" b="0">
                <a:solidFill>
                  <a:srgbClr val="E8E8E8"/>
                </a:solidFill>
                <a:latin typeface="Courier New"/>
              </a:rPr>
              <a:t>) 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262" y="0"/>
            <a:ext cx="6705432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9143771" y="-952499"/>
            <a:ext cx="3809904" cy="3809999"/>
          </a:xfrm>
          <a:prstGeom prst="roundRect">
            <a:avLst>
              <a:gd name="adj" fmla="val 50000"/>
            </a:avLst>
          </a:prstGeom>
          <a:solidFill>
            <a:srgbClr val="E3F2FD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553036" y="1924049"/>
            <a:ext cx="4571885" cy="857250"/>
          </a:xfrm>
          <a:prstGeom prst="roundRect">
            <a:avLst>
              <a:gd name="adj" fmla="val 2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91155" y="2114550"/>
            <a:ext cx="476238" cy="476249"/>
          </a:xfrm>
          <a:prstGeom prst="roundRect">
            <a:avLst>
              <a:gd name="adj" fmla="val 400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34026" y="2247899"/>
            <a:ext cx="180970" cy="20955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410264" y="2124075"/>
            <a:ext cx="347653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25"/>
              </a:spcAft>
            </a:pPr>
            <a:r>
              <a:rPr sz="956" b="1">
                <a:solidFill>
                  <a:srgbClr val="424242"/>
                </a:solidFill>
                <a:latin typeface="Montserrat"/>
              </a:rPr>
              <a:t>Données brutes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10264" y="2400300"/>
            <a:ext cx="3476538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757575"/>
                </a:solidFill>
                <a:latin typeface="Montserrat"/>
              </a:rPr>
              <a:t>Mesures minute-level avec valeurs manquantes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53036" y="2933699"/>
            <a:ext cx="4571885" cy="857250"/>
          </a:xfrm>
          <a:prstGeom prst="roundRect">
            <a:avLst>
              <a:gd name="adj" fmla="val 2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791155" y="3124200"/>
            <a:ext cx="476238" cy="476249"/>
          </a:xfrm>
          <a:prstGeom prst="roundRect">
            <a:avLst>
              <a:gd name="adj" fmla="val 40000"/>
            </a:avLst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24501" y="3257550"/>
            <a:ext cx="209544" cy="20955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410264" y="3124200"/>
            <a:ext cx="347653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25"/>
              </a:spcAft>
            </a:pPr>
            <a:r>
              <a:rPr sz="956" b="1">
                <a:solidFill>
                  <a:srgbClr val="424242"/>
                </a:solidFill>
                <a:latin typeface="Montserrat"/>
              </a:rPr>
              <a:t>Nettoyage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10264" y="3400425"/>
            <a:ext cx="3476538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757575"/>
                </a:solidFill>
                <a:latin typeface="Montserrat"/>
              </a:rPr>
              <a:t>Suppression lignes incomplètes + Index datetime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53036" y="3924299"/>
            <a:ext cx="4571885" cy="857250"/>
          </a:xfrm>
          <a:prstGeom prst="roundRect">
            <a:avLst>
              <a:gd name="adj" fmla="val 2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6791155" y="4114800"/>
            <a:ext cx="476238" cy="476249"/>
          </a:xfrm>
          <a:prstGeom prst="roundRect">
            <a:avLst>
              <a:gd name="adj" fmla="val 40000"/>
            </a:avLst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924501" y="4248150"/>
            <a:ext cx="209544" cy="20955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410264" y="4124324"/>
            <a:ext cx="347653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25"/>
              </a:spcAft>
            </a:pPr>
            <a:r>
              <a:rPr sz="956" b="1">
                <a:solidFill>
                  <a:srgbClr val="424242"/>
                </a:solidFill>
                <a:latin typeface="Montserrat"/>
              </a:rPr>
              <a:t>Données nettoyées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10264" y="4400550"/>
            <a:ext cx="3476538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757575"/>
                </a:solidFill>
                <a:latin typeface="Montserrat"/>
              </a:rPr>
              <a:t>Prêtes pour agrégation et analyse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162920" y="6362700"/>
            <a:ext cx="133346" cy="1524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372465" y="6353174"/>
            <a:ext cx="1342991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757575"/>
                </a:solidFill>
                <a:latin typeface="Montserrat"/>
              </a:rPr>
              <a:t>ENERGY ANALYTICS</a:t>
            </a:r>
          </a:p>
        </p:txBody>
      </p:sp>
      <p:sp>
        <p:nvSpPr>
          <p:cNvPr id="39" name="Espace réservé du numéro de diapositive 38">
            <a:extLst>
              <a:ext uri="{FF2B5EF4-FFF2-40B4-BE49-F238E27FC236}">
                <a16:creationId xmlns:a16="http://schemas.microsoft.com/office/drawing/2014/main" id="{3F577BD7-ED2C-49D6-8EA0-25CFB3C73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26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1980" y="942975"/>
            <a:ext cx="57148" cy="714375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28674" y="942975"/>
            <a:ext cx="2181170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4DB6AC"/>
                </a:solidFill>
                <a:latin typeface="Roboto Slab"/>
              </a:rPr>
              <a:t>DATA MERGING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8674" y="1228725"/>
            <a:ext cx="2181170" cy="838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212121"/>
                </a:solidFill>
                <a:latin typeface="Montserrat"/>
              </a:rPr>
              <a:t>Fusion des</a:t>
            </a:r>
            <a:r>
              <a:rPr sz="1104"/>
              <a:t>
</a:t>
            </a:r>
            <a:r>
              <a:rPr sz="2392" b="1">
                <a:solidFill>
                  <a:srgbClr val="212121"/>
                </a:solidFill>
                <a:latin typeface="Montserrat"/>
              </a:rPr>
              <a:t>Tableaux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1980" y="2400300"/>
            <a:ext cx="4248043" cy="1457325"/>
          </a:xfrm>
          <a:prstGeom prst="roundRect">
            <a:avLst>
              <a:gd name="adj" fmla="val 15686"/>
            </a:avLst>
          </a:prstGeom>
          <a:solidFill>
            <a:srgbClr val="F0F7FF"/>
          </a:solidFill>
          <a:ln w="16510">
            <a:solidFill>
              <a:srgbClr val="42A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19149" y="2657475"/>
            <a:ext cx="3733706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975"/>
              </a:spcAft>
            </a:pPr>
            <a:r>
              <a:rPr sz="1104"/>
              <a:t>  </a:t>
            </a:r>
            <a:r>
              <a:rPr sz="837" b="1">
                <a:solidFill>
                  <a:srgbClr val="42A5F5"/>
                </a:solidFill>
                <a:latin typeface="Montserrat"/>
              </a:rPr>
              <a:t> PROCESSUS DE FUSION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9149" y="2800350"/>
            <a:ext cx="0" cy="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42A5F5"/>
                </a:solidFill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9149" y="3000375"/>
            <a:ext cx="3733706" cy="60007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616161"/>
                </a:solidFill>
                <a:latin typeface="Montserrat"/>
              </a:rPr>
              <a:t> DataFrame consommation + DataFrame météo</a:t>
            </a:r>
            <a:r>
              <a:rPr sz="1104"/>
              <a:t>
</a:t>
            </a:r>
            <a:r>
              <a:rPr sz="837" b="0">
                <a:solidFill>
                  <a:srgbClr val="616161"/>
                </a:solidFill>
                <a:latin typeface="Montserrat"/>
              </a:rPr>
              <a:t> Jointure sur colonne </a:t>
            </a:r>
            <a:r>
              <a:rPr sz="837" b="1">
                <a:solidFill>
                  <a:srgbClr val="616161"/>
                </a:solidFill>
                <a:latin typeface="Montserrat"/>
              </a:rPr>
              <a:t>date</a:t>
            </a:r>
            <a:r>
              <a:rPr sz="837" b="0">
                <a:solidFill>
                  <a:srgbClr val="616161"/>
                </a:solidFill>
                <a:latin typeface="Montserrat"/>
              </a:rPr>
              <a:t> (how='left')</a:t>
            </a:r>
            <a:r>
              <a:rPr sz="1104"/>
              <a:t>
</a:t>
            </a:r>
            <a:r>
              <a:rPr sz="837" b="0">
                <a:solidFill>
                  <a:srgbClr val="616161"/>
                </a:solidFill>
                <a:latin typeface="Montserrat"/>
              </a:rPr>
              <a:t> Création du tableau fusionné complet 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980" y="4095749"/>
            <a:ext cx="4248043" cy="800100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33426" y="4276725"/>
            <a:ext cx="428614" cy="428625"/>
          </a:xfrm>
          <a:prstGeom prst="roundRect">
            <a:avLst>
              <a:gd name="adj" fmla="val 35555"/>
            </a:avLst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66773" y="4400550"/>
            <a:ext cx="18" cy="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5C6BC0"/>
                </a:solidFill>
              </a:rPr>
              <a:t>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12" y="4267199"/>
            <a:ext cx="3333666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260"/>
              </a:spcAft>
            </a:pPr>
            <a:r>
              <a:rPr sz="956" b="1">
                <a:solidFill>
                  <a:srgbClr val="424242"/>
                </a:solidFill>
                <a:latin typeface="Montserrat"/>
              </a:rPr>
              <a:t>is_weekend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4912" y="4533900"/>
            <a:ext cx="3333666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757575"/>
                </a:solidFill>
                <a:latin typeface="Montserrat"/>
              </a:rPr>
              <a:t>Samedi ou dimanche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1980" y="5010149"/>
            <a:ext cx="4248043" cy="800100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33426" y="5191125"/>
            <a:ext cx="428614" cy="428625"/>
          </a:xfrm>
          <a:prstGeom prst="roundRect">
            <a:avLst>
              <a:gd name="adj" fmla="val 35555"/>
            </a:avLst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42971" y="5400675"/>
            <a:ext cx="0" cy="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EF5350"/>
                </a:solidFill>
              </a:rPr>
              <a:t>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4912" y="5181599"/>
            <a:ext cx="3333666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260"/>
              </a:spcAft>
            </a:pPr>
            <a:r>
              <a:rPr sz="956" b="1">
                <a:solidFill>
                  <a:srgbClr val="424242"/>
                </a:solidFill>
                <a:latin typeface="Montserrat"/>
              </a:rPr>
              <a:t>is_holiday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4912" y="5448300"/>
            <a:ext cx="3333666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757575"/>
                </a:solidFill>
                <a:latin typeface="Montserrat"/>
              </a:rPr>
              <a:t>Jour férié français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262" y="0"/>
            <a:ext cx="6705432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9143771" y="-952499"/>
            <a:ext cx="3809904" cy="3809999"/>
          </a:xfrm>
          <a:prstGeom prst="roundRect">
            <a:avLst>
              <a:gd name="adj" fmla="val 50000"/>
            </a:avLst>
          </a:prstGeom>
          <a:solidFill>
            <a:srgbClr val="E3F2FD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553036" y="895350"/>
            <a:ext cx="4571885" cy="1047749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43531" y="1085850"/>
            <a:ext cx="4190895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780"/>
              </a:spcAft>
            </a:pPr>
            <a:r>
              <a:rPr sz="777" b="1">
                <a:solidFill>
                  <a:srgbClr val="42A5F5"/>
                </a:solidFill>
                <a:latin typeface="Montserrat"/>
              </a:rPr>
              <a:t> </a:t>
            </a:r>
            <a:r>
              <a:rPr sz="1104"/>
              <a:t>  </a:t>
            </a:r>
            <a:r>
              <a:rPr sz="777" b="1">
                <a:solidFill>
                  <a:srgbClr val="42A5F5"/>
                </a:solidFill>
                <a:latin typeface="Montserrat"/>
              </a:rPr>
              <a:t> Consommation 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43531" y="1114425"/>
            <a:ext cx="104772" cy="123824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6743531" y="1390650"/>
            <a:ext cx="1342991" cy="361950"/>
          </a:xfrm>
          <a:prstGeom prst="roundRect">
            <a:avLst>
              <a:gd name="adj" fmla="val 31578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743531" y="1390650"/>
            <a:ext cx="1342991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16161"/>
                </a:solidFill>
                <a:latin typeface="Montserrat"/>
              </a:rPr>
              <a:t>date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62720" y="1390650"/>
            <a:ext cx="1342991" cy="361950"/>
          </a:xfrm>
          <a:prstGeom prst="roundRect">
            <a:avLst>
              <a:gd name="adj" fmla="val 31578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162720" y="1390650"/>
            <a:ext cx="1342991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16161"/>
                </a:solidFill>
                <a:latin typeface="Montserrat"/>
              </a:rPr>
              <a:t>energy_kwh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91435" y="1390650"/>
            <a:ext cx="1342991" cy="361950"/>
          </a:xfrm>
          <a:prstGeom prst="roundRect">
            <a:avLst>
              <a:gd name="adj" fmla="val 31578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591435" y="1390650"/>
            <a:ext cx="1342991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16161"/>
                </a:solidFill>
                <a:latin typeface="Montserrat"/>
              </a:rPr>
              <a:t>global_power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53036" y="2228850"/>
            <a:ext cx="4571885" cy="1047749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743531" y="2419349"/>
            <a:ext cx="4190895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780"/>
              </a:spcAft>
            </a:pPr>
            <a:r>
              <a:rPr sz="777" b="1">
                <a:solidFill>
                  <a:srgbClr val="42A5F5"/>
                </a:solidFill>
                <a:latin typeface="Montserrat"/>
              </a:rPr>
              <a:t> </a:t>
            </a:r>
            <a:r>
              <a:rPr sz="1104"/>
              <a:t>  </a:t>
            </a:r>
            <a:r>
              <a:rPr sz="777" b="1">
                <a:solidFill>
                  <a:srgbClr val="42A5F5"/>
                </a:solidFill>
                <a:latin typeface="Montserrat"/>
              </a:rPr>
              <a:t> Météo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43531" y="2447924"/>
            <a:ext cx="16" cy="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42A5F5"/>
                </a:solidFill>
              </a:rPr>
              <a:t>•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43531" y="2714625"/>
            <a:ext cx="1342991" cy="361950"/>
          </a:xfrm>
          <a:prstGeom prst="roundRect">
            <a:avLst>
              <a:gd name="adj" fmla="val 31578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743531" y="2714625"/>
            <a:ext cx="1342991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16161"/>
                </a:solidFill>
                <a:latin typeface="Montserrat"/>
              </a:rPr>
              <a:t>date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62720" y="2714625"/>
            <a:ext cx="1342991" cy="361950"/>
          </a:xfrm>
          <a:prstGeom prst="roundRect">
            <a:avLst>
              <a:gd name="adj" fmla="val 31578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162720" y="2714625"/>
            <a:ext cx="1342991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16161"/>
                </a:solidFill>
                <a:latin typeface="Montserrat"/>
              </a:rPr>
              <a:t>temp_mean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91435" y="2714625"/>
            <a:ext cx="1342991" cy="361950"/>
          </a:xfrm>
          <a:prstGeom prst="roundRect">
            <a:avLst>
              <a:gd name="adj" fmla="val 31578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591435" y="2714625"/>
            <a:ext cx="1342991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16161"/>
                </a:solidFill>
                <a:latin typeface="Montserrat"/>
              </a:rPr>
              <a:t>precipitation</a:t>
            </a: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724681" y="3552825"/>
            <a:ext cx="228594" cy="3048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191295" y="3886200"/>
            <a:ext cx="1285842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>
                <a:solidFill>
                  <a:srgbClr val="4DB6AC"/>
                </a:solidFill>
                <a:latin typeface="Montserrat"/>
              </a:rPr>
              <a:t>how='left' ON date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53036" y="4276725"/>
            <a:ext cx="4571885" cy="1685925"/>
          </a:xfrm>
          <a:prstGeom prst="roundRect">
            <a:avLst>
              <a:gd name="adj" fmla="val 13559"/>
            </a:avLst>
          </a:prstGeom>
          <a:gradFill rotWithShape="1">
            <a:gsLst>
              <a:gs pos="0">
                <a:srgbClr val="FFFFFF"/>
              </a:gs>
              <a:gs pos="100000">
                <a:srgbClr val="F8F9FA"/>
              </a:gs>
            </a:gsLst>
            <a:lin ang="8100000" scaled="0"/>
          </a:gradFill>
          <a:ln w="16510">
            <a:solidFill>
              <a:srgbClr val="42A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810204" y="4533900"/>
            <a:ext cx="405754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975"/>
              </a:spcAft>
            </a:pPr>
            <a:r>
              <a:rPr sz="1104"/>
              <a:t>  </a:t>
            </a:r>
            <a:r>
              <a:rPr sz="956" b="1">
                <a:solidFill>
                  <a:srgbClr val="212121"/>
                </a:solidFill>
                <a:latin typeface="Montserrat"/>
              </a:rPr>
              <a:t>Tableau Fusionné</a:t>
            </a:r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810204" y="4562475"/>
            <a:ext cx="152396" cy="152400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6810204" y="4905375"/>
            <a:ext cx="952476" cy="361950"/>
          </a:xfrm>
          <a:prstGeom prst="roundRect">
            <a:avLst>
              <a:gd name="adj" fmla="val 31578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810204" y="4905375"/>
            <a:ext cx="952476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212121"/>
                </a:solidFill>
                <a:latin typeface="Montserrat"/>
              </a:rPr>
              <a:t>date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838879" y="4905375"/>
            <a:ext cx="971525" cy="361950"/>
          </a:xfrm>
          <a:prstGeom prst="roundRect">
            <a:avLst>
              <a:gd name="adj" fmla="val 31578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838879" y="4905375"/>
            <a:ext cx="971525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16161"/>
                </a:solidFill>
                <a:latin typeface="Montserrat"/>
              </a:rPr>
              <a:t>energy_kwh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886602" y="4905375"/>
            <a:ext cx="952476" cy="361950"/>
          </a:xfrm>
          <a:prstGeom prst="roundRect">
            <a:avLst>
              <a:gd name="adj" fmla="val 31578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886602" y="4905375"/>
            <a:ext cx="952476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16161"/>
                </a:solidFill>
                <a:latin typeface="Montserrat"/>
              </a:rPr>
              <a:t>temp_mean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15277" y="4905375"/>
            <a:ext cx="952476" cy="361950"/>
          </a:xfrm>
          <a:prstGeom prst="roundRect">
            <a:avLst>
              <a:gd name="adj" fmla="val 31578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915277" y="4905375"/>
            <a:ext cx="952476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16161"/>
                </a:solidFill>
                <a:latin typeface="Montserrat"/>
              </a:rPr>
              <a:t>is_weekend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810204" y="5343525"/>
            <a:ext cx="952476" cy="361950"/>
          </a:xfrm>
          <a:prstGeom prst="roundRect">
            <a:avLst>
              <a:gd name="adj" fmla="val 31578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810204" y="5343525"/>
            <a:ext cx="952476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16161"/>
                </a:solidFill>
                <a:latin typeface="Montserrat"/>
              </a:rPr>
              <a:t>is_holiday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838879" y="5343525"/>
            <a:ext cx="971525" cy="361950"/>
          </a:xfrm>
          <a:prstGeom prst="roundRect">
            <a:avLst>
              <a:gd name="adj" fmla="val 31578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7838879" y="5343525"/>
            <a:ext cx="971525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16161"/>
                </a:solidFill>
                <a:latin typeface="Montserrat"/>
              </a:rPr>
              <a:t>precipitation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886602" y="5343525"/>
            <a:ext cx="952476" cy="361950"/>
          </a:xfrm>
          <a:prstGeom prst="roundRect">
            <a:avLst>
              <a:gd name="adj" fmla="val 31578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886602" y="5343525"/>
            <a:ext cx="952476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16161"/>
                </a:solidFill>
                <a:latin typeface="Montserrat"/>
              </a:rPr>
              <a:t>daylight_h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915277" y="5343525"/>
            <a:ext cx="952476" cy="361950"/>
          </a:xfrm>
          <a:prstGeom prst="roundRect">
            <a:avLst>
              <a:gd name="adj" fmla="val 31578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915277" y="5343525"/>
            <a:ext cx="952476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16161"/>
                </a:solidFill>
                <a:latin typeface="Montserrat"/>
              </a:rPr>
              <a:t>sunshine_h</a:t>
            </a:r>
          </a:p>
        </p:txBody>
      </p:sp>
      <p:pic>
        <p:nvPicPr>
          <p:cNvPr id="61" name="Picture 60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162920" y="6362700"/>
            <a:ext cx="133346" cy="1524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0372465" y="6353174"/>
            <a:ext cx="1342991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757575"/>
                </a:solidFill>
                <a:latin typeface="Montserrat"/>
              </a:rPr>
              <a:t>ENERGY ANALYTICS</a:t>
            </a:r>
          </a:p>
        </p:txBody>
      </p:sp>
      <p:sp>
        <p:nvSpPr>
          <p:cNvPr id="63" name="Espace réservé du numéro de diapositive 62">
            <a:extLst>
              <a:ext uri="{FF2B5EF4-FFF2-40B4-BE49-F238E27FC236}">
                <a16:creationId xmlns:a16="http://schemas.microsoft.com/office/drawing/2014/main" id="{90D1DBAC-7B8E-B180-F6CF-646F30051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095847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-761980" y="-952499"/>
            <a:ext cx="3333666" cy="3333749"/>
          </a:xfrm>
          <a:prstGeom prst="roundRect">
            <a:avLst>
              <a:gd name="adj" fmla="val 50000"/>
            </a:avLst>
          </a:prstGeom>
          <a:solidFill>
            <a:srgbClr val="E3F2FD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80990" y="38100"/>
            <a:ext cx="5333866" cy="3295650"/>
          </a:xfrm>
          <a:prstGeom prst="roundRect">
            <a:avLst>
              <a:gd name="adj" fmla="val 693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23861" y="180975"/>
            <a:ext cx="5048123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65"/>
              </a:lnSpc>
              <a:spcBef>
                <a:spcPts val="0"/>
              </a:spcBef>
              <a:spcAft>
                <a:spcPts val="650"/>
              </a:spcAft>
            </a:pPr>
            <a:r>
              <a:rPr sz="837" b="1">
                <a:solidFill>
                  <a:srgbClr val="424242"/>
                </a:solidFill>
                <a:latin typeface="Montserrat"/>
              </a:rPr>
              <a:t>Consommation moyenne par tranche de température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3861" y="476249"/>
            <a:ext cx="5048123" cy="2476499"/>
          </a:xfrm>
          <a:prstGeom prst="round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23861" y="3028950"/>
            <a:ext cx="5048123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040"/>
              </a:lnSpc>
              <a:spcBef>
                <a:spcPts val="520"/>
              </a:spcBef>
              <a:spcAft>
                <a:spcPts val="0"/>
              </a:spcAft>
            </a:pPr>
            <a:r>
              <a:rPr sz="717" b="0">
                <a:solidFill>
                  <a:srgbClr val="757575"/>
                </a:solidFill>
                <a:latin typeface="Montserrat"/>
              </a:rPr>
              <a:t>Consommation en fonction de la température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0990" y="3524250"/>
            <a:ext cx="5333866" cy="3295650"/>
          </a:xfrm>
          <a:prstGeom prst="roundRect">
            <a:avLst>
              <a:gd name="adj" fmla="val 693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23861" y="3667124"/>
            <a:ext cx="5048123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65"/>
              </a:lnSpc>
              <a:spcBef>
                <a:spcPts val="0"/>
              </a:spcBef>
              <a:spcAft>
                <a:spcPts val="650"/>
              </a:spcAft>
            </a:pPr>
            <a:r>
              <a:rPr sz="837" b="1">
                <a:solidFill>
                  <a:srgbClr val="424242"/>
                </a:solidFill>
                <a:latin typeface="Montserrat"/>
              </a:rPr>
              <a:t>Consommation moyenne journalière par mois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3861" y="3962399"/>
            <a:ext cx="5048123" cy="2476499"/>
          </a:xfrm>
          <a:prstGeom prst="roundRect">
            <a:avLst/>
          </a:prstGeom>
          <a:blipFill>
            <a:blip r:embed="rId4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23861" y="6515100"/>
            <a:ext cx="5048123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040"/>
              </a:lnSpc>
              <a:spcBef>
                <a:spcPts val="520"/>
              </a:spcBef>
              <a:spcAft>
                <a:spcPts val="0"/>
              </a:spcAft>
            </a:pPr>
            <a:r>
              <a:rPr sz="717" b="0">
                <a:solidFill>
                  <a:srgbClr val="757575"/>
                </a:solidFill>
                <a:latin typeface="Montserrat"/>
              </a:rPr>
              <a:t>Variation saisonnière de la consommation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5847" y="0"/>
            <a:ext cx="609584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67333" y="1209674"/>
            <a:ext cx="5048123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390"/>
              </a:spcAft>
            </a:pPr>
            <a:r>
              <a:rPr sz="897" b="0">
                <a:solidFill>
                  <a:srgbClr val="4DB6AC"/>
                </a:solidFill>
                <a:latin typeface="Roboto Slab"/>
              </a:rPr>
              <a:t>HYPOTHESIS VALIDATION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333" y="1485900"/>
            <a:ext cx="5048123" cy="666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</a:pPr>
            <a:r>
              <a:rPr sz="1913" b="1">
                <a:solidFill>
                  <a:srgbClr val="212121"/>
                </a:solidFill>
                <a:latin typeface="Montserrat"/>
              </a:rPr>
              <a:t>Graphes pour valider</a:t>
            </a:r>
            <a:r>
              <a:rPr sz="1104"/>
              <a:t>
</a:t>
            </a:r>
            <a:r>
              <a:rPr sz="1913" b="1">
                <a:solidFill>
                  <a:srgbClr val="212121"/>
                </a:solidFill>
                <a:latin typeface="Montserrat"/>
              </a:rPr>
              <a:t>l'hypothèse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333" y="2724150"/>
            <a:ext cx="20" cy="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42A5F5"/>
                </a:solidFill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72125" y="2705099"/>
            <a:ext cx="4743331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97" b="1">
                <a:solidFill>
                  <a:srgbClr val="424242"/>
                </a:solidFill>
                <a:latin typeface="Montserrat"/>
              </a:rPr>
              <a:t>Consommation vs Température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2125" y="2952750"/>
            <a:ext cx="4743331" cy="37147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260"/>
              </a:spcBef>
              <a:spcAft>
                <a:spcPts val="0"/>
              </a:spcAft>
            </a:pPr>
            <a:r>
              <a:rPr sz="777" b="0">
                <a:solidFill>
                  <a:srgbClr val="757575"/>
                </a:solidFill>
                <a:latin typeface="Montserrat"/>
              </a:rPr>
              <a:t>Relation non linéaire : consommation forte en froid extrême et chaleur excessive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667333" y="3486150"/>
            <a:ext cx="171445" cy="19049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953076" y="3467100"/>
            <a:ext cx="4276618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97" b="1">
                <a:solidFill>
                  <a:srgbClr val="424242"/>
                </a:solidFill>
                <a:latin typeface="Montserrat"/>
              </a:rPr>
              <a:t>Variation saisonnière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53076" y="3724274"/>
            <a:ext cx="4276618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260"/>
              </a:spcBef>
              <a:spcAft>
                <a:spcPts val="0"/>
              </a:spcAft>
            </a:pPr>
            <a:r>
              <a:rPr sz="777" b="0">
                <a:solidFill>
                  <a:srgbClr val="757575"/>
                </a:solidFill>
                <a:latin typeface="Montserrat"/>
              </a:rPr>
              <a:t>Consommation élevée en hiver (déc, jan, nov), faible en été (juil, août)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667333" y="4076699"/>
            <a:ext cx="190495" cy="19049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72125" y="4057650"/>
            <a:ext cx="4371865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97" b="1">
                <a:solidFill>
                  <a:srgbClr val="424242"/>
                </a:solidFill>
                <a:latin typeface="Montserrat"/>
              </a:rPr>
              <a:t>Pics de consommation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72125" y="4305300"/>
            <a:ext cx="4371865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260"/>
              </a:spcBef>
              <a:spcAft>
                <a:spcPts val="0"/>
              </a:spcAft>
            </a:pPr>
            <a:r>
              <a:rPr sz="777" b="0">
                <a:solidFill>
                  <a:srgbClr val="757575"/>
                </a:solidFill>
                <a:latin typeface="Montserrat"/>
              </a:rPr>
              <a:t>Les jours de forte consommation sont souvent des week-ends en hiver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67333" y="4686300"/>
            <a:ext cx="5048123" cy="962024"/>
          </a:xfrm>
          <a:prstGeom prst="roundRect">
            <a:avLst>
              <a:gd name="adj" fmla="val 15841"/>
            </a:avLst>
          </a:prstGeom>
          <a:solidFill>
            <a:srgbClr val="FFF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 Same Side Corner Rectangle 24"/>
          <p:cNvSpPr/>
          <p:nvPr/>
        </p:nvSpPr>
        <p:spPr>
          <a:xfrm rot="16200000">
            <a:off x="6252361" y="5101272"/>
            <a:ext cx="962024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876878" y="4886325"/>
            <a:ext cx="104772" cy="13334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048323" y="4857750"/>
            <a:ext cx="1981150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>
                <a:solidFill>
                  <a:srgbClr val="FF6F00"/>
                </a:solidFill>
                <a:latin typeface="Montserrat"/>
              </a:rPr>
              <a:t>Confirmation de l'hypothèse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76878" y="5124449"/>
            <a:ext cx="4667133" cy="3429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La température n'est pas le seul critère : le calendrier (week-end, jour férié) et la saisonnalité influencent significativement la consommation.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0162920" y="6362700"/>
            <a:ext cx="133346" cy="1524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0372465" y="6353174"/>
            <a:ext cx="1342991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757575"/>
                </a:solidFill>
                <a:latin typeface="Montserrat"/>
              </a:rPr>
              <a:t>ENERGY ANALYTICS</a:t>
            </a:r>
          </a:p>
        </p:txBody>
      </p:sp>
      <p:sp>
        <p:nvSpPr>
          <p:cNvPr id="31" name="Espace réservé du numéro de diapositive 30">
            <a:extLst>
              <a:ext uri="{FF2B5EF4-FFF2-40B4-BE49-F238E27FC236}">
                <a16:creationId xmlns:a16="http://schemas.microsoft.com/office/drawing/2014/main" id="{24E27699-99E9-AB2D-9C44-272C88E26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26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74662" y="123825"/>
            <a:ext cx="57148" cy="561975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28673" y="186344"/>
            <a:ext cx="4248043" cy="465512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392" b="1" dirty="0">
                <a:solidFill>
                  <a:srgbClr val="212121"/>
                </a:solidFill>
                <a:latin typeface="Montserrat"/>
              </a:rPr>
              <a:t>Choix de la</a:t>
            </a:r>
            <a:r>
              <a:rPr lang="fr-FR" sz="1104" b="1" dirty="0">
                <a:solidFill>
                  <a:srgbClr val="212121"/>
                </a:solidFill>
                <a:latin typeface="Montserrat"/>
              </a:rPr>
              <a:t> </a:t>
            </a:r>
            <a:r>
              <a:rPr sz="2392" b="1" dirty="0" err="1">
                <a:solidFill>
                  <a:srgbClr val="212121"/>
                </a:solidFill>
                <a:latin typeface="Montserrat"/>
              </a:rPr>
              <a:t>Régression</a:t>
            </a:r>
            <a:endParaRPr sz="2392" b="1" dirty="0">
              <a:solidFill>
                <a:srgbClr val="212121"/>
              </a:solidFill>
              <a:latin typeface="Montserrat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733407" y="876301"/>
            <a:ext cx="4248043" cy="1800225"/>
          </a:xfrm>
          <a:prstGeom prst="roundRect">
            <a:avLst>
              <a:gd name="adj" fmla="val 12698"/>
            </a:avLst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 Same Side Corner Rectangle 5"/>
          <p:cNvSpPr/>
          <p:nvPr/>
        </p:nvSpPr>
        <p:spPr>
          <a:xfrm rot="16200000">
            <a:off x="-84155" y="1693863"/>
            <a:ext cx="180022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19150" y="1114425"/>
            <a:ext cx="428614" cy="428625"/>
          </a:xfrm>
          <a:prstGeom prst="roundRect">
            <a:avLst>
              <a:gd name="adj" fmla="val 44444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33447" y="1228725"/>
            <a:ext cx="190495" cy="1904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19150" y="1685925"/>
            <a:ext cx="3724181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650"/>
              </a:spcAft>
            </a:pPr>
            <a:r>
              <a:rPr sz="1076" b="1">
                <a:solidFill>
                  <a:srgbClr val="424242"/>
                </a:solidFill>
                <a:latin typeface="Montserrat"/>
              </a:rPr>
              <a:t>Relation Linéaire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9150" y="2011614"/>
            <a:ext cx="3724181" cy="453522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rgbClr val="616161"/>
                </a:solidFill>
                <a:latin typeface="Montserrat"/>
              </a:rPr>
              <a:t>Les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résultats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montrent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une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relation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linéaire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entre les variables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explicatives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et la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consommation</a:t>
            </a:r>
            <a:r>
              <a:rPr sz="1000" b="0" dirty="0">
                <a:solidFill>
                  <a:srgbClr val="616161"/>
                </a:solidFill>
                <a:latin typeface="Montserrat"/>
              </a:rPr>
              <a:t> </a:t>
            </a:r>
            <a:r>
              <a:rPr sz="1000" b="0" dirty="0" err="1">
                <a:solidFill>
                  <a:srgbClr val="616161"/>
                </a:solidFill>
                <a:latin typeface="Montserrat"/>
              </a:rPr>
              <a:t>cible</a:t>
            </a:r>
            <a:endParaRPr sz="1000" b="0" dirty="0">
              <a:solidFill>
                <a:srgbClr val="616161"/>
              </a:solidFill>
              <a:latin typeface="Montserrat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733407" y="2867025"/>
            <a:ext cx="4248043" cy="1800225"/>
          </a:xfrm>
          <a:prstGeom prst="roundRect">
            <a:avLst>
              <a:gd name="adj" fmla="val 1269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 Same Side Corner Rectangle 11"/>
          <p:cNvSpPr/>
          <p:nvPr/>
        </p:nvSpPr>
        <p:spPr>
          <a:xfrm rot="16200000">
            <a:off x="-84155" y="3684587"/>
            <a:ext cx="180022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19150" y="3105151"/>
            <a:ext cx="428614" cy="428625"/>
          </a:xfrm>
          <a:prstGeom prst="roundRect">
            <a:avLst>
              <a:gd name="adj" fmla="val 44444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2022" y="3228976"/>
            <a:ext cx="142871" cy="19049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19150" y="3676651"/>
            <a:ext cx="3724181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650"/>
              </a:spcAft>
            </a:pPr>
            <a:r>
              <a:rPr sz="1076" b="1">
                <a:solidFill>
                  <a:srgbClr val="424242"/>
                </a:solidFill>
                <a:latin typeface="Montserrat"/>
              </a:rPr>
              <a:t>Interprétabilité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150" y="4002339"/>
            <a:ext cx="3724181" cy="453522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16161"/>
                </a:solidFill>
                <a:latin typeface="Montserrat"/>
              </a:rPr>
              <a:t>Modèle simple et interprétable pour expliquer l'impact de chaque variable sur la consommation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3407" y="4857750"/>
            <a:ext cx="4248043" cy="1800225"/>
          </a:xfrm>
          <a:prstGeom prst="roundRect">
            <a:avLst>
              <a:gd name="adj" fmla="val 1269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 Same Side Corner Rectangle 17"/>
          <p:cNvSpPr/>
          <p:nvPr/>
        </p:nvSpPr>
        <p:spPr>
          <a:xfrm rot="16200000">
            <a:off x="-84155" y="5675312"/>
            <a:ext cx="180022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5C6B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19150" y="5095876"/>
            <a:ext cx="428614" cy="428625"/>
          </a:xfrm>
          <a:prstGeom prst="roundRect">
            <a:avLst>
              <a:gd name="adj" fmla="val 44444"/>
            </a:avLst>
          </a:prstGeom>
          <a:solidFill>
            <a:srgbClr val="5C6B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33447" y="5210176"/>
            <a:ext cx="190495" cy="19049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19150" y="5667376"/>
            <a:ext cx="3724181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650"/>
              </a:spcAft>
            </a:pPr>
            <a:r>
              <a:rPr sz="1076" b="1">
                <a:solidFill>
                  <a:srgbClr val="424242"/>
                </a:solidFill>
                <a:latin typeface="Montserrat"/>
              </a:rPr>
              <a:t>Efficacité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150" y="5993065"/>
            <a:ext cx="3724181" cy="453522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16161"/>
                </a:solidFill>
                <a:latin typeface="Montserrat"/>
              </a:rPr>
              <a:t>Approche efficace et éprouvée pour les tâches de prévision numérique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262" y="0"/>
            <a:ext cx="6705432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860813" y="1475925"/>
            <a:ext cx="1670586" cy="27712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65"/>
              </a:lnSpc>
              <a:spcBef>
                <a:spcPts val="0"/>
              </a:spcBef>
              <a:spcAft>
                <a:spcPts val="520"/>
              </a:spcAft>
            </a:pPr>
            <a:r>
              <a:rPr sz="1000" b="1">
                <a:solidFill>
                  <a:srgbClr val="4DB6AC"/>
                </a:solidFill>
                <a:latin typeface="Montserrat"/>
              </a:rPr>
              <a:t>ALGORITHMES TESTÉS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81328" y="1759810"/>
            <a:ext cx="2829557" cy="34753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12121"/>
                </a:solidFill>
                <a:latin typeface="Montserrat"/>
              </a:rPr>
              <a:t>Trois Modèles de Régression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62500" y="2505074"/>
            <a:ext cx="1695407" cy="1952624"/>
          </a:xfrm>
          <a:prstGeom prst="roundRect">
            <a:avLst>
              <a:gd name="adj" fmla="val 1348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8" name="Rounded Rectangle 27"/>
          <p:cNvSpPr/>
          <p:nvPr/>
        </p:nvSpPr>
        <p:spPr>
          <a:xfrm>
            <a:off x="6524461" y="2743200"/>
            <a:ext cx="571485" cy="571500"/>
          </a:xfrm>
          <a:prstGeom prst="roundRect">
            <a:avLst>
              <a:gd name="adj" fmla="val 50000"/>
            </a:avLst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657808" y="2895600"/>
            <a:ext cx="304792" cy="266699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22575" y="3428549"/>
            <a:ext cx="1175258" cy="27712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430"/>
              </a:lnSpc>
              <a:spcBef>
                <a:spcPts val="0"/>
              </a:spcBef>
              <a:spcAft>
                <a:spcPts val="650"/>
              </a:spcAft>
            </a:pPr>
            <a:r>
              <a:rPr sz="1000" b="1">
                <a:solidFill>
                  <a:srgbClr val="212121"/>
                </a:solidFill>
                <a:latin typeface="Montserrat"/>
              </a:rPr>
              <a:t>Random Forest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48403" y="2505074"/>
            <a:ext cx="1695407" cy="1952624"/>
          </a:xfrm>
          <a:prstGeom prst="roundRect">
            <a:avLst>
              <a:gd name="adj" fmla="val 1348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4" name="Rounded Rectangle 33"/>
          <p:cNvSpPr/>
          <p:nvPr/>
        </p:nvSpPr>
        <p:spPr>
          <a:xfrm>
            <a:off x="8410364" y="2743200"/>
            <a:ext cx="571485" cy="571500"/>
          </a:xfrm>
          <a:prstGeom prst="roundRect">
            <a:avLst>
              <a:gd name="adj" fmla="val 500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543711" y="2895600"/>
            <a:ext cx="304792" cy="266699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038899" y="3443556"/>
            <a:ext cx="1314417" cy="456663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1430"/>
              </a:lnSpc>
              <a:spcBef>
                <a:spcPts val="0"/>
              </a:spcBef>
              <a:spcAft>
                <a:spcPts val="650"/>
              </a:spcAft>
            </a:pPr>
            <a:r>
              <a:rPr sz="1000" b="1">
                <a:solidFill>
                  <a:srgbClr val="212121"/>
                </a:solidFill>
                <a:latin typeface="Montserrat"/>
              </a:rPr>
              <a:t>Gradient Boosting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734306" y="2505074"/>
            <a:ext cx="1695407" cy="1952624"/>
          </a:xfrm>
          <a:prstGeom prst="roundRect">
            <a:avLst>
              <a:gd name="adj" fmla="val 1348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0" name="Rounded Rectangle 39"/>
          <p:cNvSpPr/>
          <p:nvPr/>
        </p:nvSpPr>
        <p:spPr>
          <a:xfrm>
            <a:off x="10296267" y="2743200"/>
            <a:ext cx="571485" cy="571500"/>
          </a:xfrm>
          <a:prstGeom prst="roundRect">
            <a:avLst>
              <a:gd name="adj" fmla="val 50000"/>
            </a:avLst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0467713" y="2895600"/>
            <a:ext cx="238119" cy="266699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924801" y="3445127"/>
            <a:ext cx="1314417" cy="453522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1430"/>
              </a:lnSpc>
              <a:spcBef>
                <a:spcPts val="0"/>
              </a:spcBef>
              <a:spcAft>
                <a:spcPts val="650"/>
              </a:spcAft>
            </a:pPr>
            <a:r>
              <a:rPr sz="1000" b="1">
                <a:solidFill>
                  <a:srgbClr val="212121"/>
                </a:solidFill>
                <a:latin typeface="Montserrat"/>
              </a:rPr>
              <a:t>Régression Linéaire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62500" y="4686300"/>
            <a:ext cx="5467213" cy="657225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46" name="Round Same Side Corner Rectangle 45"/>
          <p:cNvSpPr/>
          <p:nvPr/>
        </p:nvSpPr>
        <p:spPr>
          <a:xfrm rot="16200000">
            <a:off x="5699928" y="4948872"/>
            <a:ext cx="657225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47" name="TextBox 46"/>
          <p:cNvSpPr txBox="1"/>
          <p:nvPr/>
        </p:nvSpPr>
        <p:spPr>
          <a:xfrm>
            <a:off x="6191095" y="4805625"/>
            <a:ext cx="5048123" cy="418576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16161"/>
                </a:solidFill>
                <a:latin typeface="Montserrat"/>
              </a:rPr>
              <a:t> </a:t>
            </a:r>
            <a:r>
              <a:t>  </a:t>
            </a:r>
            <a:r>
              <a:rPr sz="1050" b="0">
                <a:solidFill>
                  <a:srgbClr val="616161"/>
                </a:solidFill>
                <a:latin typeface="Montserrat"/>
              </a:rPr>
              <a:t> Tous les modèles sont adaptés aux problèmes de régression et permettent de prédire une valeur continue (consommation en kWh) </a:t>
            </a:r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191095" y="4857750"/>
            <a:ext cx="123821" cy="123824"/>
          </a:xfrm>
          <a:prstGeom prst="rect">
            <a:avLst/>
          </a:prstGeom>
        </p:spPr>
      </p:pic>
      <p:sp>
        <p:nvSpPr>
          <p:cNvPr id="51" name="Espace réservé du numéro de diapositive 50">
            <a:extLst>
              <a:ext uri="{FF2B5EF4-FFF2-40B4-BE49-F238E27FC236}">
                <a16:creationId xmlns:a16="http://schemas.microsoft.com/office/drawing/2014/main" id="{A828EBF3-2E7A-EC50-0BC4-CD0E63CCF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-952476" y="-952499"/>
            <a:ext cx="3809904" cy="3809999"/>
          </a:xfrm>
          <a:prstGeom prst="roundRect">
            <a:avLst>
              <a:gd name="adj" fmla="val 50000"/>
            </a:avLst>
          </a:prstGeom>
          <a:solidFill>
            <a:srgbClr val="E8EAF6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334266" y="4476750"/>
            <a:ext cx="3809904" cy="3809999"/>
          </a:xfrm>
          <a:prstGeom prst="roundRect">
            <a:avLst>
              <a:gd name="adj" fmla="val 50000"/>
            </a:avLst>
          </a:prstGeom>
          <a:solidFill>
            <a:srgbClr val="E3F2F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61980" y="476249"/>
            <a:ext cx="57148" cy="666750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7248" y="476249"/>
            <a:ext cx="5314817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325"/>
              </a:spcAft>
            </a:pPr>
            <a:r>
              <a:rPr sz="1076" b="0">
                <a:solidFill>
                  <a:srgbClr val="4DB6AC"/>
                </a:solidFill>
                <a:latin typeface="Roboto Slab"/>
              </a:rPr>
              <a:t>PROPOSED ALGORITHMS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48" y="781050"/>
            <a:ext cx="5314817" cy="457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631" b="1">
                <a:solidFill>
                  <a:srgbClr val="212121"/>
                </a:solidFill>
                <a:latin typeface="Montserrat"/>
              </a:rPr>
              <a:t>3 Algorithmes proposés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67673" y="981074"/>
            <a:ext cx="133346" cy="152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277218" y="971550"/>
            <a:ext cx="1342991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757575"/>
                </a:solidFill>
                <a:latin typeface="Montserrat"/>
              </a:rPr>
              <a:t>ENERGY ANALYTICS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1485" y="1523999"/>
            <a:ext cx="3495587" cy="4857750"/>
          </a:xfrm>
          <a:prstGeom prst="roundRect">
            <a:avLst>
              <a:gd name="adj" fmla="val 8719"/>
            </a:avLst>
          </a:prstGeom>
          <a:solidFill>
            <a:srgbClr val="F8F9FA"/>
          </a:solidFill>
          <a:ln w="49530">
            <a:solidFill>
              <a:srgbClr val="5C6B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09604" y="1866899"/>
            <a:ext cx="666733" cy="666750"/>
          </a:xfrm>
          <a:prstGeom prst="roundRect">
            <a:avLst>
              <a:gd name="adj" fmla="val 50000"/>
            </a:avLst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9624" y="2047874"/>
            <a:ext cx="266693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09604" y="2724150"/>
            <a:ext cx="3019349" cy="2476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975"/>
              </a:spcAft>
            </a:pPr>
            <a:r>
              <a:rPr sz="1315" b="1">
                <a:solidFill>
                  <a:srgbClr val="212121"/>
                </a:solidFill>
                <a:latin typeface="Montserrat"/>
              </a:rPr>
              <a:t>Random Forest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604" y="3124200"/>
            <a:ext cx="3019349" cy="847724"/>
          </a:xfrm>
          <a:prstGeom prst="roundRect">
            <a:avLst>
              <a:gd name="adj" fmla="val 1797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 Same Side Corner Rectangle 13"/>
          <p:cNvSpPr/>
          <p:nvPr/>
        </p:nvSpPr>
        <p:spPr>
          <a:xfrm rot="16200000">
            <a:off x="451782" y="3482022"/>
            <a:ext cx="847724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5C6B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90575" y="3267075"/>
            <a:ext cx="2695507" cy="56197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Méthode d'ensemble construisant plusieurs arbres de décision et les combinant par vote ou moyennage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604" y="4105274"/>
            <a:ext cx="3019349" cy="190499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757575"/>
                </a:solidFill>
                <a:latin typeface="Montserrat"/>
              </a:rPr>
              <a:t> </a:t>
            </a:r>
            <a:r>
              <a:rPr sz="1104"/>
              <a:t>  </a:t>
            </a:r>
            <a:r>
              <a:rPr sz="837" b="0">
                <a:solidFill>
                  <a:srgbClr val="757575"/>
                </a:solidFill>
                <a:latin typeface="Montserrat"/>
              </a:rPr>
              <a:t> Robuste au surapprentissage 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09604" y="4143375"/>
            <a:ext cx="95247" cy="952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9604" y="4391025"/>
            <a:ext cx="3019349" cy="190499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757575"/>
                </a:solidFill>
                <a:latin typeface="Montserrat"/>
              </a:rPr>
              <a:t> </a:t>
            </a:r>
            <a:r>
              <a:rPr sz="1104"/>
              <a:t>  </a:t>
            </a:r>
            <a:r>
              <a:rPr sz="837" b="0">
                <a:solidFill>
                  <a:srgbClr val="757575"/>
                </a:solidFill>
                <a:latin typeface="Montserrat"/>
              </a:rPr>
              <a:t> Gère les relations non linéaires 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09604" y="4429125"/>
            <a:ext cx="95247" cy="9524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09604" y="4667249"/>
            <a:ext cx="3019349" cy="190499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757575"/>
                </a:solidFill>
                <a:latin typeface="Montserrat"/>
              </a:rPr>
              <a:t> </a:t>
            </a:r>
            <a:r>
              <a:rPr sz="1104"/>
              <a:t>  </a:t>
            </a:r>
            <a:r>
              <a:rPr sz="837" b="0">
                <a:solidFill>
                  <a:srgbClr val="757575"/>
                </a:solidFill>
                <a:latin typeface="Montserrat"/>
              </a:rPr>
              <a:t> Haute performance par défaut 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09604" y="4705350"/>
            <a:ext cx="95247" cy="95249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4352816" y="1523999"/>
            <a:ext cx="3495587" cy="4857750"/>
          </a:xfrm>
          <a:prstGeom prst="roundRect">
            <a:avLst>
              <a:gd name="adj" fmla="val 8719"/>
            </a:avLst>
          </a:prstGeom>
          <a:solidFill>
            <a:srgbClr val="F8F9FA"/>
          </a:solidFill>
          <a:ln w="49530">
            <a:solidFill>
              <a:srgbClr val="42A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590935" y="1866899"/>
            <a:ext cx="666733" cy="666750"/>
          </a:xfrm>
          <a:prstGeom prst="roundRect">
            <a:avLst>
              <a:gd name="adj" fmla="val 500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752856" y="2047874"/>
            <a:ext cx="342891" cy="304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590935" y="2724150"/>
            <a:ext cx="3019349" cy="2476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975"/>
              </a:spcAft>
            </a:pPr>
            <a:r>
              <a:rPr sz="1315" b="1">
                <a:solidFill>
                  <a:srgbClr val="212121"/>
                </a:solidFill>
                <a:latin typeface="Montserrat"/>
              </a:rPr>
              <a:t>Gradient Boosting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90935" y="3124200"/>
            <a:ext cx="3019349" cy="847724"/>
          </a:xfrm>
          <a:prstGeom prst="roundRect">
            <a:avLst>
              <a:gd name="adj" fmla="val 1797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 Same Side Corner Rectangle 26"/>
          <p:cNvSpPr/>
          <p:nvPr/>
        </p:nvSpPr>
        <p:spPr>
          <a:xfrm rot="16200000">
            <a:off x="4233113" y="3482022"/>
            <a:ext cx="847724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771905" y="3267075"/>
            <a:ext cx="2695507" cy="56197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Méthode séquentielle construisant des arbres un par un, chaque modèle corrigeant les erreurs du précédent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0935" y="4105274"/>
            <a:ext cx="3019349" cy="190499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757575"/>
                </a:solidFill>
                <a:latin typeface="Montserrat"/>
              </a:rPr>
              <a:t> </a:t>
            </a:r>
            <a:r>
              <a:rPr sz="1104"/>
              <a:t>  </a:t>
            </a:r>
            <a:r>
              <a:rPr sz="837" b="0">
                <a:solidFill>
                  <a:srgbClr val="757575"/>
                </a:solidFill>
                <a:latin typeface="Montserrat"/>
              </a:rPr>
              <a:t> Modèle puissant et régularisable </a:t>
            </a:r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590935" y="4143375"/>
            <a:ext cx="95247" cy="9524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590935" y="4391025"/>
            <a:ext cx="3019349" cy="190499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757575"/>
                </a:solidFill>
                <a:latin typeface="Montserrat"/>
              </a:rPr>
              <a:t> </a:t>
            </a:r>
            <a:r>
              <a:rPr sz="1104"/>
              <a:t>  </a:t>
            </a:r>
            <a:r>
              <a:rPr sz="837" b="0">
                <a:solidFill>
                  <a:srgbClr val="757575"/>
                </a:solidFill>
                <a:latin typeface="Montserrat"/>
              </a:rPr>
              <a:t> Contrôle du taux d'apprentissage </a:t>
            </a: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590935" y="4429125"/>
            <a:ext cx="95247" cy="9524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590935" y="4667249"/>
            <a:ext cx="3019349" cy="190499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757575"/>
                </a:solidFill>
                <a:latin typeface="Montserrat"/>
              </a:rPr>
              <a:t> </a:t>
            </a:r>
            <a:r>
              <a:rPr sz="1104"/>
              <a:t>  </a:t>
            </a:r>
            <a:r>
              <a:rPr sz="837" b="0">
                <a:solidFill>
                  <a:srgbClr val="757575"/>
                </a:solidFill>
                <a:latin typeface="Montserrat"/>
              </a:rPr>
              <a:t> Early stopping intégré </a:t>
            </a:r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590935" y="4705350"/>
            <a:ext cx="95247" cy="95249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8124621" y="1523999"/>
            <a:ext cx="3495587" cy="4857750"/>
          </a:xfrm>
          <a:prstGeom prst="roundRect">
            <a:avLst>
              <a:gd name="adj" fmla="val 8719"/>
            </a:avLst>
          </a:prstGeom>
          <a:solidFill>
            <a:srgbClr val="F8F9FA"/>
          </a:solidFill>
          <a:ln w="49530">
            <a:solidFill>
              <a:srgbClr val="4DB6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8362740" y="1866899"/>
            <a:ext cx="666733" cy="666750"/>
          </a:xfrm>
          <a:prstGeom prst="roundRect">
            <a:avLst>
              <a:gd name="adj" fmla="val 50000"/>
            </a:avLst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8543711" y="2047874"/>
            <a:ext cx="304792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362740" y="2724150"/>
            <a:ext cx="3019349" cy="2476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975"/>
              </a:spcAft>
            </a:pPr>
            <a:r>
              <a:rPr sz="1315" b="1">
                <a:solidFill>
                  <a:srgbClr val="212121"/>
                </a:solidFill>
                <a:latin typeface="Montserrat"/>
              </a:rPr>
              <a:t>Régression Linéaire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362740" y="3124200"/>
            <a:ext cx="3019349" cy="847724"/>
          </a:xfrm>
          <a:prstGeom prst="roundRect">
            <a:avLst>
              <a:gd name="adj" fmla="val 1797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 Same Side Corner Rectangle 39"/>
          <p:cNvSpPr/>
          <p:nvPr/>
        </p:nvSpPr>
        <p:spPr>
          <a:xfrm rot="16200000">
            <a:off x="8004918" y="3482022"/>
            <a:ext cx="847724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543711" y="3267075"/>
            <a:ext cx="2695507" cy="56197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Modèle linéaire simple supposant une relation linéaire entre les variables explicatives et la cible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2740" y="4105274"/>
            <a:ext cx="3019349" cy="190499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757575"/>
                </a:solidFill>
                <a:latin typeface="Montserrat"/>
              </a:rPr>
              <a:t> </a:t>
            </a:r>
            <a:r>
              <a:rPr sz="1104"/>
              <a:t>  </a:t>
            </a:r>
            <a:r>
              <a:rPr sz="837" b="0">
                <a:solidFill>
                  <a:srgbClr val="757575"/>
                </a:solidFill>
                <a:latin typeface="Montserrat"/>
              </a:rPr>
              <a:t> Simple et interprétable </a:t>
            </a:r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8362740" y="4143375"/>
            <a:ext cx="95247" cy="95249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362740" y="4391025"/>
            <a:ext cx="3019349" cy="190499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757575"/>
                </a:solidFill>
                <a:latin typeface="Montserrat"/>
              </a:rPr>
              <a:t> </a:t>
            </a:r>
            <a:r>
              <a:rPr sz="1104"/>
              <a:t>  </a:t>
            </a:r>
            <a:r>
              <a:rPr sz="837" b="0">
                <a:solidFill>
                  <a:srgbClr val="757575"/>
                </a:solidFill>
                <a:latin typeface="Montserrat"/>
              </a:rPr>
              <a:t> Estimation par moindres carrés 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8362740" y="4429125"/>
            <a:ext cx="95247" cy="9524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8362740" y="4667249"/>
            <a:ext cx="3019349" cy="190499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757575"/>
                </a:solidFill>
                <a:latin typeface="Montserrat"/>
              </a:rPr>
              <a:t> </a:t>
            </a:r>
            <a:r>
              <a:rPr sz="1104"/>
              <a:t>  </a:t>
            </a:r>
            <a:r>
              <a:rPr sz="837" b="0">
                <a:solidFill>
                  <a:srgbClr val="757575"/>
                </a:solidFill>
                <a:latin typeface="Montserrat"/>
              </a:rPr>
              <a:t> Limité pour données non linéaires </a:t>
            </a:r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8362740" y="4705350"/>
            <a:ext cx="95247" cy="95249"/>
          </a:xfrm>
          <a:prstGeom prst="rect">
            <a:avLst/>
          </a:prstGeom>
        </p:spPr>
      </p:pic>
      <p:sp>
        <p:nvSpPr>
          <p:cNvPr id="48" name="Espace réservé du numéro de diapositive 47">
            <a:extLst>
              <a:ext uri="{FF2B5EF4-FFF2-40B4-BE49-F238E27FC236}">
                <a16:creationId xmlns:a16="http://schemas.microsoft.com/office/drawing/2014/main" id="{CFFC1506-1847-6209-F577-98BB966B0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26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1980" y="1200150"/>
            <a:ext cx="57148" cy="714375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28674" y="1200150"/>
            <a:ext cx="3219369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4DB6AC"/>
                </a:solidFill>
                <a:latin typeface="Roboto Slab"/>
              </a:rPr>
              <a:t>FIRST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8674" y="1485900"/>
            <a:ext cx="3219369" cy="838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212121"/>
                </a:solidFill>
                <a:latin typeface="Montserrat"/>
              </a:rPr>
              <a:t>Random Forest</a:t>
            </a:r>
            <a:r>
              <a:rPr sz="1104"/>
              <a:t>
</a:t>
            </a:r>
            <a:r>
              <a:rPr sz="2392" b="1">
                <a:solidFill>
                  <a:srgbClr val="212121"/>
                </a:solidFill>
                <a:latin typeface="Montserrat"/>
              </a:rPr>
              <a:t>Premier Modèle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1980" y="2657475"/>
            <a:ext cx="4248043" cy="1924049"/>
          </a:xfrm>
          <a:prstGeom prst="roundRect">
            <a:avLst>
              <a:gd name="adj" fmla="val 11881"/>
            </a:avLst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 Same Side Corner Rectangle 6"/>
          <p:cNvSpPr/>
          <p:nvPr/>
        </p:nvSpPr>
        <p:spPr>
          <a:xfrm rot="16200000">
            <a:off x="-117494" y="3536949"/>
            <a:ext cx="1924049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47723" y="2933699"/>
            <a:ext cx="123821" cy="1428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66793" y="2895600"/>
            <a:ext cx="1209644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97" b="1">
                <a:solidFill>
                  <a:srgbClr val="42A5F5"/>
                </a:solidFill>
                <a:latin typeface="Montserrat"/>
              </a:rPr>
              <a:t>Variables brutes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47723" y="3314700"/>
            <a:ext cx="57148" cy="57150"/>
          </a:xfrm>
          <a:prstGeom prst="roundRect">
            <a:avLst>
              <a:gd name="adj" fmla="val 5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1070" y="3248024"/>
            <a:ext cx="1571585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temp_min/max/moyenne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71725" y="3314700"/>
            <a:ext cx="57148" cy="57150"/>
          </a:xfrm>
          <a:prstGeom prst="roundRect">
            <a:avLst>
              <a:gd name="adj" fmla="val 5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105072" y="3248024"/>
            <a:ext cx="1133446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précipitation_sum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47723" y="3619499"/>
            <a:ext cx="57148" cy="57150"/>
          </a:xfrm>
          <a:prstGeom prst="roundRect">
            <a:avLst>
              <a:gd name="adj" fmla="val 5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81070" y="3552825"/>
            <a:ext cx="923901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daylight_hours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71725" y="3619499"/>
            <a:ext cx="57148" cy="57150"/>
          </a:xfrm>
          <a:prstGeom prst="roundRect">
            <a:avLst>
              <a:gd name="adj" fmla="val 5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105072" y="3552825"/>
            <a:ext cx="1152496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sunshine_duration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7723" y="3914775"/>
            <a:ext cx="57148" cy="57150"/>
          </a:xfrm>
          <a:prstGeom prst="roundRect">
            <a:avLst>
              <a:gd name="adj" fmla="val 5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81070" y="3848099"/>
            <a:ext cx="838179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jour_semaine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71725" y="3914775"/>
            <a:ext cx="57148" cy="57150"/>
          </a:xfrm>
          <a:prstGeom prst="roundRect">
            <a:avLst>
              <a:gd name="adj" fmla="val 5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105072" y="3848099"/>
            <a:ext cx="723881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is_weekend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7723" y="4210049"/>
            <a:ext cx="57148" cy="57150"/>
          </a:xfrm>
          <a:prstGeom prst="roundRect">
            <a:avLst>
              <a:gd name="adj" fmla="val 5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181070" y="4152899"/>
            <a:ext cx="609584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is_holiday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971725" y="4210049"/>
            <a:ext cx="57148" cy="57150"/>
          </a:xfrm>
          <a:prstGeom prst="roundRect">
            <a:avLst>
              <a:gd name="adj" fmla="val 5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105072" y="4152899"/>
            <a:ext cx="304792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mois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1980" y="4762500"/>
            <a:ext cx="4248043" cy="895350"/>
          </a:xfrm>
          <a:prstGeom prst="roundRect">
            <a:avLst>
              <a:gd name="adj" fmla="val 21276"/>
            </a:avLst>
          </a:prstGeom>
          <a:solidFill>
            <a:srgbClr val="FFFFFF"/>
          </a:solidFill>
          <a:ln w="165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52476" y="5124449"/>
            <a:ext cx="1704932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757575"/>
                </a:solidFill>
                <a:latin typeface="Montserrat"/>
              </a:rPr>
              <a:t>Découpage chronologique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00279" y="4952999"/>
            <a:ext cx="514337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42A5F5"/>
                </a:solidFill>
                <a:latin typeface="Montserrat"/>
              </a:rPr>
              <a:t>80%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00279" y="5295899"/>
            <a:ext cx="514337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9E9E9E"/>
                </a:solidFill>
                <a:latin typeface="Montserrat"/>
              </a:rPr>
              <a:t>Train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5112" y="4952999"/>
            <a:ext cx="495287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42A5F5"/>
                </a:solidFill>
                <a:latin typeface="Montserrat"/>
              </a:rPr>
              <a:t>20%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5112" y="5295899"/>
            <a:ext cx="495287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9E9E9E"/>
                </a:solidFill>
                <a:latin typeface="Montserrat"/>
              </a:rPr>
              <a:t>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262" y="0"/>
            <a:ext cx="6705432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9620009" y="-952499"/>
            <a:ext cx="3333666" cy="3333749"/>
          </a:xfrm>
          <a:prstGeom prst="roundRect">
            <a:avLst>
              <a:gd name="adj" fmla="val 50000"/>
            </a:avLst>
          </a:prstGeom>
          <a:solidFill>
            <a:srgbClr val="E3F2FD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62500" y="1857375"/>
            <a:ext cx="142871" cy="142875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200619" y="1819275"/>
            <a:ext cx="1543011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97" b="1">
                <a:solidFill>
                  <a:srgbClr val="424242"/>
                </a:solidFill>
                <a:latin typeface="Montserrat"/>
              </a:rPr>
              <a:t>Résultats du modèle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62500" y="2276474"/>
            <a:ext cx="2638359" cy="1085850"/>
          </a:xfrm>
          <a:prstGeom prst="roundRect">
            <a:avLst>
              <a:gd name="adj" fmla="val 2105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 Same Side Corner Rectangle 36"/>
          <p:cNvSpPr/>
          <p:nvPr/>
        </p:nvSpPr>
        <p:spPr>
          <a:xfrm rot="16200000">
            <a:off x="5502125" y="2736849"/>
            <a:ext cx="1085850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48243" y="2514600"/>
            <a:ext cx="2114497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650"/>
              </a:spcAft>
            </a:pPr>
            <a:r>
              <a:rPr sz="717" b="1">
                <a:solidFill>
                  <a:srgbClr val="757575"/>
                </a:solidFill>
                <a:latin typeface="Montserrat"/>
              </a:rPr>
              <a:t>R² SCORE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8243" y="2781300"/>
            <a:ext cx="2114497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2152" b="1">
                <a:solidFill>
                  <a:srgbClr val="EF5350"/>
                </a:solidFill>
                <a:latin typeface="Montserrat"/>
              </a:rPr>
              <a:t>0.23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791355" y="2276474"/>
            <a:ext cx="2638359" cy="1085850"/>
          </a:xfrm>
          <a:prstGeom prst="roundRect">
            <a:avLst>
              <a:gd name="adj" fmla="val 2105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 Same Side Corner Rectangle 40"/>
          <p:cNvSpPr/>
          <p:nvPr/>
        </p:nvSpPr>
        <p:spPr>
          <a:xfrm rot="16200000">
            <a:off x="8330980" y="2736849"/>
            <a:ext cx="1085850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077098" y="2514600"/>
            <a:ext cx="2114497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650"/>
              </a:spcAft>
            </a:pPr>
            <a:r>
              <a:rPr sz="717" b="1">
                <a:solidFill>
                  <a:srgbClr val="757575"/>
                </a:solidFill>
                <a:latin typeface="Montserrat"/>
              </a:rPr>
              <a:t>RMSE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77098" y="2781300"/>
            <a:ext cx="2114497" cy="3429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2152" b="1">
                <a:solidFill>
                  <a:srgbClr val="EF5350"/>
                </a:solidFill>
                <a:latin typeface="Montserrat"/>
              </a:rPr>
              <a:t>7.31</a:t>
            </a:r>
            <a:r>
              <a:rPr sz="837" b="1">
                <a:solidFill>
                  <a:srgbClr val="9E9E9E"/>
                </a:solidFill>
                <a:latin typeface="Montserrat"/>
              </a:rPr>
              <a:t>kWh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62500" y="3648074"/>
            <a:ext cx="5467213" cy="1390650"/>
          </a:xfrm>
          <a:prstGeom prst="roundRect">
            <a:avLst>
              <a:gd name="adj" fmla="val 16438"/>
            </a:avLst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 Same Side Corner Rectangle 44"/>
          <p:cNvSpPr/>
          <p:nvPr/>
        </p:nvSpPr>
        <p:spPr>
          <a:xfrm rot="16200000">
            <a:off x="5349725" y="4260849"/>
            <a:ext cx="1390650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48243" y="3952874"/>
            <a:ext cx="266693" cy="266699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6248243" y="4400550"/>
            <a:ext cx="4943351" cy="4000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>
                <a:solidFill>
                  <a:srgbClr val="616161"/>
                </a:solidFill>
                <a:latin typeface="Montserrat"/>
              </a:rPr>
              <a:t>Prédiction non satisfaisante. Le modèle nécessite des améliorations significatives avec de nouvelles variables et du nettoyage.</a:t>
            </a:r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162920" y="6362700"/>
            <a:ext cx="133346" cy="1524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372465" y="6353174"/>
            <a:ext cx="1342991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757575"/>
                </a:solidFill>
                <a:latin typeface="Montserrat"/>
              </a:rPr>
              <a:t>ENERGY ANALYTICS</a:t>
            </a:r>
          </a:p>
        </p:txBody>
      </p:sp>
      <p:sp>
        <p:nvSpPr>
          <p:cNvPr id="50" name="Espace réservé du numéro de diapositive 49">
            <a:extLst>
              <a:ext uri="{FF2B5EF4-FFF2-40B4-BE49-F238E27FC236}">
                <a16:creationId xmlns:a16="http://schemas.microsoft.com/office/drawing/2014/main" id="{9AD82590-7F95-0E90-950B-5E8931F06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26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1980" y="447675"/>
            <a:ext cx="57148" cy="714375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28674" y="447675"/>
            <a:ext cx="309554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4DB6AC"/>
                </a:solidFill>
                <a:latin typeface="Roboto Slab"/>
              </a:rPr>
              <a:t>DEGREES-JOURS UNIFIÉS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8674" y="733424"/>
            <a:ext cx="3095547" cy="838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212121"/>
                </a:solidFill>
                <a:latin typeface="Montserrat"/>
              </a:rPr>
              <a:t>Random Forest</a:t>
            </a:r>
            <a:r>
              <a:rPr sz="1104"/>
              <a:t>
</a:t>
            </a:r>
            <a:r>
              <a:rPr sz="2392" b="1">
                <a:solidFill>
                  <a:srgbClr val="212121"/>
                </a:solidFill>
                <a:latin typeface="Montserrat"/>
              </a:rPr>
              <a:t>Calcul de DJU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1980" y="1904999"/>
            <a:ext cx="4248043" cy="2257425"/>
          </a:xfrm>
          <a:prstGeom prst="roundRect">
            <a:avLst>
              <a:gd name="adj" fmla="val 10126"/>
            </a:avLst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 Same Side Corner Rectangle 6"/>
          <p:cNvSpPr/>
          <p:nvPr/>
        </p:nvSpPr>
        <p:spPr>
          <a:xfrm rot="16200000">
            <a:off x="-284182" y="2951161"/>
            <a:ext cx="225742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47723" y="2181225"/>
            <a:ext cx="15" cy="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424242"/>
                </a:solidFill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5842" y="2143125"/>
            <a:ext cx="2914577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97" b="1">
                <a:solidFill>
                  <a:srgbClr val="424242"/>
                </a:solidFill>
                <a:latin typeface="Montserrat"/>
              </a:rPr>
              <a:t>Relation Température - Consommation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47723" y="2505074"/>
            <a:ext cx="333366" cy="333375"/>
          </a:xfrm>
          <a:prstGeom prst="roundRect">
            <a:avLst>
              <a:gd name="adj" fmla="val 45714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2971" y="2590799"/>
            <a:ext cx="133346" cy="152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95387" y="2505074"/>
            <a:ext cx="3276518" cy="37147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616161"/>
                </a:solidFill>
                <a:latin typeface="Montserrat"/>
              </a:rPr>
              <a:t> </a:t>
            </a:r>
            <a:r>
              <a:rPr sz="837" b="1">
                <a:solidFill>
                  <a:srgbClr val="616161"/>
                </a:solidFill>
                <a:latin typeface="Montserrat"/>
              </a:rPr>
              <a:t>Froid extrême (-2°C) :</a:t>
            </a:r>
            <a:r>
              <a:rPr sz="837" b="0">
                <a:solidFill>
                  <a:srgbClr val="616161"/>
                </a:solidFill>
                <a:latin typeface="Montserrat"/>
              </a:rPr>
              <a:t> Chauffage augmente fortement la consommation 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47723" y="2990849"/>
            <a:ext cx="333366" cy="333375"/>
          </a:xfrm>
          <a:prstGeom prst="roundRect">
            <a:avLst>
              <a:gd name="adj" fmla="val 45714"/>
            </a:avLst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42971" y="3076574"/>
            <a:ext cx="152396" cy="1524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495387" y="2990849"/>
            <a:ext cx="3276518" cy="37147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616161"/>
                </a:solidFill>
                <a:latin typeface="Montserrat"/>
              </a:rPr>
              <a:t> </a:t>
            </a:r>
            <a:r>
              <a:rPr sz="837" b="1">
                <a:solidFill>
                  <a:srgbClr val="616161"/>
                </a:solidFill>
                <a:latin typeface="Montserrat"/>
              </a:rPr>
              <a:t>Chaleur extrême (30°C) :</a:t>
            </a:r>
            <a:r>
              <a:rPr sz="837" b="0">
                <a:solidFill>
                  <a:srgbClr val="616161"/>
                </a:solidFill>
                <a:latin typeface="Montserrat"/>
              </a:rPr>
              <a:t> Climatisation augmente la consommation 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7723" y="3476624"/>
            <a:ext cx="333366" cy="333375"/>
          </a:xfrm>
          <a:prstGeom prst="roundRect">
            <a:avLst>
              <a:gd name="adj" fmla="val 45714"/>
            </a:avLst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62020" y="3571875"/>
            <a:ext cx="95247" cy="152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495387" y="3476624"/>
            <a:ext cx="2981250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616161"/>
                </a:solidFill>
                <a:latin typeface="Montserrat"/>
              </a:rPr>
              <a:t> </a:t>
            </a:r>
            <a:r>
              <a:rPr sz="837" b="1">
                <a:solidFill>
                  <a:srgbClr val="616161"/>
                </a:solidFill>
                <a:latin typeface="Montserrat"/>
              </a:rPr>
              <a:t>Zone de confort :</a:t>
            </a:r>
            <a:r>
              <a:rPr sz="837" b="0">
                <a:solidFill>
                  <a:srgbClr val="616161"/>
                </a:solidFill>
                <a:latin typeface="Montserrat"/>
              </a:rPr>
              <a:t> Consommation plus faible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1980" y="4352924"/>
            <a:ext cx="4248043" cy="2057400"/>
          </a:xfrm>
          <a:prstGeom prst="roundRect">
            <a:avLst>
              <a:gd name="adj" fmla="val 11111"/>
            </a:avLst>
          </a:prstGeom>
          <a:gradFill rotWithShape="1">
            <a:gsLst>
              <a:gs pos="0">
                <a:srgbClr val="42A5F5"/>
              </a:gs>
              <a:gs pos="100000">
                <a:srgbClr val="1E88E5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0099" y="4629150"/>
            <a:ext cx="114297" cy="1524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209644" y="4591050"/>
            <a:ext cx="2133546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FFFFFF"/>
                </a:solidFill>
                <a:latin typeface="Montserrat"/>
              </a:rPr>
              <a:t>Degrés-Jours Unifiés (DJU)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0099" y="4933950"/>
            <a:ext cx="3771805" cy="600075"/>
          </a:xfrm>
          <a:prstGeom prst="roundRect">
            <a:avLst>
              <a:gd name="adj" fmla="val 25396"/>
            </a:avLst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0099" y="4933950"/>
            <a:ext cx="3771805" cy="60007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2145"/>
              </a:lnSpc>
              <a:spcBef>
                <a:spcPts val="0"/>
              </a:spcBef>
              <a:spcAft>
                <a:spcPts val="780"/>
              </a:spcAft>
            </a:pPr>
            <a:r>
              <a:rPr sz="1315" b="1">
                <a:solidFill>
                  <a:srgbClr val="FFFFFF"/>
                </a:solidFill>
                <a:latin typeface="Roboto Slab"/>
              </a:rPr>
              <a:t> DJU = max(0, 18 - T</a:t>
            </a:r>
            <a:r>
              <a:rPr sz="956" b="1">
                <a:solidFill>
                  <a:srgbClr val="FFFFFF"/>
                </a:solidFill>
                <a:latin typeface="Roboto Slab"/>
              </a:rPr>
              <a:t>moyenne</a:t>
            </a:r>
            <a:r>
              <a:rPr sz="1315" b="1">
                <a:solidFill>
                  <a:srgbClr val="FFFFFF"/>
                </a:solidFill>
                <a:latin typeface="Roboto Slab"/>
              </a:rPr>
              <a:t>)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0099" y="5648325"/>
            <a:ext cx="3771805" cy="52387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FFFFFF"/>
                </a:solidFill>
                <a:latin typeface="Montserrat"/>
              </a:rPr>
              <a:t> Seuil de confort : </a:t>
            </a:r>
            <a:r>
              <a:rPr sz="777" b="1">
                <a:solidFill>
                  <a:srgbClr val="FFFFFF"/>
                </a:solidFill>
                <a:latin typeface="Montserrat"/>
              </a:rPr>
              <a:t>18°C</a:t>
            </a:r>
            <a:r>
              <a:rPr sz="1104"/>
              <a:t>
</a:t>
            </a:r>
            <a:r>
              <a:rPr sz="777" b="0">
                <a:solidFill>
                  <a:srgbClr val="FFFFFF"/>
                </a:solidFill>
                <a:latin typeface="Montserrat"/>
              </a:rPr>
              <a:t> Relation approximativement linéaire avec la consommation de chauffage 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262" y="0"/>
            <a:ext cx="6705432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962500" y="1428750"/>
            <a:ext cx="5467213" cy="400050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48243" y="1714500"/>
            <a:ext cx="3076498" cy="5143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212121"/>
                </a:solidFill>
                <a:latin typeface="Montserrat"/>
              </a:rPr>
              <a:t>Courbe en U : Température vs Consommation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24741" y="1933574"/>
            <a:ext cx="76198" cy="76200"/>
          </a:xfrm>
          <a:prstGeom prst="roundRect">
            <a:avLst>
              <a:gd name="adj" fmla="val 5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458088" y="1885950"/>
            <a:ext cx="895327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757575"/>
                </a:solidFill>
                <a:latin typeface="Montserrat"/>
              </a:rPr>
              <a:t>Consommation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96287" y="1933574"/>
            <a:ext cx="47623" cy="76200"/>
          </a:xfrm>
          <a:prstGeom prst="roundRect">
            <a:avLst>
              <a:gd name="adj" fmla="val 50000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601059" y="1800225"/>
            <a:ext cx="542911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757575"/>
                </a:solidFill>
                <a:latin typeface="Montserrat"/>
              </a:rPr>
              <a:t>Zone optimale</a:t>
            </a:r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162920" y="6362700"/>
            <a:ext cx="133346" cy="1524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372465" y="6353174"/>
            <a:ext cx="1342991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757575"/>
                </a:solidFill>
                <a:latin typeface="Montserrat"/>
              </a:rPr>
              <a:t>ENERGY ANALYTICS</a:t>
            </a:r>
          </a:p>
        </p:txBody>
      </p:sp>
      <p:sp>
        <p:nvSpPr>
          <p:cNvPr id="36" name="Espace réservé du numéro de diapositive 35">
            <a:extLst>
              <a:ext uri="{FF2B5EF4-FFF2-40B4-BE49-F238E27FC236}">
                <a16:creationId xmlns:a16="http://schemas.microsoft.com/office/drawing/2014/main" id="{F2690F59-D028-AF84-5068-D04A2F564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26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1980" y="1257300"/>
            <a:ext cx="57148" cy="714375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28674" y="1257300"/>
            <a:ext cx="132394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4DB6AC"/>
                </a:solidFill>
                <a:latin typeface="Roboto Slab"/>
              </a:rPr>
              <a:t>LAG VARIABLE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8674" y="1543050"/>
            <a:ext cx="1323941" cy="4191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212121"/>
                </a:solidFill>
                <a:latin typeface="Montserrat"/>
              </a:rPr>
              <a:t>Lag-1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1980" y="2305049"/>
            <a:ext cx="4248043" cy="1438274"/>
          </a:xfrm>
          <a:prstGeom prst="roundRect">
            <a:avLst>
              <a:gd name="adj" fmla="val 15894"/>
            </a:avLst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 Same Side Corner Rectangle 6"/>
          <p:cNvSpPr/>
          <p:nvPr/>
        </p:nvSpPr>
        <p:spPr>
          <a:xfrm rot="16200000">
            <a:off x="125393" y="2941636"/>
            <a:ext cx="1438274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47723" y="2581275"/>
            <a:ext cx="13" cy="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42A5F5"/>
                </a:solidFill>
              </a:rPr>
              <a:t>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6793" y="2552700"/>
            <a:ext cx="1562060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97" b="1">
                <a:solidFill>
                  <a:srgbClr val="42A5F5"/>
                </a:solidFill>
                <a:latin typeface="Montserrat"/>
              </a:rPr>
              <a:t>Variable de décalage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47723" y="2971800"/>
            <a:ext cx="57148" cy="57150"/>
          </a:xfrm>
          <a:prstGeom prst="roundRect">
            <a:avLst>
              <a:gd name="adj" fmla="val 5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19169" y="2905124"/>
            <a:ext cx="3295567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 </a:t>
            </a:r>
            <a:r>
              <a:rPr sz="777" b="1">
                <a:solidFill>
                  <a:srgbClr val="424242"/>
                </a:solidFill>
                <a:latin typeface="Montserrat"/>
              </a:rPr>
              <a:t>energy_kwh_lag1</a:t>
            </a:r>
            <a:r>
              <a:rPr sz="777" b="0">
                <a:solidFill>
                  <a:srgbClr val="616161"/>
                </a:solidFill>
                <a:latin typeface="Montserrat"/>
              </a:rPr>
              <a:t> : Consommation du jour précédent 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47723" y="3276599"/>
            <a:ext cx="57148" cy="57150"/>
          </a:xfrm>
          <a:prstGeom prst="roundRect">
            <a:avLst>
              <a:gd name="adj" fmla="val 5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19169" y="3200400"/>
            <a:ext cx="2552636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Suppression des lignes sans valeur de lag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1980" y="3933824"/>
            <a:ext cx="4248043" cy="1666874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 w="165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1525" y="4171950"/>
            <a:ext cx="133346" cy="1333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00119" y="4143375"/>
            <a:ext cx="1914477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>
                <a:solidFill>
                  <a:srgbClr val="424242"/>
                </a:solidFill>
                <a:latin typeface="Montserrat"/>
              </a:rPr>
              <a:t>Encodage cyclique du mois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1525" y="4486275"/>
            <a:ext cx="1847803" cy="638175"/>
          </a:xfrm>
          <a:prstGeom prst="roundRect">
            <a:avLst>
              <a:gd name="adj" fmla="val 23880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85822" y="4600575"/>
            <a:ext cx="1619209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325"/>
              </a:spcAft>
            </a:pPr>
            <a:r>
              <a:rPr sz="777" b="1">
                <a:solidFill>
                  <a:srgbClr val="424242"/>
                </a:solidFill>
                <a:latin typeface="Montserrat"/>
              </a:rPr>
              <a:t>sin_mois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5822" y="4838699"/>
            <a:ext cx="1619209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757575"/>
                </a:solidFill>
                <a:latin typeface="Montserrat"/>
              </a:rPr>
              <a:t>Composante sinusoïdale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52676" y="4486275"/>
            <a:ext cx="1847803" cy="638175"/>
          </a:xfrm>
          <a:prstGeom prst="roundRect">
            <a:avLst>
              <a:gd name="adj" fmla="val 23880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066973" y="4600575"/>
            <a:ext cx="1619209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325"/>
              </a:spcAft>
            </a:pPr>
            <a:r>
              <a:rPr sz="777" b="1">
                <a:solidFill>
                  <a:srgbClr val="424242"/>
                </a:solidFill>
                <a:latin typeface="Montserrat"/>
              </a:rPr>
              <a:t>cos_mois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66973" y="4838699"/>
            <a:ext cx="1619209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757575"/>
                </a:solidFill>
                <a:latin typeface="Montserrat"/>
              </a:rPr>
              <a:t>Composante cosinus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1525" y="5219700"/>
            <a:ext cx="3828954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650"/>
              </a:spcBef>
              <a:spcAft>
                <a:spcPts val="0"/>
              </a:spcAft>
            </a:pPr>
            <a:r>
              <a:rPr sz="717" b="0">
                <a:solidFill>
                  <a:srgbClr val="757575"/>
                </a:solidFill>
                <a:latin typeface="Montserrat"/>
              </a:rPr>
              <a:t>→ Décembre et janvier sont proches dans l'espace cyclique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262" y="0"/>
            <a:ext cx="6705432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9620009" y="-952499"/>
            <a:ext cx="3333666" cy="3333749"/>
          </a:xfrm>
          <a:prstGeom prst="roundRect">
            <a:avLst>
              <a:gd name="adj" fmla="val 50000"/>
            </a:avLst>
          </a:prstGeom>
          <a:solidFill>
            <a:srgbClr val="E3F2FD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5962500" y="809625"/>
            <a:ext cx="5467213" cy="3809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48243" y="1219200"/>
            <a:ext cx="0" cy="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212121"/>
                </a:solidFill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3491" y="1095374"/>
            <a:ext cx="2028774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212121"/>
                </a:solidFill>
                <a:latin typeface="Montserrat"/>
              </a:rPr>
              <a:t>Relation Réel vs Prédit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62500" y="4857750"/>
            <a:ext cx="5467213" cy="1190625"/>
          </a:xfrm>
          <a:prstGeom prst="roundRect">
            <a:avLst>
              <a:gd name="adj" fmla="val 19200"/>
            </a:avLst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 Same Side Corner Rectangle 30"/>
          <p:cNvSpPr/>
          <p:nvPr/>
        </p:nvSpPr>
        <p:spPr>
          <a:xfrm rot="16200000">
            <a:off x="5449738" y="5370512"/>
            <a:ext cx="119062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00619" y="5095874"/>
            <a:ext cx="228594" cy="2286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200619" y="5486400"/>
            <a:ext cx="5038599" cy="37147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 </a:t>
            </a:r>
            <a:r>
              <a:rPr sz="777" b="1">
                <a:solidFill>
                  <a:srgbClr val="616161"/>
                </a:solidFill>
                <a:latin typeface="Montserrat"/>
              </a:rPr>
              <a:t>Résultats limités :</a:t>
            </a:r>
            <a:r>
              <a:rPr sz="777" b="0">
                <a:solidFill>
                  <a:srgbClr val="616161"/>
                </a:solidFill>
                <a:latin typeface="Montserrat"/>
              </a:rPr>
              <a:t> Relation non purement linéaire. Autres facteurs ou valeurs atypiques influencent les prédictions. </a:t>
            </a:r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162920" y="6362700"/>
            <a:ext cx="133346" cy="1524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372465" y="6353174"/>
            <a:ext cx="1342991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757575"/>
                </a:solidFill>
                <a:latin typeface="Montserrat"/>
              </a:rPr>
              <a:t>ENERGY ANALYTICS</a:t>
            </a:r>
          </a:p>
        </p:txBody>
      </p:sp>
      <p:sp>
        <p:nvSpPr>
          <p:cNvPr id="36" name="Espace réservé du numéro de diapositive 35">
            <a:extLst>
              <a:ext uri="{FF2B5EF4-FFF2-40B4-BE49-F238E27FC236}">
                <a16:creationId xmlns:a16="http://schemas.microsoft.com/office/drawing/2014/main" id="{72A4C754-8DE1-E233-3F19-A2321FC4C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124321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66733" y="895350"/>
            <a:ext cx="57148" cy="666750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377" y="895350"/>
            <a:ext cx="374323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4DB6AC"/>
                </a:solidFill>
                <a:latin typeface="Roboto Slab"/>
              </a:rPr>
              <a:t>FEATURE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181099"/>
            <a:ext cx="3743231" cy="8001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65"/>
              </a:lnSpc>
              <a:spcBef>
                <a:spcPts val="0"/>
              </a:spcBef>
              <a:spcAft>
                <a:spcPts val="0"/>
              </a:spcAft>
            </a:pPr>
            <a:r>
              <a:rPr sz="2272" b="1">
                <a:solidFill>
                  <a:srgbClr val="212121"/>
                </a:solidFill>
                <a:latin typeface="Montserrat"/>
              </a:rPr>
              <a:t>Filtrage et</a:t>
            </a:r>
            <a:r>
              <a:rPr sz="1104"/>
              <a:t>
</a:t>
            </a:r>
            <a:r>
              <a:rPr sz="2272" b="1">
                <a:solidFill>
                  <a:srgbClr val="212121"/>
                </a:solidFill>
                <a:latin typeface="Montserrat"/>
              </a:rPr>
              <a:t>Choix Automatique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33" y="2257425"/>
            <a:ext cx="4076598" cy="1581149"/>
          </a:xfrm>
          <a:prstGeom prst="roundRect">
            <a:avLst>
              <a:gd name="adj" fmla="val 14457"/>
            </a:avLst>
          </a:prstGeom>
          <a:gradFill rotWithShape="1">
            <a:gsLst>
              <a:gs pos="0">
                <a:srgbClr val="F0F7FF"/>
              </a:gs>
              <a:gs pos="100000">
                <a:srgbClr val="E3F2FD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 Same Side Corner Rectangle 6"/>
          <p:cNvSpPr/>
          <p:nvPr/>
        </p:nvSpPr>
        <p:spPr>
          <a:xfrm rot="16200000">
            <a:off x="-41291" y="2965449"/>
            <a:ext cx="1581149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4852" y="2486025"/>
            <a:ext cx="133346" cy="1333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4397" y="2447924"/>
            <a:ext cx="1933526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>
                <a:solidFill>
                  <a:srgbClr val="42A5F5"/>
                </a:solidFill>
                <a:latin typeface="Montserrat"/>
              </a:rPr>
              <a:t>Filtrage des jours atypiques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4852" y="2762249"/>
            <a:ext cx="3647983" cy="885825"/>
          </a:xfrm>
          <a:prstGeom prst="roundRect">
            <a:avLst>
              <a:gd name="adj" fmla="val 17204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47723" y="2905124"/>
            <a:ext cx="1666833" cy="4000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1674" b="1">
                <a:solidFill>
                  <a:srgbClr val="42A5F5"/>
                </a:solidFill>
                <a:latin typeface="Montserrat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23" y="3343275"/>
            <a:ext cx="1666833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040"/>
              </a:lnSpc>
              <a:spcBef>
                <a:spcPts val="260"/>
              </a:spcBef>
              <a:spcAft>
                <a:spcPts val="0"/>
              </a:spcAft>
            </a:pPr>
            <a:r>
              <a:rPr sz="657" b="0">
                <a:solidFill>
                  <a:srgbClr val="757575"/>
                </a:solidFill>
                <a:latin typeface="Montserrat"/>
              </a:rPr>
              <a:t>Min kWh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14557" y="3038475"/>
            <a:ext cx="19049" cy="333375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33606" y="2905124"/>
            <a:ext cx="1666833" cy="4000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1674" b="1">
                <a:solidFill>
                  <a:srgbClr val="42A5F5"/>
                </a:solidFill>
                <a:latin typeface="Montserrat"/>
              </a:rPr>
              <a:t>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3606" y="3343275"/>
            <a:ext cx="1666833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040"/>
              </a:lnSpc>
              <a:spcBef>
                <a:spcPts val="260"/>
              </a:spcBef>
              <a:spcAft>
                <a:spcPts val="0"/>
              </a:spcAft>
            </a:pPr>
            <a:r>
              <a:rPr sz="657" b="0">
                <a:solidFill>
                  <a:srgbClr val="757575"/>
                </a:solidFill>
                <a:latin typeface="Montserrat"/>
              </a:rPr>
              <a:t>Max kWh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6733" y="4029075"/>
            <a:ext cx="4076598" cy="1943100"/>
          </a:xfrm>
          <a:prstGeom prst="roundRect">
            <a:avLst>
              <a:gd name="adj" fmla="val 11764"/>
            </a:avLst>
          </a:prstGeom>
          <a:solidFill>
            <a:srgbClr val="F8F9FA"/>
          </a:solidFill>
          <a:ln w="825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7703" y="4238624"/>
            <a:ext cx="123821" cy="1238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047723" y="4210049"/>
            <a:ext cx="2114497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424242"/>
                </a:solidFill>
                <a:latin typeface="Montserrat"/>
              </a:rPr>
              <a:t>Importance des variables (Top 6)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7703" y="4505325"/>
            <a:ext cx="1809704" cy="361950"/>
          </a:xfrm>
          <a:prstGeom prst="roundRect">
            <a:avLst>
              <a:gd name="adj" fmla="val 3157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 Same Side Corner Rectangle 19"/>
          <p:cNvSpPr/>
          <p:nvPr/>
        </p:nvSpPr>
        <p:spPr>
          <a:xfrm rot="16200000">
            <a:off x="716258" y="4636770"/>
            <a:ext cx="361950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90575" y="4610099"/>
            <a:ext cx="1247743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657" b="1">
                <a:solidFill>
                  <a:srgbClr val="424242"/>
                </a:solidFill>
                <a:latin typeface="Montserrat"/>
              </a:rPr>
              <a:t>lag1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4517" y="4600575"/>
            <a:ext cx="228594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42A5F5"/>
                </a:solidFill>
                <a:latin typeface="Montserrat"/>
              </a:rPr>
              <a:t>0.51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52656" y="4505325"/>
            <a:ext cx="1809704" cy="361950"/>
          </a:xfrm>
          <a:prstGeom prst="roundRect">
            <a:avLst>
              <a:gd name="adj" fmla="val 3157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 Same Side Corner Rectangle 23"/>
          <p:cNvSpPr/>
          <p:nvPr/>
        </p:nvSpPr>
        <p:spPr>
          <a:xfrm rot="16200000">
            <a:off x="2621211" y="4636770"/>
            <a:ext cx="361950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895527" y="4610099"/>
            <a:ext cx="1219169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657" b="1">
                <a:solidFill>
                  <a:srgbClr val="424242"/>
                </a:solidFill>
                <a:latin typeface="Montserrat"/>
              </a:rPr>
              <a:t>daylight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81370" y="4600575"/>
            <a:ext cx="257168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42A5F5"/>
                </a:solidFill>
                <a:latin typeface="Montserrat"/>
              </a:rPr>
              <a:t>0.09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7703" y="4962525"/>
            <a:ext cx="1809704" cy="361950"/>
          </a:xfrm>
          <a:prstGeom prst="roundRect">
            <a:avLst>
              <a:gd name="adj" fmla="val 3157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 Same Side Corner Rectangle 27"/>
          <p:cNvSpPr/>
          <p:nvPr/>
        </p:nvSpPr>
        <p:spPr>
          <a:xfrm rot="16200000">
            <a:off x="716258" y="5093970"/>
            <a:ext cx="361950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90575" y="5067299"/>
            <a:ext cx="1219169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657" b="1">
                <a:solidFill>
                  <a:srgbClr val="424242"/>
                </a:solidFill>
                <a:latin typeface="Montserrat"/>
              </a:rPr>
              <a:t>temp_min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5942" y="5057775"/>
            <a:ext cx="257168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42A5F5"/>
                </a:solidFill>
                <a:latin typeface="Montserrat"/>
              </a:rPr>
              <a:t>0.06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52656" y="4962525"/>
            <a:ext cx="1809704" cy="361950"/>
          </a:xfrm>
          <a:prstGeom prst="roundRect">
            <a:avLst>
              <a:gd name="adj" fmla="val 3157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 Same Side Corner Rectangle 31"/>
          <p:cNvSpPr/>
          <p:nvPr/>
        </p:nvSpPr>
        <p:spPr>
          <a:xfrm rot="16200000">
            <a:off x="2621211" y="5093970"/>
            <a:ext cx="361950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895527" y="5067299"/>
            <a:ext cx="1219169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657" b="1">
                <a:solidFill>
                  <a:srgbClr val="424242"/>
                </a:solidFill>
                <a:latin typeface="Montserrat"/>
              </a:rPr>
              <a:t>sunshine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81370" y="5057775"/>
            <a:ext cx="257168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42A5F5"/>
                </a:solidFill>
                <a:latin typeface="Montserrat"/>
              </a:rPr>
              <a:t>0.06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7703" y="5419725"/>
            <a:ext cx="1809704" cy="361950"/>
          </a:xfrm>
          <a:prstGeom prst="roundRect">
            <a:avLst>
              <a:gd name="adj" fmla="val 3157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 Same Side Corner Rectangle 35"/>
          <p:cNvSpPr/>
          <p:nvPr/>
        </p:nvSpPr>
        <p:spPr>
          <a:xfrm rot="16200000">
            <a:off x="716258" y="5551170"/>
            <a:ext cx="361950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90575" y="5524499"/>
            <a:ext cx="1219169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657" b="1">
                <a:solidFill>
                  <a:srgbClr val="424242"/>
                </a:solidFill>
                <a:latin typeface="Montserrat"/>
              </a:rPr>
              <a:t>temp_max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85942" y="5514975"/>
            <a:ext cx="257168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42A5F5"/>
                </a:solidFill>
                <a:latin typeface="Montserrat"/>
              </a:rPr>
              <a:t>0.05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752656" y="5419725"/>
            <a:ext cx="1809704" cy="361950"/>
          </a:xfrm>
          <a:prstGeom prst="roundRect">
            <a:avLst>
              <a:gd name="adj" fmla="val 3157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 Same Side Corner Rectangle 39"/>
          <p:cNvSpPr/>
          <p:nvPr/>
        </p:nvSpPr>
        <p:spPr>
          <a:xfrm rot="16200000">
            <a:off x="2621211" y="5551170"/>
            <a:ext cx="361950" cy="990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895527" y="5524499"/>
            <a:ext cx="1219169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657" b="1">
                <a:solidFill>
                  <a:srgbClr val="424242"/>
                </a:solidFill>
                <a:latin typeface="Montserrat"/>
              </a:rPr>
              <a:t>DJU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90895" y="5514975"/>
            <a:ext cx="257168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42A5F5"/>
                </a:solidFill>
                <a:latin typeface="Montserrat"/>
              </a:rPr>
              <a:t>0.05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124321" y="0"/>
            <a:ext cx="7067373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5600559" y="2114550"/>
            <a:ext cx="1847803" cy="1495424"/>
          </a:xfrm>
          <a:prstGeom prst="roundRect">
            <a:avLst>
              <a:gd name="adj" fmla="val 20382"/>
            </a:avLst>
          </a:prstGeom>
          <a:solidFill>
            <a:srgbClr val="FFFFFF"/>
          </a:solidFill>
          <a:ln w="41275">
            <a:solidFill>
              <a:srgbClr val="42A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438739" y="2400300"/>
            <a:ext cx="171445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975"/>
              </a:spcAft>
            </a:pPr>
            <a:r>
              <a:rPr sz="837" b="1">
                <a:solidFill>
                  <a:srgbClr val="757575"/>
                </a:solidFill>
                <a:latin typeface="Montserrat"/>
              </a:rPr>
              <a:t>R²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24401" y="2743200"/>
            <a:ext cx="1200119" cy="4000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511" b="1">
                <a:solidFill>
                  <a:srgbClr val="42A5F5"/>
                </a:solidFill>
                <a:latin typeface="Montserrat"/>
              </a:rPr>
              <a:t>0.664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33966" y="3143250"/>
            <a:ext cx="419089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9E9E9E"/>
                </a:solidFill>
                <a:latin typeface="Montserrat"/>
              </a:rPr>
              <a:t>score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638859" y="2114550"/>
            <a:ext cx="1847803" cy="1495424"/>
          </a:xfrm>
          <a:prstGeom prst="roundRect">
            <a:avLst>
              <a:gd name="adj" fmla="val 20382"/>
            </a:avLst>
          </a:prstGeom>
          <a:solidFill>
            <a:srgbClr val="FFFFFF"/>
          </a:solidFill>
          <a:ln w="41275">
            <a:solidFill>
              <a:srgbClr val="42A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343691" y="2400300"/>
            <a:ext cx="438139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975"/>
              </a:spcAft>
            </a:pPr>
            <a:r>
              <a:rPr sz="837" b="1">
                <a:solidFill>
                  <a:srgbClr val="757575"/>
                </a:solidFill>
                <a:latin typeface="Montserrat"/>
              </a:rPr>
              <a:t>RMSE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67473" y="2743200"/>
            <a:ext cx="981050" cy="4000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511" b="1">
                <a:solidFill>
                  <a:srgbClr val="42A5F5"/>
                </a:solidFill>
                <a:latin typeface="Montserrat"/>
              </a:rPr>
              <a:t>4.1</a:t>
            </a:r>
            <a:r>
              <a:rPr sz="956" b="1">
                <a:solidFill>
                  <a:srgbClr val="9E9E9E"/>
                </a:solidFill>
                <a:latin typeface="Montserrat"/>
              </a:rPr>
              <a:t>kWh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677158" y="2114550"/>
            <a:ext cx="1847803" cy="1495424"/>
          </a:xfrm>
          <a:prstGeom prst="roundRect">
            <a:avLst>
              <a:gd name="adj" fmla="val 20382"/>
            </a:avLst>
          </a:prstGeom>
          <a:solidFill>
            <a:srgbClr val="FFFFFF"/>
          </a:solidFill>
          <a:ln w="41275">
            <a:solidFill>
              <a:srgbClr val="42A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0429614" y="2400300"/>
            <a:ext cx="342891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975"/>
              </a:spcAft>
            </a:pPr>
            <a:r>
              <a:rPr sz="837" b="1">
                <a:solidFill>
                  <a:srgbClr val="757575"/>
                </a:solidFill>
                <a:latin typeface="Montserrat"/>
              </a:rPr>
              <a:t>MAE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91475" y="2743200"/>
            <a:ext cx="1209644" cy="4000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511" b="1">
                <a:solidFill>
                  <a:srgbClr val="42A5F5"/>
                </a:solidFill>
                <a:latin typeface="Montserrat"/>
              </a:rPr>
              <a:t>3.18</a:t>
            </a:r>
            <a:r>
              <a:rPr sz="956" b="1">
                <a:solidFill>
                  <a:srgbClr val="9E9E9E"/>
                </a:solidFill>
                <a:latin typeface="Montserrat"/>
              </a:rPr>
              <a:t>kWh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00559" y="3905249"/>
            <a:ext cx="5924401" cy="838200"/>
          </a:xfrm>
          <a:prstGeom prst="roundRect">
            <a:avLst>
              <a:gd name="adj" fmla="val 27272"/>
            </a:avLst>
          </a:prstGeom>
          <a:gradFill rotWithShape="1">
            <a:gsLst>
              <a:gs pos="0">
                <a:srgbClr val="43A047"/>
              </a:gs>
              <a:gs pos="100000">
                <a:srgbClr val="66BB6A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5">
            <a:alphaModFix amt="90000"/>
          </a:blip>
          <a:stretch>
            <a:fillRect/>
          </a:stretch>
        </p:blipFill>
        <p:spPr>
          <a:xfrm>
            <a:off x="5791055" y="4152899"/>
            <a:ext cx="342891" cy="3048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6276818" y="4114800"/>
            <a:ext cx="5057648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390"/>
              </a:spcAft>
            </a:pPr>
            <a:r>
              <a:rPr sz="837" b="1">
                <a:solidFill>
                  <a:srgbClr val="FFFFFF"/>
                </a:solidFill>
                <a:latin typeface="Montserrat"/>
              </a:rPr>
              <a:t>Performance significativement améliorée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76818" y="4371975"/>
            <a:ext cx="5057648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FFFFFF"/>
                </a:solidFill>
                <a:latin typeface="Montserrat"/>
              </a:rPr>
              <a:t>R² a augmenté de 0.23 à 0.664. RMSE réduit de 7.31 à 4.1 kWh.</a:t>
            </a:r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67673" y="6362700"/>
            <a:ext cx="133346" cy="15240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0277218" y="6353174"/>
            <a:ext cx="1342991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757575"/>
                </a:solidFill>
                <a:latin typeface="Montserrat"/>
              </a:rPr>
              <a:t>ENERGY ANALYTICS</a:t>
            </a:r>
          </a:p>
        </p:txBody>
      </p:sp>
      <p:sp>
        <p:nvSpPr>
          <p:cNvPr id="61" name="Espace réservé du numéro de diapositive 60">
            <a:extLst>
              <a:ext uri="{FF2B5EF4-FFF2-40B4-BE49-F238E27FC236}">
                <a16:creationId xmlns:a16="http://schemas.microsoft.com/office/drawing/2014/main" id="{8954726B-1C9F-640F-3D69-6476F84E0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26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1980" y="447675"/>
            <a:ext cx="57148" cy="714375"/>
          </a:xfrm>
          <a:prstGeom prst="roundRect">
            <a:avLst>
              <a:gd name="adj" fmla="val 100000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28674" y="447675"/>
            <a:ext cx="3209844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4DB6AC"/>
                </a:solidFill>
                <a:latin typeface="Roboto Slab"/>
              </a:rPr>
              <a:t>GRADIENT BOOSTING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8674" y="733424"/>
            <a:ext cx="3209844" cy="838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212121"/>
                </a:solidFill>
                <a:latin typeface="Montserrat"/>
              </a:rPr>
              <a:t>GBoost</a:t>
            </a:r>
            <a:r>
              <a:rPr sz="1104"/>
              <a:t>
</a:t>
            </a:r>
            <a:r>
              <a:rPr sz="2392" b="1">
                <a:solidFill>
                  <a:srgbClr val="212121"/>
                </a:solidFill>
                <a:latin typeface="Montserrat"/>
              </a:rPr>
              <a:t>avec les valeurs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1980" y="1904999"/>
            <a:ext cx="4248043" cy="1438274"/>
          </a:xfrm>
          <a:prstGeom prst="roundRect">
            <a:avLst>
              <a:gd name="adj" fmla="val 15894"/>
            </a:avLst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 Same Side Corner Rectangle 6"/>
          <p:cNvSpPr/>
          <p:nvPr/>
        </p:nvSpPr>
        <p:spPr>
          <a:xfrm rot="16200000">
            <a:off x="125393" y="2541586"/>
            <a:ext cx="1438274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47723" y="2181225"/>
            <a:ext cx="161920" cy="1428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04892" y="2143125"/>
            <a:ext cx="1581110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97" b="1">
                <a:solidFill>
                  <a:srgbClr val="4DB6AC"/>
                </a:solidFill>
                <a:latin typeface="Montserrat"/>
              </a:rPr>
              <a:t>Méthode d'Ensemble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23" y="2495550"/>
            <a:ext cx="3724181" cy="60007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616161"/>
                </a:solidFill>
                <a:latin typeface="Montserrat"/>
              </a:rPr>
              <a:t> Construction </a:t>
            </a:r>
            <a:r>
              <a:rPr sz="837" b="1">
                <a:solidFill>
                  <a:srgbClr val="424242"/>
                </a:solidFill>
                <a:latin typeface="Montserrat"/>
              </a:rPr>
              <a:t>séquentielle</a:t>
            </a:r>
            <a:r>
              <a:rPr sz="837" b="0">
                <a:solidFill>
                  <a:srgbClr val="616161"/>
                </a:solidFill>
                <a:latin typeface="Montserrat"/>
              </a:rPr>
              <a:t> d'arbres de régression. Chaque nouvel arbre corrige les </a:t>
            </a:r>
            <a:r>
              <a:rPr sz="837" b="1">
                <a:solidFill>
                  <a:srgbClr val="424242"/>
                </a:solidFill>
                <a:latin typeface="Montserrat"/>
              </a:rPr>
              <a:t>erreurs résiduelles</a:t>
            </a:r>
            <a:r>
              <a:rPr sz="837" b="0">
                <a:solidFill>
                  <a:srgbClr val="616161"/>
                </a:solidFill>
                <a:latin typeface="Montserrat"/>
              </a:rPr>
              <a:t> du modèle courant. 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1980" y="3571875"/>
            <a:ext cx="2057348" cy="1428750"/>
          </a:xfrm>
          <a:prstGeom prst="roundRect">
            <a:avLst>
              <a:gd name="adj" fmla="val 13333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 Same Side Corner Rectangle 11"/>
          <p:cNvSpPr/>
          <p:nvPr/>
        </p:nvSpPr>
        <p:spPr>
          <a:xfrm rot="16200000">
            <a:off x="113645" y="4220210"/>
            <a:ext cx="14287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71525" y="3790949"/>
            <a:ext cx="190495" cy="19049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1525" y="4105274"/>
            <a:ext cx="1676358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390"/>
              </a:spcAft>
            </a:pPr>
            <a:r>
              <a:rPr sz="777" b="1">
                <a:solidFill>
                  <a:srgbClr val="424242"/>
                </a:solidFill>
                <a:latin typeface="Montserrat"/>
              </a:rPr>
              <a:t>Descente de gradient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1525" y="4352924"/>
            <a:ext cx="1676358" cy="32384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757575"/>
                </a:solidFill>
                <a:latin typeface="Montserrat"/>
              </a:rPr>
              <a:t>Minimisation de la fonction de perte par itérations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52676" y="3571875"/>
            <a:ext cx="2057348" cy="1428750"/>
          </a:xfrm>
          <a:prstGeom prst="roundRect">
            <a:avLst>
              <a:gd name="adj" fmla="val 13333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 Same Side Corner Rectangle 16"/>
          <p:cNvSpPr/>
          <p:nvPr/>
        </p:nvSpPr>
        <p:spPr>
          <a:xfrm rot="16200000">
            <a:off x="2304341" y="4220210"/>
            <a:ext cx="14287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162220" y="3790949"/>
            <a:ext cx="190495" cy="19049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162220" y="4105274"/>
            <a:ext cx="1676358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390"/>
              </a:spcAft>
            </a:pPr>
            <a:r>
              <a:rPr sz="777" b="1">
                <a:solidFill>
                  <a:srgbClr val="424242"/>
                </a:solidFill>
                <a:latin typeface="Montserrat"/>
              </a:rPr>
              <a:t>Régularisable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62220" y="4352924"/>
            <a:ext cx="1676358" cy="47624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757575"/>
                </a:solidFill>
                <a:latin typeface="Montserrat"/>
              </a:rPr>
              <a:t>Profondeur limitée, taux d'apprentissage, early stopping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1980" y="5143500"/>
            <a:ext cx="2057348" cy="1266824"/>
          </a:xfrm>
          <a:prstGeom prst="roundRect">
            <a:avLst>
              <a:gd name="adj" fmla="val 15037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 Same Side Corner Rectangle 21"/>
          <p:cNvSpPr/>
          <p:nvPr/>
        </p:nvSpPr>
        <p:spPr>
          <a:xfrm rot="16200000">
            <a:off x="194608" y="5710872"/>
            <a:ext cx="1266824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71525" y="5362575"/>
            <a:ext cx="171445" cy="19049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71525" y="5676900"/>
            <a:ext cx="1676358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390"/>
              </a:spcAft>
            </a:pPr>
            <a:r>
              <a:rPr sz="777" b="1">
                <a:solidFill>
                  <a:srgbClr val="424242"/>
                </a:solidFill>
                <a:latin typeface="Montserrat"/>
              </a:rPr>
              <a:t>Mêmes features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525" y="5924549"/>
            <a:ext cx="1676358" cy="32384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757575"/>
                </a:solidFill>
                <a:latin typeface="Montserrat"/>
              </a:rPr>
              <a:t>Variables sélectionnées par Random Forest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52676" y="5143500"/>
            <a:ext cx="2057348" cy="1266824"/>
          </a:xfrm>
          <a:prstGeom prst="roundRect">
            <a:avLst>
              <a:gd name="adj" fmla="val 15037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 Same Side Corner Rectangle 26"/>
          <p:cNvSpPr/>
          <p:nvPr/>
        </p:nvSpPr>
        <p:spPr>
          <a:xfrm rot="16200000">
            <a:off x="2385304" y="5710872"/>
            <a:ext cx="1266824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162220" y="5362575"/>
            <a:ext cx="190495" cy="19049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162220" y="5676900"/>
            <a:ext cx="1676358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390"/>
              </a:spcAft>
            </a:pPr>
            <a:r>
              <a:rPr sz="777" b="1">
                <a:solidFill>
                  <a:srgbClr val="424242"/>
                </a:solidFill>
                <a:latin typeface="Montserrat"/>
              </a:rPr>
              <a:t>Chronologique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62220" y="5924549"/>
            <a:ext cx="1676358" cy="32384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757575"/>
                </a:solidFill>
                <a:latin typeface="Montserrat"/>
              </a:rPr>
              <a:t>Split 90%/10% ordonné dans le temps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262" y="0"/>
            <a:ext cx="6705432" cy="6858000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962500" y="1962149"/>
            <a:ext cx="142871" cy="142875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200619" y="1924049"/>
            <a:ext cx="1543011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97" b="1">
                <a:solidFill>
                  <a:srgbClr val="424242"/>
                </a:solidFill>
                <a:latin typeface="Montserrat"/>
              </a:rPr>
              <a:t>Résultats du modèle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62500" y="2381250"/>
            <a:ext cx="1695407" cy="1190625"/>
          </a:xfrm>
          <a:prstGeom prst="roundRect">
            <a:avLst>
              <a:gd name="adj" fmla="val 25600"/>
            </a:avLst>
          </a:prstGeom>
          <a:solidFill>
            <a:srgbClr val="FFFFFF"/>
          </a:solidFill>
          <a:ln w="41275">
            <a:solidFill>
              <a:srgbClr val="4DB6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724481" y="2667000"/>
            <a:ext cx="161920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780"/>
              </a:spcAft>
            </a:pPr>
            <a:r>
              <a:rPr sz="777" b="1">
                <a:solidFill>
                  <a:srgbClr val="757575"/>
                </a:solidFill>
                <a:latin typeface="Montserrat"/>
              </a:rPr>
              <a:t>R²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4441" y="2962274"/>
            <a:ext cx="981050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470"/>
              </a:lnSpc>
              <a:spcBef>
                <a:spcPts val="0"/>
              </a:spcBef>
              <a:spcAft>
                <a:spcPts val="0"/>
              </a:spcAft>
            </a:pPr>
            <a:r>
              <a:rPr sz="2272" b="1">
                <a:solidFill>
                  <a:srgbClr val="4DB6AC"/>
                </a:solidFill>
                <a:latin typeface="Montserrat"/>
              </a:rPr>
              <a:t>0.661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848403" y="2381250"/>
            <a:ext cx="1695407" cy="1190625"/>
          </a:xfrm>
          <a:prstGeom prst="roundRect">
            <a:avLst>
              <a:gd name="adj" fmla="val 25600"/>
            </a:avLst>
          </a:prstGeom>
          <a:solidFill>
            <a:srgbClr val="FFFFFF"/>
          </a:solidFill>
          <a:ln w="41275">
            <a:solidFill>
              <a:srgbClr val="4DB6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496087" y="2667000"/>
            <a:ext cx="409564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780"/>
              </a:spcAft>
            </a:pPr>
            <a:r>
              <a:rPr sz="777" b="1">
                <a:solidFill>
                  <a:srgbClr val="757575"/>
                </a:solidFill>
                <a:latin typeface="Montserrat"/>
              </a:rPr>
              <a:t>RMSE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4146" y="2962274"/>
            <a:ext cx="1114397" cy="3619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470"/>
              </a:lnSpc>
              <a:spcBef>
                <a:spcPts val="0"/>
              </a:spcBef>
              <a:spcAft>
                <a:spcPts val="0"/>
              </a:spcAft>
            </a:pPr>
            <a:r>
              <a:rPr sz="2272" b="1">
                <a:solidFill>
                  <a:srgbClr val="4DB6AC"/>
                </a:solidFill>
                <a:latin typeface="Montserrat"/>
              </a:rPr>
              <a:t>4.12</a:t>
            </a:r>
            <a:r>
              <a:rPr sz="897" b="1">
                <a:solidFill>
                  <a:srgbClr val="9E9E9E"/>
                </a:solidFill>
                <a:latin typeface="Montserrat"/>
              </a:rPr>
              <a:t>kWh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734306" y="2381250"/>
            <a:ext cx="1695407" cy="1190625"/>
          </a:xfrm>
          <a:prstGeom prst="roundRect">
            <a:avLst>
              <a:gd name="adj" fmla="val 25600"/>
            </a:avLst>
          </a:prstGeom>
          <a:solidFill>
            <a:srgbClr val="FFFFFF"/>
          </a:solidFill>
          <a:ln w="41275">
            <a:solidFill>
              <a:srgbClr val="4DB6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0420089" y="2667000"/>
            <a:ext cx="323841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780"/>
              </a:spcAft>
            </a:pPr>
            <a:r>
              <a:rPr sz="777" b="1">
                <a:solidFill>
                  <a:srgbClr val="757575"/>
                </a:solidFill>
                <a:latin typeface="Montserrat"/>
              </a:rPr>
              <a:t>MAE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00999" y="2962274"/>
            <a:ext cx="1152496" cy="3619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470"/>
              </a:lnSpc>
              <a:spcBef>
                <a:spcPts val="0"/>
              </a:spcBef>
              <a:spcAft>
                <a:spcPts val="0"/>
              </a:spcAft>
            </a:pPr>
            <a:r>
              <a:rPr sz="2272" b="1">
                <a:solidFill>
                  <a:srgbClr val="4DB6AC"/>
                </a:solidFill>
                <a:latin typeface="Montserrat"/>
              </a:rPr>
              <a:t>3.33</a:t>
            </a:r>
            <a:r>
              <a:rPr sz="897" b="1">
                <a:solidFill>
                  <a:srgbClr val="9E9E9E"/>
                </a:solidFill>
                <a:latin typeface="Montserrat"/>
              </a:rPr>
              <a:t>kWh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62500" y="3848099"/>
            <a:ext cx="5467213" cy="1085850"/>
          </a:xfrm>
          <a:prstGeom prst="roundRect">
            <a:avLst>
              <a:gd name="adj" fmla="val 21052"/>
            </a:avLst>
          </a:prstGeom>
          <a:gradFill rotWithShape="1">
            <a:gsLst>
              <a:gs pos="0">
                <a:srgbClr val="FFF8E1"/>
              </a:gs>
              <a:gs pos="100000">
                <a:srgbClr val="FFECB3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 Same Side Corner Rectangle 44"/>
          <p:cNvSpPr/>
          <p:nvPr/>
        </p:nvSpPr>
        <p:spPr>
          <a:xfrm rot="16200000">
            <a:off x="5502125" y="4308474"/>
            <a:ext cx="1085850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219669" y="4095749"/>
            <a:ext cx="133346" cy="133349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6448263" y="4057650"/>
            <a:ext cx="2762180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>
                <a:solidFill>
                  <a:srgbClr val="F57C00"/>
                </a:solidFill>
                <a:latin typeface="Montserrat"/>
              </a:rPr>
              <a:t>Performance proche de Random Forest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9669" y="4352924"/>
            <a:ext cx="5000499" cy="37147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R² légèrement inférieur (0.661 vs 0.664) mais RMSE et MAE très comparables, confirmant la robustesse des deux approches.</a:t>
            </a:r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162920" y="6362700"/>
            <a:ext cx="133346" cy="1524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372465" y="6353174"/>
            <a:ext cx="1342991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757575"/>
                </a:solidFill>
                <a:latin typeface="Montserrat"/>
              </a:rPr>
              <a:t>ENERGY ANALYTICS</a:t>
            </a:r>
          </a:p>
        </p:txBody>
      </p:sp>
      <p:sp>
        <p:nvSpPr>
          <p:cNvPr id="51" name="Espace réservé du numéro de diapositive 50">
            <a:extLst>
              <a:ext uri="{FF2B5EF4-FFF2-40B4-BE49-F238E27FC236}">
                <a16:creationId xmlns:a16="http://schemas.microsoft.com/office/drawing/2014/main" id="{AF275EC3-F570-A8CA-9E01-8B7CCE58A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26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1980" y="704849"/>
            <a:ext cx="57148" cy="714375"/>
          </a:xfrm>
          <a:prstGeom prst="roundRect">
            <a:avLst>
              <a:gd name="adj" fmla="val 100000"/>
            </a:avLst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28674" y="704849"/>
            <a:ext cx="225736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AB47BC"/>
                </a:solidFill>
                <a:latin typeface="Roboto Slab"/>
              </a:rPr>
              <a:t>LINEAR REGRESSION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8674" y="990599"/>
            <a:ext cx="2257368" cy="838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212121"/>
                </a:solidFill>
                <a:latin typeface="Montserrat"/>
              </a:rPr>
              <a:t>Régression</a:t>
            </a:r>
            <a:r>
              <a:rPr sz="1104"/>
              <a:t>
</a:t>
            </a:r>
            <a:r>
              <a:rPr sz="2392" b="1">
                <a:solidFill>
                  <a:srgbClr val="212121"/>
                </a:solidFill>
                <a:latin typeface="Montserrat"/>
              </a:rPr>
              <a:t>Linéaire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762" y="2586036"/>
            <a:ext cx="4248043" cy="752475"/>
          </a:xfrm>
          <a:prstGeom prst="roundRect">
            <a:avLst>
              <a:gd name="adj" fmla="val 25316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 Same Side Corner Rectangle 11"/>
          <p:cNvSpPr/>
          <p:nvPr/>
        </p:nvSpPr>
        <p:spPr>
          <a:xfrm rot="16200000">
            <a:off x="442565" y="2896233"/>
            <a:ext cx="752475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62307" y="2767012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76604" y="2862261"/>
            <a:ext cx="142871" cy="19049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457595" y="2757486"/>
            <a:ext cx="3371765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325"/>
              </a:spcAft>
            </a:pPr>
            <a:r>
              <a:rPr sz="837" b="1">
                <a:solidFill>
                  <a:srgbClr val="424242"/>
                </a:solidFill>
                <a:latin typeface="Montserrat"/>
              </a:rPr>
              <a:t>Moindres Carrés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57595" y="3005136"/>
            <a:ext cx="3371765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757575"/>
                </a:solidFill>
                <a:latin typeface="Montserrat"/>
              </a:rPr>
              <a:t>Estimation des coefficients βⱼ par minimisation des erreurs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2762" y="3481387"/>
            <a:ext cx="4248043" cy="752475"/>
          </a:xfrm>
          <a:prstGeom prst="roundRect">
            <a:avLst>
              <a:gd name="adj" fmla="val 25316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 Same Side Corner Rectangle 17"/>
          <p:cNvSpPr/>
          <p:nvPr/>
        </p:nvSpPr>
        <p:spPr>
          <a:xfrm rot="16200000">
            <a:off x="442565" y="3791584"/>
            <a:ext cx="752475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62307" y="3662361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57555" y="3757612"/>
            <a:ext cx="190495" cy="19049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457595" y="3652837"/>
            <a:ext cx="3371765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325"/>
              </a:spcAft>
            </a:pPr>
            <a:r>
              <a:rPr sz="837" b="1">
                <a:solidFill>
                  <a:srgbClr val="424242"/>
                </a:solidFill>
                <a:latin typeface="Montserrat"/>
              </a:rPr>
              <a:t>Simple &amp; Interprétable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57595" y="3900487"/>
            <a:ext cx="3371765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757575"/>
                </a:solidFill>
                <a:latin typeface="Montserrat"/>
              </a:rPr>
              <a:t>Modèle linéaire facile à comprendre et à expliquer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2762" y="4367212"/>
            <a:ext cx="4248043" cy="752475"/>
          </a:xfrm>
          <a:prstGeom prst="roundRect">
            <a:avLst>
              <a:gd name="adj" fmla="val 25316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 Same Side Corner Rectangle 23"/>
          <p:cNvSpPr/>
          <p:nvPr/>
        </p:nvSpPr>
        <p:spPr>
          <a:xfrm rot="16200000">
            <a:off x="442565" y="4677409"/>
            <a:ext cx="752475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962307" y="4557712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57555" y="4652962"/>
            <a:ext cx="190495" cy="19049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457595" y="4538662"/>
            <a:ext cx="3371765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325"/>
              </a:spcAft>
            </a:pPr>
            <a:r>
              <a:rPr sz="837" b="1">
                <a:solidFill>
                  <a:srgbClr val="424242"/>
                </a:solidFill>
                <a:latin typeface="Montserrat"/>
              </a:rPr>
              <a:t>Mise à l'échelle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57595" y="4786312"/>
            <a:ext cx="3371765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757575"/>
                </a:solidFill>
                <a:latin typeface="Montserrat"/>
              </a:rPr>
              <a:t>StandardScaler appliqué aux variables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262" y="0"/>
            <a:ext cx="6705432" cy="6858000"/>
          </a:xfrm>
          <a:prstGeom prst="rect">
            <a:avLst/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9620009" y="-952499"/>
            <a:ext cx="3333666" cy="3333749"/>
          </a:xfrm>
          <a:prstGeom prst="roundRect">
            <a:avLst>
              <a:gd name="adj" fmla="val 50000"/>
            </a:avLst>
          </a:prstGeom>
          <a:solidFill>
            <a:srgbClr val="E1BEE7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962500" y="1962149"/>
            <a:ext cx="142871" cy="142875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200619" y="1924049"/>
            <a:ext cx="1543011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97" b="1">
                <a:solidFill>
                  <a:srgbClr val="424242"/>
                </a:solidFill>
                <a:latin typeface="Montserrat"/>
              </a:rPr>
              <a:t>Résultats du modèle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62500" y="2381250"/>
            <a:ext cx="1695407" cy="1190625"/>
          </a:xfrm>
          <a:prstGeom prst="roundRect">
            <a:avLst>
              <a:gd name="adj" fmla="val 25600"/>
            </a:avLst>
          </a:prstGeom>
          <a:solidFill>
            <a:srgbClr val="FFFFFF"/>
          </a:solidFill>
          <a:ln w="41275">
            <a:solidFill>
              <a:srgbClr val="AB47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724481" y="2667000"/>
            <a:ext cx="161920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780"/>
              </a:spcAft>
            </a:pPr>
            <a:r>
              <a:rPr sz="777" b="1">
                <a:solidFill>
                  <a:srgbClr val="757575"/>
                </a:solidFill>
                <a:latin typeface="Montserrat"/>
              </a:rPr>
              <a:t>R²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6818" y="2962274"/>
            <a:ext cx="1057248" cy="361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470"/>
              </a:lnSpc>
              <a:spcBef>
                <a:spcPts val="0"/>
              </a:spcBef>
              <a:spcAft>
                <a:spcPts val="0"/>
              </a:spcAft>
            </a:pPr>
            <a:r>
              <a:rPr sz="2272" b="1">
                <a:solidFill>
                  <a:srgbClr val="AB47BC"/>
                </a:solidFill>
                <a:latin typeface="Montserrat"/>
              </a:rPr>
              <a:t>0.534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48403" y="2381250"/>
            <a:ext cx="1704932" cy="1190625"/>
          </a:xfrm>
          <a:prstGeom prst="roundRect">
            <a:avLst>
              <a:gd name="adj" fmla="val 25600"/>
            </a:avLst>
          </a:prstGeom>
          <a:solidFill>
            <a:srgbClr val="FFFFFF"/>
          </a:solidFill>
          <a:ln w="41275">
            <a:solidFill>
              <a:srgbClr val="AB47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486562" y="2667000"/>
            <a:ext cx="409564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780"/>
              </a:spcAft>
            </a:pPr>
            <a:r>
              <a:rPr sz="777" b="1">
                <a:solidFill>
                  <a:srgbClr val="757575"/>
                </a:solidFill>
                <a:latin typeface="Montserrat"/>
              </a:rPr>
              <a:t>RMSE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86522" y="2962274"/>
            <a:ext cx="1228694" cy="3619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470"/>
              </a:lnSpc>
              <a:spcBef>
                <a:spcPts val="0"/>
              </a:spcBef>
              <a:spcAft>
                <a:spcPts val="0"/>
              </a:spcAft>
            </a:pPr>
            <a:r>
              <a:rPr sz="2272" b="1">
                <a:solidFill>
                  <a:srgbClr val="AB47BC"/>
                </a:solidFill>
                <a:latin typeface="Montserrat"/>
              </a:rPr>
              <a:t>4.83</a:t>
            </a:r>
            <a:r>
              <a:rPr sz="897" b="1">
                <a:solidFill>
                  <a:srgbClr val="9E9E9E"/>
                </a:solidFill>
                <a:latin typeface="Montserrat"/>
              </a:rPr>
              <a:t>kWh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734306" y="2381250"/>
            <a:ext cx="1695407" cy="1190625"/>
          </a:xfrm>
          <a:prstGeom prst="roundRect">
            <a:avLst>
              <a:gd name="adj" fmla="val 25600"/>
            </a:avLst>
          </a:prstGeom>
          <a:solidFill>
            <a:srgbClr val="FFFFFF"/>
          </a:solidFill>
          <a:ln w="41275">
            <a:solidFill>
              <a:srgbClr val="AB47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420089" y="2667000"/>
            <a:ext cx="323841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780"/>
              </a:spcAft>
            </a:pPr>
            <a:r>
              <a:rPr sz="777" b="1">
                <a:solidFill>
                  <a:srgbClr val="757575"/>
                </a:solidFill>
                <a:latin typeface="Montserrat"/>
              </a:rPr>
              <a:t>MAE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81950" y="2962274"/>
            <a:ext cx="1209644" cy="3619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470"/>
              </a:lnSpc>
              <a:spcBef>
                <a:spcPts val="0"/>
              </a:spcBef>
              <a:spcAft>
                <a:spcPts val="0"/>
              </a:spcAft>
            </a:pPr>
            <a:r>
              <a:rPr sz="2272" b="1">
                <a:solidFill>
                  <a:srgbClr val="AB47BC"/>
                </a:solidFill>
                <a:latin typeface="Montserrat"/>
              </a:rPr>
              <a:t>3.94</a:t>
            </a:r>
            <a:r>
              <a:rPr sz="897" b="1">
                <a:solidFill>
                  <a:srgbClr val="9E9E9E"/>
                </a:solidFill>
                <a:latin typeface="Montserrat"/>
              </a:rPr>
              <a:t>kWh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62500" y="3848099"/>
            <a:ext cx="5467213" cy="1085850"/>
          </a:xfrm>
          <a:prstGeom prst="roundRect">
            <a:avLst>
              <a:gd name="adj" fmla="val 21052"/>
            </a:avLst>
          </a:prstGeom>
          <a:gradFill rotWithShape="1">
            <a:gsLst>
              <a:gs pos="0">
                <a:srgbClr val="FFF3E0"/>
              </a:gs>
              <a:gs pos="100000">
                <a:srgbClr val="FFE0B2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 Same Side Corner Rectangle 42"/>
          <p:cNvSpPr/>
          <p:nvPr/>
        </p:nvSpPr>
        <p:spPr>
          <a:xfrm rot="16200000">
            <a:off x="5502125" y="4308474"/>
            <a:ext cx="1085850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219669" y="4095749"/>
            <a:ext cx="133346" cy="133349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448263" y="4057650"/>
            <a:ext cx="1504912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>
                <a:solidFill>
                  <a:srgbClr val="F57C00"/>
                </a:solidFill>
                <a:latin typeface="Montserrat"/>
              </a:rPr>
              <a:t>Limitation du modèle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9669" y="4352924"/>
            <a:ext cx="5000499" cy="37147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Sous-performance pour relations non-linéaires (température-consumption en forme U). Les modèles d'ensemble sont mieux adaptés.</a:t>
            </a:r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0162920" y="6362700"/>
            <a:ext cx="133346" cy="1524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372465" y="6353174"/>
            <a:ext cx="1342991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757575"/>
                </a:solidFill>
                <a:latin typeface="Montserrat"/>
              </a:rPr>
              <a:t>ENERGY ANALYTICS</a:t>
            </a:r>
          </a:p>
        </p:txBody>
      </p:sp>
      <p:sp>
        <p:nvSpPr>
          <p:cNvPr id="49" name="Espace réservé du numéro de diapositive 48">
            <a:extLst>
              <a:ext uri="{FF2B5EF4-FFF2-40B4-BE49-F238E27FC236}">
                <a16:creationId xmlns:a16="http://schemas.microsoft.com/office/drawing/2014/main" id="{93534771-D2BE-7F6C-8B1A-4599B3207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3841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71485" y="1238249"/>
            <a:ext cx="47623" cy="666750"/>
          </a:xfrm>
          <a:prstGeom prst="roundRect">
            <a:avLst>
              <a:gd name="adj" fmla="val 12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9604" y="1238249"/>
            <a:ext cx="307649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4DB6AC"/>
                </a:solidFill>
                <a:latin typeface="Roboto Slab"/>
              </a:rPr>
              <a:t>MODEL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9604" y="1544539"/>
            <a:ext cx="3076498" cy="114954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665"/>
              </a:lnSpc>
              <a:spcBef>
                <a:spcPts val="0"/>
              </a:spcBef>
              <a:spcAft>
                <a:spcPts val="0"/>
              </a:spcAft>
            </a:pPr>
            <a:r>
              <a:rPr sz="2272" b="1" dirty="0" err="1">
                <a:solidFill>
                  <a:srgbClr val="212121"/>
                </a:solidFill>
                <a:latin typeface="Montserrat"/>
              </a:rPr>
              <a:t>Comparaison</a:t>
            </a:r>
            <a:r>
              <a:rPr sz="1104" dirty="0"/>
              <a:t>
</a:t>
            </a:r>
            <a:r>
              <a:rPr sz="2272" b="1" dirty="0">
                <a:solidFill>
                  <a:srgbClr val="212121"/>
                </a:solidFill>
                <a:latin typeface="Montserrat"/>
              </a:rPr>
              <a:t>entre les </a:t>
            </a:r>
            <a:endParaRPr lang="fr-FR" sz="2272" b="1" dirty="0">
              <a:solidFill>
                <a:srgbClr val="212121"/>
              </a:solidFill>
              <a:latin typeface="Montserrat"/>
            </a:endParaRPr>
          </a:p>
          <a:p>
            <a:pPr algn="l">
              <a:lnSpc>
                <a:spcPts val="2665"/>
              </a:lnSpc>
              <a:spcBef>
                <a:spcPts val="0"/>
              </a:spcBef>
              <a:spcAft>
                <a:spcPts val="0"/>
              </a:spcAft>
            </a:pPr>
            <a:r>
              <a:rPr sz="2272" b="1" dirty="0" err="1">
                <a:solidFill>
                  <a:srgbClr val="212121"/>
                </a:solidFill>
                <a:latin typeface="Montserrat"/>
              </a:rPr>
              <a:t>modèles</a:t>
            </a:r>
            <a:endParaRPr sz="2272" b="1" dirty="0">
              <a:solidFill>
                <a:srgbClr val="212121"/>
              </a:solidFill>
              <a:latin typeface="Montserrat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71486" y="3333749"/>
            <a:ext cx="2286252" cy="2286000"/>
          </a:xfrm>
          <a:prstGeom prst="roundRect">
            <a:avLst>
              <a:gd name="adj" fmla="val 13333"/>
            </a:avLst>
          </a:prstGeom>
          <a:gradFill rotWithShape="1">
            <a:gsLst>
              <a:gs pos="0">
                <a:srgbClr val="4CAF50"/>
              </a:gs>
              <a:gs pos="100000">
                <a:srgbClr val="66BB6A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9604" y="3657600"/>
            <a:ext cx="390515" cy="3429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9604" y="4229100"/>
            <a:ext cx="2838379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650"/>
              </a:spcAft>
            </a:pPr>
            <a:r>
              <a:rPr sz="1076" b="1">
                <a:solidFill>
                  <a:srgbClr val="FFFFFF"/>
                </a:solidFill>
                <a:latin typeface="Montserrat"/>
              </a:rPr>
              <a:t>Random Forest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604" y="4581524"/>
            <a:ext cx="2838379" cy="8001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FFFFF"/>
                </a:solidFill>
                <a:latin typeface="Montserrat"/>
              </a:rPr>
              <a:t> </a:t>
            </a:r>
            <a:r>
              <a:rPr sz="837" b="1">
                <a:solidFill>
                  <a:srgbClr val="FFFFFF"/>
                </a:solidFill>
                <a:latin typeface="Montserrat"/>
              </a:rPr>
              <a:t>Meilleur modèle</a:t>
            </a:r>
            <a:r>
              <a:rPr sz="1104"/>
              <a:t>
</a:t>
            </a:r>
            <a:r>
              <a:rPr sz="837" b="0">
                <a:solidFill>
                  <a:srgbClr val="FFFFFF"/>
                </a:solidFill>
                <a:latin typeface="Montserrat"/>
              </a:rPr>
              <a:t> R² le plus élevé</a:t>
            </a:r>
            <a:r>
              <a:rPr sz="1104"/>
              <a:t>
</a:t>
            </a:r>
            <a:r>
              <a:rPr sz="837" b="0">
                <a:solidFill>
                  <a:srgbClr val="FFFFFF"/>
                </a:solidFill>
                <a:latin typeface="Montserrat"/>
              </a:rPr>
              <a:t> RMSE et MAE les plus faibles 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86045" y="0"/>
            <a:ext cx="8905650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334266" y="-1428750"/>
            <a:ext cx="3809904" cy="3809999"/>
          </a:xfrm>
          <a:prstGeom prst="roundRect">
            <a:avLst>
              <a:gd name="adj" fmla="val 50000"/>
            </a:avLst>
          </a:prstGeom>
          <a:solidFill>
            <a:srgbClr val="E3F2FD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452726" y="1428750"/>
            <a:ext cx="2819330" cy="4000500"/>
          </a:xfrm>
          <a:prstGeom prst="roundRect">
            <a:avLst>
              <a:gd name="adj" fmla="val 1038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37044" y="1515219"/>
            <a:ext cx="152396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65"/>
              </a:lnSpc>
              <a:spcBef>
                <a:spcPts val="0"/>
              </a:spcBef>
              <a:spcAft>
                <a:spcPts val="780"/>
              </a:spcAft>
            </a:pPr>
            <a:r>
              <a:rPr sz="837" b="1" dirty="0">
                <a:solidFill>
                  <a:srgbClr val="424242"/>
                </a:solidFill>
                <a:latin typeface="Montserrat"/>
              </a:rPr>
              <a:t>R²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44905" y="1885950"/>
            <a:ext cx="2584279" cy="2667000"/>
          </a:xfrm>
          <a:prstGeom prst="roundRect">
            <a:avLst/>
          </a:prstGeom>
          <a:blipFill>
            <a:blip r:embed="rId4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03657" y="4722911"/>
            <a:ext cx="1066773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170"/>
              </a:lnSpc>
              <a:spcBef>
                <a:spcPts val="650"/>
              </a:spcBef>
              <a:spcAft>
                <a:spcPts val="0"/>
              </a:spcAft>
            </a:pPr>
            <a:r>
              <a:rPr sz="717" b="0" dirty="0">
                <a:solidFill>
                  <a:srgbClr val="757575"/>
                </a:solidFill>
                <a:latin typeface="Montserrat"/>
              </a:rPr>
              <a:t>Plus </a:t>
            </a:r>
            <a:r>
              <a:rPr sz="717" b="0" dirty="0" err="1">
                <a:solidFill>
                  <a:srgbClr val="757575"/>
                </a:solidFill>
                <a:latin typeface="Montserrat"/>
              </a:rPr>
              <a:t>élevé</a:t>
            </a:r>
            <a:r>
              <a:rPr sz="717" b="0" dirty="0">
                <a:solidFill>
                  <a:srgbClr val="757575"/>
                </a:solidFill>
                <a:latin typeface="Montserrat"/>
              </a:rPr>
              <a:t> = </a:t>
            </a:r>
            <a:r>
              <a:rPr sz="717" b="0" dirty="0" err="1">
                <a:solidFill>
                  <a:srgbClr val="757575"/>
                </a:solidFill>
                <a:latin typeface="Montserrat"/>
              </a:rPr>
              <a:t>Mieux</a:t>
            </a:r>
            <a:endParaRPr sz="717" b="0" dirty="0">
              <a:solidFill>
                <a:srgbClr val="757575"/>
              </a:solidFill>
              <a:latin typeface="Montserrat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448264" y="1428750"/>
            <a:ext cx="2838377" cy="4000500"/>
          </a:xfrm>
          <a:prstGeom prst="roundRect">
            <a:avLst>
              <a:gd name="adj" fmla="val 1038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76939" y="1485582"/>
            <a:ext cx="866753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65"/>
              </a:lnSpc>
              <a:spcBef>
                <a:spcPts val="0"/>
              </a:spcBef>
              <a:spcAft>
                <a:spcPts val="780"/>
              </a:spcAft>
            </a:pPr>
            <a:r>
              <a:rPr sz="837" b="1" dirty="0">
                <a:solidFill>
                  <a:srgbClr val="424242"/>
                </a:solidFill>
                <a:latin typeface="Montserrat"/>
              </a:rPr>
              <a:t>RMSE (kWh)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53200" y="1885950"/>
            <a:ext cx="2590571" cy="2667000"/>
          </a:xfrm>
          <a:prstGeom prst="roundRect">
            <a:avLst/>
          </a:prstGeom>
          <a:blipFill>
            <a:blip r:embed="rId5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76939" y="4733925"/>
            <a:ext cx="962000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170"/>
              </a:lnSpc>
              <a:spcBef>
                <a:spcPts val="650"/>
              </a:spcBef>
              <a:spcAft>
                <a:spcPts val="0"/>
              </a:spcAft>
            </a:pPr>
            <a:r>
              <a:rPr sz="717" b="0" dirty="0">
                <a:solidFill>
                  <a:srgbClr val="757575"/>
                </a:solidFill>
                <a:latin typeface="Montserrat"/>
              </a:rPr>
              <a:t>Plus bas = </a:t>
            </a:r>
            <a:r>
              <a:rPr sz="717" b="0" dirty="0" err="1">
                <a:solidFill>
                  <a:srgbClr val="757575"/>
                </a:solidFill>
                <a:latin typeface="Montserrat"/>
              </a:rPr>
              <a:t>Mieux</a:t>
            </a:r>
            <a:endParaRPr sz="717" b="0" dirty="0">
              <a:solidFill>
                <a:srgbClr val="757575"/>
              </a:solidFill>
              <a:latin typeface="Montserrat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9419989" y="1428750"/>
            <a:ext cx="2650091" cy="4000500"/>
          </a:xfrm>
          <a:prstGeom prst="roundRect">
            <a:avLst>
              <a:gd name="adj" fmla="val 1038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277218" y="1585594"/>
            <a:ext cx="781030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65"/>
              </a:lnSpc>
              <a:spcBef>
                <a:spcPts val="0"/>
              </a:spcBef>
              <a:spcAft>
                <a:spcPts val="780"/>
              </a:spcAft>
            </a:pPr>
            <a:r>
              <a:rPr sz="837" b="1" dirty="0">
                <a:solidFill>
                  <a:srgbClr val="424242"/>
                </a:solidFill>
                <a:latin typeface="Montserrat"/>
              </a:rPr>
              <a:t>MAE (kWh)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62860" y="1885950"/>
            <a:ext cx="2354820" cy="2667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277218" y="4700586"/>
            <a:ext cx="962000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170"/>
              </a:lnSpc>
              <a:spcBef>
                <a:spcPts val="650"/>
              </a:spcBef>
              <a:spcAft>
                <a:spcPts val="0"/>
              </a:spcAft>
            </a:pPr>
            <a:r>
              <a:rPr sz="717" b="0" dirty="0">
                <a:solidFill>
                  <a:srgbClr val="757575"/>
                </a:solidFill>
                <a:latin typeface="Montserrat"/>
              </a:rPr>
              <a:t>Plus bas = </a:t>
            </a:r>
            <a:r>
              <a:rPr sz="717" b="0" dirty="0" err="1">
                <a:solidFill>
                  <a:srgbClr val="757575"/>
                </a:solidFill>
                <a:latin typeface="Montserrat"/>
              </a:rPr>
              <a:t>Mieux</a:t>
            </a:r>
            <a:endParaRPr sz="717" b="0" dirty="0">
              <a:solidFill>
                <a:srgbClr val="757575"/>
              </a:solidFill>
              <a:latin typeface="Montserrat"/>
            </a:endParaRPr>
          </a:p>
        </p:txBody>
      </p:sp>
      <p:sp>
        <p:nvSpPr>
          <p:cNvPr id="27" name="Espace réservé du numéro de diapositive 26">
            <a:extLst>
              <a:ext uri="{FF2B5EF4-FFF2-40B4-BE49-F238E27FC236}">
                <a16:creationId xmlns:a16="http://schemas.microsoft.com/office/drawing/2014/main" id="{DF6A61CD-6BDE-7BFF-04A5-156A84C34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19</a:t>
            </a:fld>
            <a:endParaRPr lang="en-US"/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3197E03E-96C5-BC72-0B52-13C1F4ED43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56156" y="2033586"/>
            <a:ext cx="2039603" cy="237172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70543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66733" y="1285875"/>
            <a:ext cx="57148" cy="666750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377" y="1285875"/>
            <a:ext cx="351463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4DB6AC"/>
                </a:solidFill>
                <a:latin typeface="Roboto Slab"/>
              </a:rPr>
              <a:t>MODEL SELECTION &amp;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571625"/>
            <a:ext cx="3514637" cy="7524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2152" b="1">
                <a:solidFill>
                  <a:srgbClr val="212121"/>
                </a:solidFill>
                <a:latin typeface="Montserrat"/>
              </a:rPr>
              <a:t>Prédiction et Choix</a:t>
            </a:r>
            <a:r>
              <a:rPr sz="1104"/>
              <a:t>
</a:t>
            </a:r>
            <a:r>
              <a:rPr sz="2152" b="1">
                <a:solidFill>
                  <a:srgbClr val="212121"/>
                </a:solidFill>
                <a:latin typeface="Montserrat"/>
              </a:rPr>
              <a:t>de Random Forest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33" y="2609850"/>
            <a:ext cx="5657708" cy="1028700"/>
          </a:xfrm>
          <a:prstGeom prst="roundRect">
            <a:avLst>
              <a:gd name="adj" fmla="val 22222"/>
            </a:avLst>
          </a:prstGeom>
          <a:gradFill rotWithShape="1">
            <a:gsLst>
              <a:gs pos="0">
                <a:srgbClr val="4CAF50"/>
              </a:gs>
              <a:gs pos="100000">
                <a:srgbClr val="66BB6A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7228" y="2838450"/>
            <a:ext cx="171445" cy="152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3921" y="2800350"/>
            <a:ext cx="131441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FFFFFF"/>
                </a:solidFill>
                <a:latin typeface="Montserrat"/>
              </a:rPr>
              <a:t>Meilleur modèle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7228" y="3105149"/>
            <a:ext cx="5276718" cy="3429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FFFFFF"/>
                </a:solidFill>
                <a:latin typeface="Montserrat"/>
              </a:rPr>
              <a:t> </a:t>
            </a:r>
            <a:r>
              <a:rPr sz="777" b="1">
                <a:solidFill>
                  <a:srgbClr val="FFFFFF"/>
                </a:solidFill>
                <a:latin typeface="Montserrat"/>
              </a:rPr>
              <a:t>Random Forest</a:t>
            </a:r>
            <a:r>
              <a:rPr sz="777" b="0">
                <a:solidFill>
                  <a:srgbClr val="FFFFFF"/>
                </a:solidFill>
                <a:latin typeface="Montserrat"/>
              </a:rPr>
              <a:t> sélectionné grâce aux meilleures performances : R² = 0.664, RMSE = 4.1 kWh, MAE = 3.18 kWh 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733" y="3886200"/>
            <a:ext cx="1809704" cy="761999"/>
          </a:xfrm>
          <a:prstGeom prst="roundRect">
            <a:avLst>
              <a:gd name="adj" fmla="val 20000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1030" y="4000500"/>
            <a:ext cx="1581110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390"/>
              </a:spcAft>
            </a:pPr>
            <a:r>
              <a:rPr sz="657" b="1">
                <a:solidFill>
                  <a:srgbClr val="757575"/>
                </a:solidFill>
                <a:latin typeface="Montserrat"/>
              </a:rPr>
              <a:t>R²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030" y="4210049"/>
            <a:ext cx="1581110" cy="3143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sz="1315" b="1">
                <a:solidFill>
                  <a:srgbClr val="42A5F5"/>
                </a:solidFill>
                <a:latin typeface="Montserrat"/>
              </a:rPr>
              <a:t>0.664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90735" y="3886200"/>
            <a:ext cx="1809704" cy="761999"/>
          </a:xfrm>
          <a:prstGeom prst="roundRect">
            <a:avLst>
              <a:gd name="adj" fmla="val 20000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05032" y="4000500"/>
            <a:ext cx="1581110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390"/>
              </a:spcAft>
            </a:pPr>
            <a:r>
              <a:rPr sz="657" b="1">
                <a:solidFill>
                  <a:srgbClr val="757575"/>
                </a:solidFill>
                <a:latin typeface="Montserrat"/>
              </a:rPr>
              <a:t>RMSE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05032" y="4210049"/>
            <a:ext cx="1581110" cy="31432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sz="1315" b="1">
                <a:solidFill>
                  <a:srgbClr val="42A5F5"/>
                </a:solidFill>
                <a:latin typeface="Montserrat"/>
              </a:rPr>
              <a:t>4.1</a:t>
            </a:r>
            <a:r>
              <a:rPr sz="717" b="1">
                <a:solidFill>
                  <a:srgbClr val="9E9E9E"/>
                </a:solidFill>
                <a:latin typeface="Montserrat"/>
              </a:rPr>
              <a:t>kWh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14737" y="3886200"/>
            <a:ext cx="1809704" cy="761999"/>
          </a:xfrm>
          <a:prstGeom prst="roundRect">
            <a:avLst>
              <a:gd name="adj" fmla="val 20000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29034" y="4000500"/>
            <a:ext cx="1581110" cy="1619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390"/>
              </a:spcAft>
            </a:pPr>
            <a:r>
              <a:rPr sz="657" b="1">
                <a:solidFill>
                  <a:srgbClr val="757575"/>
                </a:solidFill>
                <a:latin typeface="Montserrat"/>
              </a:rPr>
              <a:t>MAE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9034" y="4210049"/>
            <a:ext cx="1581110" cy="31432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sz="1315" b="1">
                <a:solidFill>
                  <a:srgbClr val="42A5F5"/>
                </a:solidFill>
                <a:latin typeface="Montserrat"/>
              </a:rPr>
              <a:t>3.18</a:t>
            </a:r>
            <a:r>
              <a:rPr sz="717" b="1">
                <a:solidFill>
                  <a:srgbClr val="9E9E9E"/>
                </a:solidFill>
                <a:latin typeface="Montserrat"/>
              </a:rPr>
              <a:t>kWh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6733" y="4829175"/>
            <a:ext cx="5657708" cy="742950"/>
          </a:xfrm>
          <a:prstGeom prst="roundRect">
            <a:avLst>
              <a:gd name="adj" fmla="val 20512"/>
            </a:avLst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 Same Side Corner Rectangle 19"/>
          <p:cNvSpPr/>
          <p:nvPr/>
        </p:nvSpPr>
        <p:spPr>
          <a:xfrm rot="16200000">
            <a:off x="377808" y="5118100"/>
            <a:ext cx="742950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57228" y="5076825"/>
            <a:ext cx="228594" cy="2286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00119" y="4972050"/>
            <a:ext cx="4981450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260"/>
              </a:spcAft>
            </a:pPr>
            <a:r>
              <a:rPr sz="777" b="1">
                <a:solidFill>
                  <a:srgbClr val="F57C00"/>
                </a:solidFill>
                <a:latin typeface="Montserrat"/>
              </a:rPr>
              <a:t>Marge d'erreur journalière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00119" y="5200650"/>
            <a:ext cx="4981450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424242"/>
                </a:solidFill>
                <a:latin typeface="Montserrat"/>
              </a:rPr>
              <a:t>RMSE = 4.1 kWh/jour ≈ 0.62€/jour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05432" y="0"/>
            <a:ext cx="5486262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9620009" y="-952499"/>
            <a:ext cx="3333666" cy="3333749"/>
          </a:xfrm>
          <a:prstGeom prst="roundRect">
            <a:avLst>
              <a:gd name="adj" fmla="val 50000"/>
            </a:avLst>
          </a:prstGeom>
          <a:solidFill>
            <a:srgbClr val="E3F2FD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181670" y="1000125"/>
            <a:ext cx="142871" cy="14287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419789" y="962024"/>
            <a:ext cx="2514537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97" b="1">
                <a:solidFill>
                  <a:srgbClr val="424242"/>
                </a:solidFill>
                <a:latin typeface="Montserrat"/>
              </a:rPr>
              <a:t>Distribution des erreurs (Résidus)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81670" y="1323974"/>
            <a:ext cx="4438539" cy="4572000"/>
          </a:xfrm>
          <a:prstGeom prst="roundRect">
            <a:avLst>
              <a:gd name="adj" fmla="val 515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7324541" y="1466849"/>
            <a:ext cx="4152796" cy="4286250"/>
          </a:xfrm>
          <a:prstGeom prst="roundRect">
            <a:avLst/>
          </a:prstGeom>
          <a:blipFill>
            <a:blip r:embed="rId6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067673" y="6362700"/>
            <a:ext cx="133346" cy="152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277218" y="6353174"/>
            <a:ext cx="1342991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757575"/>
                </a:solidFill>
                <a:latin typeface="Montserrat"/>
              </a:rPr>
              <a:t>ENERGY ANALYTICS</a:t>
            </a:r>
          </a:p>
        </p:txBody>
      </p:sp>
      <p:sp>
        <p:nvSpPr>
          <p:cNvPr id="32" name="Espace réservé du numéro de diapositive 31">
            <a:extLst>
              <a:ext uri="{FF2B5EF4-FFF2-40B4-BE49-F238E27FC236}">
                <a16:creationId xmlns:a16="http://schemas.microsoft.com/office/drawing/2014/main" id="{786D748D-C02A-0082-895F-81BE0BF98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876678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1980" y="2038349"/>
            <a:ext cx="57148" cy="714375"/>
          </a:xfrm>
          <a:prstGeom prst="roundRect">
            <a:avLst>
              <a:gd name="adj" fmla="val 100000"/>
            </a:avLst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28674" y="2038349"/>
            <a:ext cx="1485862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EF5350"/>
                </a:solidFill>
                <a:latin typeface="Roboto Slab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8674" y="2324100"/>
            <a:ext cx="1485862" cy="4191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212121"/>
                </a:solidFill>
                <a:latin typeface="Montserrat"/>
              </a:rPr>
              <a:t>Limites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1980" y="3467100"/>
            <a:ext cx="3638459" cy="1362075"/>
          </a:xfrm>
          <a:prstGeom prst="roundRect">
            <a:avLst>
              <a:gd name="adj" fmla="val 16783"/>
            </a:avLst>
          </a:prstGeom>
          <a:gradFill rotWithShape="1">
            <a:gsLst>
              <a:gs pos="0">
                <a:srgbClr val="FFEBEE"/>
              </a:gs>
              <a:gs pos="100000">
                <a:srgbClr val="FFCDD2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 Same Side Corner Rectangle 6"/>
          <p:cNvSpPr/>
          <p:nvPr/>
        </p:nvSpPr>
        <p:spPr>
          <a:xfrm rot="16200000">
            <a:off x="163493" y="4065587"/>
            <a:ext cx="136207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47723" y="3733799"/>
            <a:ext cx="142871" cy="1428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85842" y="3695699"/>
            <a:ext cx="1419189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97" b="1">
                <a:solidFill>
                  <a:srgbClr val="C62828"/>
                </a:solidFill>
                <a:latin typeface="Montserrat"/>
              </a:rPr>
              <a:t>Points de vigilance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23" y="4029075"/>
            <a:ext cx="3114597" cy="56197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Ces limitations doivent être prises en compte lors de l'application et l'interprétation des résultats du modèle.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76678" y="0"/>
            <a:ext cx="7315017" cy="6858000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620009" y="-952499"/>
            <a:ext cx="3333666" cy="3333749"/>
          </a:xfrm>
          <a:prstGeom prst="roundRect">
            <a:avLst>
              <a:gd name="adj" fmla="val 50000"/>
            </a:avLst>
          </a:prstGeom>
          <a:solidFill>
            <a:srgbClr val="FFEBEE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352916" y="1095374"/>
            <a:ext cx="2971725" cy="2162174"/>
          </a:xfrm>
          <a:prstGeom prst="roundRect">
            <a:avLst>
              <a:gd name="adj" fmla="val 1057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 Same Side Corner Rectangle 13"/>
          <p:cNvSpPr/>
          <p:nvPr/>
        </p:nvSpPr>
        <p:spPr>
          <a:xfrm rot="16200000">
            <a:off x="4354379" y="2093911"/>
            <a:ext cx="2162174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638659" y="1333500"/>
            <a:ext cx="476238" cy="47624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EF5350"/>
              </a:gs>
              <a:gs pos="100000">
                <a:srgbClr val="E53935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62480" y="1466849"/>
            <a:ext cx="238119" cy="20955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638659" y="1952624"/>
            <a:ext cx="2447863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650"/>
              </a:spcAft>
            </a:pPr>
            <a:r>
              <a:rPr sz="956" b="1">
                <a:solidFill>
                  <a:srgbClr val="212121"/>
                </a:solidFill>
                <a:latin typeface="Montserrat"/>
              </a:rPr>
              <a:t>Un seul foyer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38659" y="2276474"/>
            <a:ext cx="2447863" cy="56197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Modèle ajusté sur un logement à Sceaux. Pas de garantie de transfert à d'autres sites ou ménages.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53236" y="1095374"/>
            <a:ext cx="2971725" cy="2162174"/>
          </a:xfrm>
          <a:prstGeom prst="roundRect">
            <a:avLst>
              <a:gd name="adj" fmla="val 1057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 Same Side Corner Rectangle 19"/>
          <p:cNvSpPr/>
          <p:nvPr/>
        </p:nvSpPr>
        <p:spPr>
          <a:xfrm rot="16200000">
            <a:off x="7554699" y="2093911"/>
            <a:ext cx="2162174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838979" y="1333500"/>
            <a:ext cx="476238" cy="47624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EF5350"/>
              </a:gs>
              <a:gs pos="100000">
                <a:srgbClr val="E53935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991375" y="1466849"/>
            <a:ext cx="180970" cy="20955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838979" y="1952624"/>
            <a:ext cx="2447863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650"/>
              </a:spcAft>
            </a:pPr>
            <a:r>
              <a:rPr sz="956" b="1">
                <a:solidFill>
                  <a:srgbClr val="212121"/>
                </a:solidFill>
                <a:latin typeface="Montserrat"/>
              </a:rPr>
              <a:t>Variable décalée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38979" y="2276474"/>
            <a:ext cx="2447863" cy="7429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Utilisation de lag-1 nécessite la consommation de la veille. Prévision sans lag demanderait d'autres variables.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52916" y="3495675"/>
            <a:ext cx="2971725" cy="1981199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 Same Side Corner Rectangle 25"/>
          <p:cNvSpPr/>
          <p:nvPr/>
        </p:nvSpPr>
        <p:spPr>
          <a:xfrm rot="16200000">
            <a:off x="4444867" y="4403724"/>
            <a:ext cx="1981199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638659" y="3733799"/>
            <a:ext cx="476238" cy="47624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EF5350"/>
              </a:gs>
              <a:gs pos="100000">
                <a:srgbClr val="E53935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743431" y="3867149"/>
            <a:ext cx="266693" cy="20955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638659" y="4352924"/>
            <a:ext cx="2447863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650"/>
              </a:spcAft>
            </a:pPr>
            <a:r>
              <a:rPr sz="956" b="1">
                <a:solidFill>
                  <a:srgbClr val="212121"/>
                </a:solidFill>
                <a:latin typeface="Montserrat"/>
              </a:rPr>
              <a:t>API météo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38659" y="4676775"/>
            <a:ext cx="2447863" cy="56197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Données d'archive supposées correctes. Erreurs ou lacunes pourraient biaiser le modèle.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53236" y="3495675"/>
            <a:ext cx="2971725" cy="1981199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 Same Side Corner Rectangle 31"/>
          <p:cNvSpPr/>
          <p:nvPr/>
        </p:nvSpPr>
        <p:spPr>
          <a:xfrm rot="16200000">
            <a:off x="7645187" y="4403724"/>
            <a:ext cx="1981199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8838979" y="3733799"/>
            <a:ext cx="476238" cy="47624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EF5350"/>
              </a:gs>
              <a:gs pos="100000">
                <a:srgbClr val="E53935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962800" y="3867149"/>
            <a:ext cx="238119" cy="20955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838979" y="4352924"/>
            <a:ext cx="2447863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650"/>
              </a:spcAft>
            </a:pPr>
            <a:r>
              <a:rPr sz="956" b="1">
                <a:solidFill>
                  <a:srgbClr val="212121"/>
                </a:solidFill>
                <a:latin typeface="Montserrat"/>
              </a:rPr>
              <a:t>Aucune causalité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38979" y="4676775"/>
            <a:ext cx="2447863" cy="56197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Forte corrélation ne prouve pas la causalité. Facteurs non observés (présence) peuvent intervenir.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0067673" y="6362700"/>
            <a:ext cx="133346" cy="1524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77218" y="6353174"/>
            <a:ext cx="1342991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757575"/>
                </a:solidFill>
                <a:latin typeface="Montserrat"/>
              </a:rPr>
              <a:t>ENERGY ANALYTICS</a:t>
            </a:r>
          </a:p>
        </p:txBody>
      </p:sp>
      <p:sp>
        <p:nvSpPr>
          <p:cNvPr id="39" name="Espace réservé du numéro de diapositive 38">
            <a:extLst>
              <a:ext uri="{FF2B5EF4-FFF2-40B4-BE49-F238E27FC236}">
                <a16:creationId xmlns:a16="http://schemas.microsoft.com/office/drawing/2014/main" id="{C48F7175-0482-3C58-B064-D200BC253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26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66733" y="1819275"/>
            <a:ext cx="57148" cy="666750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377" y="1819275"/>
            <a:ext cx="3505112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4DB6AC"/>
                </a:solidFill>
                <a:latin typeface="Roboto Slab"/>
              </a:rPr>
              <a:t>PREDICTION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2105024"/>
            <a:ext cx="3505112" cy="4000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665"/>
              </a:lnSpc>
              <a:spcBef>
                <a:spcPts val="0"/>
              </a:spcBef>
              <a:spcAft>
                <a:spcPts val="0"/>
              </a:spcAft>
            </a:pPr>
            <a:r>
              <a:rPr sz="2272" b="1">
                <a:solidFill>
                  <a:srgbClr val="212121"/>
                </a:solidFill>
                <a:latin typeface="Montserrat"/>
              </a:rPr>
              <a:t>Test de Prédiction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33" y="2790824"/>
            <a:ext cx="4343291" cy="1971675"/>
          </a:xfrm>
          <a:prstGeom prst="roundRect">
            <a:avLst>
              <a:gd name="adj" fmla="val 11594"/>
            </a:avLst>
          </a:prstGeom>
          <a:gradFill rotWithShape="1">
            <a:gsLst>
              <a:gs pos="0">
                <a:srgbClr val="E3F2FD"/>
              </a:gs>
              <a:gs pos="100000">
                <a:srgbClr val="BBDEFB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7" name="Round Same Side Corner Rectangle 6"/>
          <p:cNvSpPr/>
          <p:nvPr/>
        </p:nvSpPr>
        <p:spPr>
          <a:xfrm rot="16200000">
            <a:off x="-236554" y="3694111"/>
            <a:ext cx="197167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2476" y="3057525"/>
            <a:ext cx="180970" cy="1428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28694" y="2998353"/>
            <a:ext cx="1180067" cy="28027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565C0"/>
                </a:solidFill>
                <a:latin typeface="Montserrat"/>
              </a:rPr>
              <a:t>Méthodologie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2476" y="3381375"/>
            <a:ext cx="266693" cy="26669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1" name="TextBox 10"/>
          <p:cNvSpPr txBox="1"/>
          <p:nvPr/>
        </p:nvSpPr>
        <p:spPr>
          <a:xfrm>
            <a:off x="952476" y="3375360"/>
            <a:ext cx="200632" cy="27873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2A5F5"/>
                </a:solidFill>
                <a:latin typeface="Montserrat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33466" y="3344281"/>
            <a:ext cx="3366563" cy="26468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24242"/>
                </a:solidFill>
                <a:latin typeface="Montserrat"/>
              </a:rPr>
              <a:t>Modèle Random Forest sélectionné (R² = 0.664)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7082" y="4016373"/>
            <a:ext cx="266693" cy="26669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7" name="TextBox 16"/>
          <p:cNvSpPr txBox="1"/>
          <p:nvPr/>
        </p:nvSpPr>
        <p:spPr>
          <a:xfrm>
            <a:off x="927082" y="4009589"/>
            <a:ext cx="231089" cy="28027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100" b="1" dirty="0">
                <a:solidFill>
                  <a:srgbClr val="42A5F5"/>
                </a:solidFill>
                <a:latin typeface="Montserrat"/>
              </a:rPr>
              <a:t>2</a:t>
            </a:r>
            <a:endParaRPr sz="1100" b="1" dirty="0">
              <a:solidFill>
                <a:srgbClr val="42A5F5"/>
              </a:solidFill>
              <a:latin typeface="Montserrat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308072" y="3992823"/>
            <a:ext cx="3172600" cy="41857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dirty="0">
                <a:solidFill>
                  <a:srgbClr val="424242"/>
                </a:solidFill>
                <a:latin typeface="Montserrat"/>
              </a:rPr>
              <a:t>Bootstrap : </a:t>
            </a:r>
            <a:r>
              <a:rPr sz="1050" b="0" dirty="0" err="1">
                <a:solidFill>
                  <a:srgbClr val="424242"/>
                </a:solidFill>
                <a:latin typeface="Montserrat"/>
              </a:rPr>
              <a:t>dernière</a:t>
            </a:r>
            <a:r>
              <a:rPr sz="1050" b="0" dirty="0">
                <a:solidFill>
                  <a:srgbClr val="424242"/>
                </a:solidFill>
                <a:latin typeface="Montserrat"/>
              </a:rPr>
              <a:t> </a:t>
            </a:r>
            <a:r>
              <a:rPr sz="1050" b="0" dirty="0" err="1">
                <a:solidFill>
                  <a:srgbClr val="424242"/>
                </a:solidFill>
                <a:latin typeface="Montserrat"/>
              </a:rPr>
              <a:t>consommation</a:t>
            </a:r>
            <a:r>
              <a:rPr sz="1050" b="0" dirty="0">
                <a:solidFill>
                  <a:srgbClr val="424242"/>
                </a:solidFill>
                <a:latin typeface="Montserrat"/>
              </a:rPr>
              <a:t> </a:t>
            </a:r>
            <a:r>
              <a:rPr sz="1050" b="0" dirty="0" err="1">
                <a:solidFill>
                  <a:srgbClr val="424242"/>
                </a:solidFill>
                <a:latin typeface="Montserrat"/>
              </a:rPr>
              <a:t>connue</a:t>
            </a:r>
            <a:r>
              <a:rPr sz="1050" b="0" dirty="0">
                <a:solidFill>
                  <a:srgbClr val="424242"/>
                </a:solidFill>
                <a:latin typeface="Montserrat"/>
              </a:rPr>
              <a:t> </a:t>
            </a:r>
            <a:endParaRPr lang="fr-FR" sz="1050" b="0" dirty="0">
              <a:solidFill>
                <a:srgbClr val="424242"/>
              </a:solidFill>
              <a:latin typeface="Montserrat"/>
            </a:endParaRPr>
          </a:p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dirty="0">
                <a:solidFill>
                  <a:srgbClr val="424242"/>
                </a:solidFill>
                <a:latin typeface="Montserrat"/>
              </a:rPr>
              <a:t>+ </a:t>
            </a:r>
            <a:r>
              <a:rPr sz="1050" b="0" dirty="0" err="1">
                <a:solidFill>
                  <a:srgbClr val="424242"/>
                </a:solidFill>
                <a:latin typeface="Montserrat"/>
              </a:rPr>
              <a:t>enchaînement</a:t>
            </a:r>
            <a:endParaRPr sz="1050" b="0" dirty="0">
              <a:solidFill>
                <a:srgbClr val="424242"/>
              </a:solidFill>
              <a:latin typeface="Montserrat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486262" y="0"/>
            <a:ext cx="6705432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620009" y="-952499"/>
            <a:ext cx="3333666" cy="3333749"/>
          </a:xfrm>
          <a:prstGeom prst="roundRect">
            <a:avLst>
              <a:gd name="adj" fmla="val 50000"/>
            </a:avLst>
          </a:prstGeom>
          <a:solidFill>
            <a:srgbClr val="E3F2FD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62500" y="781050"/>
            <a:ext cx="123821" cy="14287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181570" y="725083"/>
            <a:ext cx="2715743" cy="27385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97" b="1" dirty="0" err="1">
                <a:solidFill>
                  <a:srgbClr val="424242"/>
                </a:solidFill>
                <a:latin typeface="Montserrat"/>
              </a:rPr>
              <a:t>Prévisions</a:t>
            </a:r>
            <a:r>
              <a:rPr sz="897" b="1" dirty="0">
                <a:solidFill>
                  <a:srgbClr val="424242"/>
                </a:solidFill>
                <a:latin typeface="Montserrat"/>
              </a:rPr>
              <a:t> sur 7 </a:t>
            </a:r>
            <a:r>
              <a:rPr sz="897" b="1" dirty="0" err="1">
                <a:solidFill>
                  <a:srgbClr val="424242"/>
                </a:solidFill>
                <a:latin typeface="Montserrat"/>
              </a:rPr>
              <a:t>jours</a:t>
            </a:r>
            <a:r>
              <a:rPr sz="897" b="1" dirty="0">
                <a:solidFill>
                  <a:srgbClr val="424242"/>
                </a:solidFill>
                <a:latin typeface="Montserrat"/>
              </a:rPr>
              <a:t> (</a:t>
            </a:r>
            <a:r>
              <a:rPr lang="fr-FR" sz="897" b="1" dirty="0">
                <a:solidFill>
                  <a:srgbClr val="424242"/>
                </a:solidFill>
                <a:latin typeface="Montserrat"/>
              </a:rPr>
              <a:t>Lancé le 28-01-2026</a:t>
            </a:r>
            <a:r>
              <a:rPr sz="897" b="1" dirty="0">
                <a:solidFill>
                  <a:srgbClr val="424242"/>
                </a:solidFill>
                <a:latin typeface="Montserrat"/>
              </a:rPr>
              <a:t>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62500" y="1152524"/>
            <a:ext cx="5657708" cy="3838574"/>
          </a:xfrm>
          <a:prstGeom prst="roundRect">
            <a:avLst>
              <a:gd name="adj" fmla="val 5955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152996" y="1457325"/>
            <a:ext cx="307649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>
                <a:solidFill>
                  <a:srgbClr val="424242"/>
                </a:solidFill>
                <a:latin typeface="Montserrat"/>
              </a:rPr>
              <a:t>2026-01-29 (Jeudi)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365" y="1457325"/>
            <a:ext cx="205734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42A5F5"/>
                </a:solidFill>
                <a:latin typeface="Montserrat"/>
              </a:rPr>
              <a:t>28.42 kWh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2996" y="1952624"/>
            <a:ext cx="307649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>
                <a:solidFill>
                  <a:srgbClr val="424242"/>
                </a:solidFill>
                <a:latin typeface="Montserrat"/>
              </a:rPr>
              <a:t>2026-01-30 (Vendredi)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365" y="1952624"/>
            <a:ext cx="205734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42A5F5"/>
                </a:solidFill>
                <a:latin typeface="Montserrat"/>
              </a:rPr>
              <a:t>27.87 kWh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52996" y="2447924"/>
            <a:ext cx="307649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>
                <a:solidFill>
                  <a:srgbClr val="424242"/>
                </a:solidFill>
                <a:latin typeface="Montserrat"/>
              </a:rPr>
              <a:t>2026-01-31 (Samedi)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365" y="2447924"/>
            <a:ext cx="205734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42A5F5"/>
                </a:solidFill>
                <a:latin typeface="Montserrat"/>
              </a:rPr>
              <a:t>27.73 kWh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52996" y="2943225"/>
            <a:ext cx="307649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>
                <a:solidFill>
                  <a:srgbClr val="424242"/>
                </a:solidFill>
                <a:latin typeface="Montserrat"/>
              </a:rPr>
              <a:t>2026-02-01 (Dimanche)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365" y="2943225"/>
            <a:ext cx="205734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42A5F5"/>
                </a:solidFill>
                <a:latin typeface="Montserrat"/>
              </a:rPr>
              <a:t>27.95 kWh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52996" y="3438525"/>
            <a:ext cx="307649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>
                <a:solidFill>
                  <a:srgbClr val="424242"/>
                </a:solidFill>
                <a:latin typeface="Montserrat"/>
              </a:rPr>
              <a:t>2026-02-02 (Lundi)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72365" y="3438525"/>
            <a:ext cx="205734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42A5F5"/>
                </a:solidFill>
                <a:latin typeface="Montserrat"/>
              </a:rPr>
              <a:t>27.31 kWh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52996" y="3933824"/>
            <a:ext cx="307649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>
                <a:solidFill>
                  <a:srgbClr val="424242"/>
                </a:solidFill>
                <a:latin typeface="Montserrat"/>
              </a:rPr>
              <a:t>2026-02-03 (Mardi)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72365" y="3933824"/>
            <a:ext cx="205734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42A5F5"/>
                </a:solidFill>
                <a:latin typeface="Montserrat"/>
              </a:rPr>
              <a:t>27.01 kWh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52996" y="4429125"/>
            <a:ext cx="307649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>
                <a:solidFill>
                  <a:srgbClr val="424242"/>
                </a:solidFill>
                <a:latin typeface="Montserrat"/>
              </a:rPr>
              <a:t>2026-02-04 (Mercredi)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2365" y="4429125"/>
            <a:ext cx="2057348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42A5F5"/>
                </a:solidFill>
                <a:latin typeface="Montserrat"/>
              </a:rPr>
              <a:t>27.16 kWh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62500" y="5229225"/>
            <a:ext cx="1790655" cy="8762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33020">
            <a:solidFill>
              <a:srgbClr val="42A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133946" y="5438774"/>
            <a:ext cx="1447763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520"/>
              </a:spcAft>
            </a:pPr>
            <a:r>
              <a:rPr sz="717" b="1">
                <a:solidFill>
                  <a:srgbClr val="757575"/>
                </a:solidFill>
                <a:latin typeface="Montserrat"/>
              </a:rPr>
              <a:t>Moyenne Hebdo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33946" y="5686425"/>
            <a:ext cx="1447763" cy="24764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212121"/>
                </a:solidFill>
                <a:latin typeface="Montserrat"/>
              </a:rPr>
              <a:t>27.64</a:t>
            </a:r>
            <a:r>
              <a:rPr sz="837" b="1">
                <a:solidFill>
                  <a:srgbClr val="9E9E9E"/>
                </a:solidFill>
                <a:latin typeface="Montserrat"/>
              </a:rPr>
              <a:t>kWh/jour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96027" y="5229225"/>
            <a:ext cx="1790655" cy="8762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33020">
            <a:solidFill>
              <a:srgbClr val="42A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067473" y="5438774"/>
            <a:ext cx="1447763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520"/>
              </a:spcAft>
            </a:pPr>
            <a:r>
              <a:rPr sz="717" b="1">
                <a:solidFill>
                  <a:srgbClr val="757575"/>
                </a:solidFill>
                <a:latin typeface="Montserrat"/>
              </a:rPr>
              <a:t>Total Hebdo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67473" y="5686425"/>
            <a:ext cx="1447763" cy="24764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212121"/>
                </a:solidFill>
                <a:latin typeface="Montserrat"/>
              </a:rPr>
              <a:t>193.46</a:t>
            </a:r>
            <a:r>
              <a:rPr sz="837" b="1">
                <a:solidFill>
                  <a:srgbClr val="9E9E9E"/>
                </a:solidFill>
                <a:latin typeface="Montserrat"/>
              </a:rPr>
              <a:t>kWh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829554" y="5229225"/>
            <a:ext cx="1790655" cy="8762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33020">
            <a:solidFill>
              <a:srgbClr val="42A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000999" y="5438774"/>
            <a:ext cx="1447763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520"/>
              </a:spcAft>
            </a:pPr>
            <a:r>
              <a:rPr sz="717" b="1">
                <a:solidFill>
                  <a:srgbClr val="757575"/>
                </a:solidFill>
                <a:latin typeface="Montserrat"/>
              </a:rPr>
              <a:t>Erreur (RMSE)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00999" y="5686425"/>
            <a:ext cx="1447763" cy="24764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212121"/>
                </a:solidFill>
                <a:latin typeface="Montserrat"/>
              </a:rPr>
              <a:t>4.1</a:t>
            </a:r>
            <a:r>
              <a:rPr sz="837" b="1">
                <a:solidFill>
                  <a:srgbClr val="9E9E9E"/>
                </a:solidFill>
                <a:latin typeface="Montserrat"/>
              </a:rPr>
              <a:t>kWh/jour</a:t>
            </a:r>
          </a:p>
        </p:txBody>
      </p:sp>
      <p:sp>
        <p:nvSpPr>
          <p:cNvPr id="50" name="Espace réservé du numéro de diapositive 49">
            <a:extLst>
              <a:ext uri="{FF2B5EF4-FFF2-40B4-BE49-F238E27FC236}">
                <a16:creationId xmlns:a16="http://schemas.microsoft.com/office/drawing/2014/main" id="{D48A4268-18B4-330E-F809-BFF212439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876678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1980" y="1266824"/>
            <a:ext cx="0" cy="714375"/>
          </a:xfrm>
          <a:prstGeom prst="roundRect">
            <a:avLst>
              <a:gd name="adj" fmla="val 0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71525" y="1266824"/>
            <a:ext cx="3828954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4DB6AC"/>
                </a:solidFill>
                <a:latin typeface="Roboto Slab"/>
              </a:rPr>
              <a:t>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1525" y="1552574"/>
            <a:ext cx="3828954" cy="12573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212121"/>
                </a:solidFill>
                <a:latin typeface="Montserrat"/>
              </a:rPr>
              <a:t>Recommandations</a:t>
            </a:r>
            <a:r>
              <a:rPr sz="1104"/>
              <a:t>
</a:t>
            </a:r>
            <a:r>
              <a:rPr sz="2392" b="1">
                <a:solidFill>
                  <a:srgbClr val="212121"/>
                </a:solidFill>
                <a:latin typeface="Montserrat"/>
              </a:rPr>
              <a:t>&amp; Pistes d'amélioration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1980" y="3524250"/>
            <a:ext cx="3638459" cy="2076449"/>
          </a:xfrm>
          <a:prstGeom prst="roundRect">
            <a:avLst>
              <a:gd name="adj" fmla="val 14678"/>
            </a:avLst>
          </a:prstGeom>
          <a:gradFill rotWithShape="1">
            <a:gsLst>
              <a:gs pos="0">
                <a:srgbClr val="E0F2F1"/>
              </a:gs>
              <a:gs pos="100000">
                <a:srgbClr val="B2DFDB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47723" y="3809999"/>
            <a:ext cx="428614" cy="428625"/>
          </a:xfrm>
          <a:prstGeom prst="roundRect">
            <a:avLst>
              <a:gd name="adj" fmla="val 44444"/>
            </a:avLst>
          </a:prstGeom>
          <a:gradFill rotWithShape="1">
            <a:gsLst>
              <a:gs pos="0">
                <a:srgbClr val="4DB6AC"/>
              </a:gs>
              <a:gs pos="100000">
                <a:srgbClr val="26A69A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90595" y="3924299"/>
            <a:ext cx="142871" cy="1904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47723" y="4381499"/>
            <a:ext cx="3066973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520"/>
              </a:spcAft>
            </a:pPr>
            <a:r>
              <a:rPr sz="897" b="1">
                <a:solidFill>
                  <a:srgbClr val="212121"/>
                </a:solidFill>
                <a:latin typeface="Montserrat"/>
              </a:rPr>
              <a:t>Pistes de progression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23" y="4667249"/>
            <a:ext cx="3066973" cy="63817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004D40"/>
                </a:solidFill>
                <a:latin typeface="Montserrat"/>
              </a:rPr>
              <a:t>Quatre axes majeurs pour améliorer la précision du modèle et étendre son applicabilité opérationnelle.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76678" y="0"/>
            <a:ext cx="7315017" cy="685800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620009" y="-952499"/>
            <a:ext cx="3333666" cy="3333749"/>
          </a:xfrm>
          <a:prstGeom prst="roundRect">
            <a:avLst>
              <a:gd name="adj" fmla="val 50000"/>
            </a:avLst>
          </a:prstGeom>
          <a:solidFill>
            <a:srgbClr val="E0F2F1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352916" y="1333500"/>
            <a:ext cx="2990775" cy="1857375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 Same Side Corner Rectangle 13"/>
          <p:cNvSpPr/>
          <p:nvPr/>
        </p:nvSpPr>
        <p:spPr>
          <a:xfrm rot="16200000">
            <a:off x="4506779" y="2179637"/>
            <a:ext cx="185737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638659" y="1581149"/>
            <a:ext cx="428614" cy="428625"/>
          </a:xfrm>
          <a:prstGeom prst="roundRect">
            <a:avLst>
              <a:gd name="adj" fmla="val 44444"/>
            </a:avLst>
          </a:prstGeom>
          <a:gradFill rotWithShape="1">
            <a:gsLst>
              <a:gs pos="0">
                <a:srgbClr val="4DB6AC"/>
              </a:gs>
              <a:gs pos="100000">
                <a:srgbClr val="26A69A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52956" y="1695449"/>
            <a:ext cx="190495" cy="19049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638659" y="2152650"/>
            <a:ext cx="2466913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520"/>
              </a:spcAft>
            </a:pPr>
            <a:r>
              <a:rPr sz="897" b="1">
                <a:solidFill>
                  <a:srgbClr val="212121"/>
                </a:solidFill>
                <a:latin typeface="Montserrat"/>
              </a:rPr>
              <a:t>Granularité horaire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38659" y="2438400"/>
            <a:ext cx="2466913" cy="5143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16161"/>
                </a:solidFill>
                <a:latin typeface="Montserrat"/>
              </a:rPr>
              <a:t>Refaire l'analyse à l'heure avec météo horaire pour capturer les profils intra-journaliers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34186" y="1333500"/>
            <a:ext cx="2990775" cy="1857375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 Same Side Corner Rectangle 19"/>
          <p:cNvSpPr/>
          <p:nvPr/>
        </p:nvSpPr>
        <p:spPr>
          <a:xfrm rot="16200000">
            <a:off x="7688049" y="2179637"/>
            <a:ext cx="185737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819929" y="1581149"/>
            <a:ext cx="428614" cy="428625"/>
          </a:xfrm>
          <a:prstGeom prst="roundRect">
            <a:avLst>
              <a:gd name="adj" fmla="val 44444"/>
            </a:avLst>
          </a:prstGeom>
          <a:gradFill rotWithShape="1">
            <a:gsLst>
              <a:gs pos="0">
                <a:srgbClr val="4DB6AC"/>
              </a:gs>
              <a:gs pos="100000">
                <a:srgbClr val="26A69A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934226" y="1695449"/>
            <a:ext cx="190495" cy="19049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819929" y="2152650"/>
            <a:ext cx="2466913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520"/>
              </a:spcAft>
            </a:pPr>
            <a:r>
              <a:rPr sz="897" b="1">
                <a:solidFill>
                  <a:srgbClr val="212121"/>
                </a:solidFill>
                <a:latin typeface="Montserrat"/>
              </a:rPr>
              <a:t>Hyperparamètres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19929" y="2438400"/>
            <a:ext cx="2466913" cy="3429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16161"/>
                </a:solidFill>
                <a:latin typeface="Montserrat"/>
              </a:rPr>
              <a:t>Tuner le RF ou GBoost par validation croisée temporelle (TimeSeriesSplit)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52916" y="3381375"/>
            <a:ext cx="2990775" cy="1857375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 Same Side Corner Rectangle 25"/>
          <p:cNvSpPr/>
          <p:nvPr/>
        </p:nvSpPr>
        <p:spPr>
          <a:xfrm rot="16200000">
            <a:off x="4506779" y="4227512"/>
            <a:ext cx="185737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638659" y="3619499"/>
            <a:ext cx="428614" cy="428625"/>
          </a:xfrm>
          <a:prstGeom prst="roundRect">
            <a:avLst>
              <a:gd name="adj" fmla="val 44444"/>
            </a:avLst>
          </a:prstGeom>
          <a:gradFill rotWithShape="1">
            <a:gsLst>
              <a:gs pos="0">
                <a:srgbClr val="4DB6AC"/>
              </a:gs>
              <a:gs pos="100000">
                <a:srgbClr val="26A69A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752956" y="3733799"/>
            <a:ext cx="190495" cy="19049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638659" y="4190999"/>
            <a:ext cx="2466913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520"/>
              </a:spcAft>
            </a:pPr>
            <a:r>
              <a:rPr sz="897" b="1">
                <a:solidFill>
                  <a:srgbClr val="212121"/>
                </a:solidFill>
                <a:latin typeface="Montserrat"/>
              </a:rPr>
              <a:t>Interprétabilité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38659" y="4476750"/>
            <a:ext cx="2466913" cy="5143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16161"/>
                </a:solidFill>
                <a:latin typeface="Montserrat"/>
              </a:rPr>
              <a:t>SHAP ou courbes de dépendance partielle pour clarifier l'effet du DJU, lag et week-end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34186" y="3381375"/>
            <a:ext cx="2990775" cy="1857375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 Same Side Corner Rectangle 31"/>
          <p:cNvSpPr/>
          <p:nvPr/>
        </p:nvSpPr>
        <p:spPr>
          <a:xfrm rot="16200000">
            <a:off x="7688049" y="4227512"/>
            <a:ext cx="185737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8819929" y="3619499"/>
            <a:ext cx="428614" cy="428625"/>
          </a:xfrm>
          <a:prstGeom prst="roundRect">
            <a:avLst>
              <a:gd name="adj" fmla="val 44444"/>
            </a:avLst>
          </a:prstGeom>
          <a:gradFill rotWithShape="1">
            <a:gsLst>
              <a:gs pos="0">
                <a:srgbClr val="4DB6AC"/>
              </a:gs>
              <a:gs pos="100000">
                <a:srgbClr val="26A69A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915177" y="3733799"/>
            <a:ext cx="238119" cy="19049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819929" y="4190999"/>
            <a:ext cx="2466913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520"/>
              </a:spcAft>
            </a:pPr>
            <a:r>
              <a:rPr sz="897" b="1">
                <a:solidFill>
                  <a:srgbClr val="212121"/>
                </a:solidFill>
                <a:latin typeface="Montserrat"/>
              </a:rPr>
              <a:t>Usage opérationnel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19929" y="4476750"/>
            <a:ext cx="2466913" cy="5143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616161"/>
                </a:solidFill>
                <a:latin typeface="Montserrat"/>
              </a:rPr>
              <a:t>Entraîner modèle sans lag (météo + calendrier) pour prévisions sans consommation de la veille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0067673" y="6362700"/>
            <a:ext cx="133346" cy="1524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77218" y="6353174"/>
            <a:ext cx="1342991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757575"/>
                </a:solidFill>
                <a:latin typeface="Montserrat"/>
              </a:rPr>
              <a:t>ENERGY ANALYTICS</a:t>
            </a:r>
          </a:p>
        </p:txBody>
      </p:sp>
      <p:sp>
        <p:nvSpPr>
          <p:cNvPr id="39" name="Espace réservé du numéro de diapositive 38">
            <a:extLst>
              <a:ext uri="{FF2B5EF4-FFF2-40B4-BE49-F238E27FC236}">
                <a16:creationId xmlns:a16="http://schemas.microsoft.com/office/drawing/2014/main" id="{CADE58F4-78F0-5E06-E714-A31982BE7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876678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1980" y="1609724"/>
            <a:ext cx="57148" cy="666750"/>
          </a:xfrm>
          <a:prstGeom prst="roundRect">
            <a:avLst>
              <a:gd name="adj" fmla="val 10000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28674" y="1609724"/>
            <a:ext cx="2247843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390"/>
              </a:spcAft>
            </a:pPr>
            <a:r>
              <a:rPr sz="956" b="0">
                <a:solidFill>
                  <a:srgbClr val="4DB6AC"/>
                </a:solidFill>
                <a:latin typeface="Roboto Slab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8674" y="1895474"/>
            <a:ext cx="2247843" cy="4191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212121"/>
                </a:solidFill>
                <a:latin typeface="Montserrat"/>
              </a:rPr>
              <a:t>Conclusion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1980" y="2981325"/>
            <a:ext cx="3638459" cy="2266950"/>
          </a:xfrm>
          <a:prstGeom prst="roundRect">
            <a:avLst>
              <a:gd name="adj" fmla="val 13445"/>
            </a:avLst>
          </a:prstGeom>
          <a:gradFill rotWithShape="1">
            <a:gsLst>
              <a:gs pos="0">
                <a:srgbClr val="4CAF50"/>
              </a:gs>
              <a:gs pos="100000">
                <a:srgbClr val="66BB6A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47723" y="3352800"/>
            <a:ext cx="380990" cy="38099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47723" y="3981449"/>
            <a:ext cx="3066973" cy="3143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1300"/>
              </a:spcAft>
            </a:pPr>
            <a:r>
              <a:rPr sz="1315" b="1">
                <a:solidFill>
                  <a:srgbClr val="FFFFFF"/>
                </a:solidFill>
                <a:latin typeface="Montserrat"/>
              </a:rPr>
              <a:t>Random Forest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23" y="4486275"/>
            <a:ext cx="923901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520"/>
              </a:spcAft>
            </a:pPr>
            <a:r>
              <a:rPr sz="717" b="1">
                <a:solidFill>
                  <a:srgbClr val="FFFFFF"/>
                </a:solidFill>
                <a:latin typeface="Montserrat"/>
              </a:rPr>
              <a:t>R²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23" y="4733925"/>
            <a:ext cx="92390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FFFFFF"/>
                </a:solidFill>
                <a:latin typeface="Montserrat"/>
              </a:rPr>
              <a:t>0.664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14497" y="4486275"/>
            <a:ext cx="923901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520"/>
              </a:spcAft>
            </a:pPr>
            <a:r>
              <a:rPr sz="717" b="1">
                <a:solidFill>
                  <a:srgbClr val="FFFFFF"/>
                </a:solidFill>
                <a:latin typeface="Montserrat"/>
              </a:rPr>
              <a:t>RMSE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14497" y="4733925"/>
            <a:ext cx="92390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FFFFFF"/>
                </a:solidFill>
                <a:latin typeface="Montserrat"/>
              </a:rPr>
              <a:t>4.1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90795" y="4486275"/>
            <a:ext cx="923901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520"/>
              </a:spcAft>
            </a:pPr>
            <a:r>
              <a:rPr sz="717" b="1">
                <a:solidFill>
                  <a:srgbClr val="FFFFFF"/>
                </a:solidFill>
                <a:latin typeface="Montserrat"/>
              </a:rPr>
              <a:t>MAE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90795" y="4733925"/>
            <a:ext cx="92390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FFFFFF"/>
                </a:solidFill>
                <a:latin typeface="Montserrat"/>
              </a:rPr>
              <a:t>3.18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6678" y="0"/>
            <a:ext cx="7315017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620009" y="-952499"/>
            <a:ext cx="3333666" cy="3333749"/>
          </a:xfrm>
          <a:prstGeom prst="roundRect">
            <a:avLst>
              <a:gd name="adj" fmla="val 50000"/>
            </a:avLst>
          </a:prstGeom>
          <a:solidFill>
            <a:srgbClr val="E3F2FD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352916" y="1095374"/>
            <a:ext cx="2990775" cy="1571625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 Same Side Corner Rectangle 17"/>
          <p:cNvSpPr/>
          <p:nvPr/>
        </p:nvSpPr>
        <p:spPr>
          <a:xfrm rot="16200000">
            <a:off x="4649654" y="1798636"/>
            <a:ext cx="157162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10084" y="1352549"/>
            <a:ext cx="219069" cy="24764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10084" y="1790700"/>
            <a:ext cx="2524061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520"/>
              </a:spcAft>
            </a:pPr>
            <a:r>
              <a:rPr sz="897" b="1">
                <a:solidFill>
                  <a:srgbClr val="212121"/>
                </a:solidFill>
                <a:latin typeface="Montserrat"/>
              </a:rPr>
              <a:t>Données fusionnées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10084" y="2076449"/>
            <a:ext cx="2524061" cy="37147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Collecte + Météo (Open-Meteo) + Calendrier (jours fériés, week-end)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34186" y="1095374"/>
            <a:ext cx="2990775" cy="1571625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 Same Side Corner Rectangle 22"/>
          <p:cNvSpPr/>
          <p:nvPr/>
        </p:nvSpPr>
        <p:spPr>
          <a:xfrm rot="16200000">
            <a:off x="7830924" y="1798636"/>
            <a:ext cx="1571625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791355" y="1352549"/>
            <a:ext cx="190495" cy="247649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791355" y="1790700"/>
            <a:ext cx="2524061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520"/>
              </a:spcAft>
            </a:pPr>
            <a:r>
              <a:rPr sz="897" b="1">
                <a:solidFill>
                  <a:srgbClr val="212121"/>
                </a:solidFill>
                <a:latin typeface="Montserrat"/>
              </a:rPr>
              <a:t>Hypothèse validée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91355" y="2076449"/>
            <a:ext cx="2524061" cy="37147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Température pas le seul facteur • Pics = Week-ends en hiver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52916" y="2847974"/>
            <a:ext cx="2990775" cy="1752599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 Same Side Corner Rectangle 27"/>
          <p:cNvSpPr/>
          <p:nvPr/>
        </p:nvSpPr>
        <p:spPr>
          <a:xfrm rot="16200000">
            <a:off x="4559167" y="3641723"/>
            <a:ext cx="1752599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10084" y="3105149"/>
            <a:ext cx="276218" cy="247649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610084" y="3543300"/>
            <a:ext cx="2524061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520"/>
              </a:spcAft>
            </a:pPr>
            <a:r>
              <a:rPr sz="897" b="1">
                <a:solidFill>
                  <a:srgbClr val="212121"/>
                </a:solidFill>
                <a:latin typeface="Montserrat"/>
              </a:rPr>
              <a:t>Variables dérivées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10084" y="3838574"/>
            <a:ext cx="2524061" cy="37147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DJU (18°C) • Lag-1 • Mois cyclique (sin/cos) • Filtrage des outliers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34186" y="2847974"/>
            <a:ext cx="2990775" cy="1752599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 Same Side Corner Rectangle 32"/>
          <p:cNvSpPr/>
          <p:nvPr/>
        </p:nvSpPr>
        <p:spPr>
          <a:xfrm rot="16200000">
            <a:off x="7740437" y="3641723"/>
            <a:ext cx="1752599" cy="165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791355" y="3105149"/>
            <a:ext cx="247643" cy="24764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791355" y="3543300"/>
            <a:ext cx="2524061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520"/>
              </a:spcAft>
            </a:pPr>
            <a:r>
              <a:rPr sz="897" b="1">
                <a:solidFill>
                  <a:srgbClr val="212121"/>
                </a:solidFill>
                <a:latin typeface="Montserrat"/>
              </a:rPr>
              <a:t>Comparaison modèles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91355" y="3838574"/>
            <a:ext cx="2524061" cy="56197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616161"/>
                </a:solidFill>
                <a:latin typeface="Montserrat"/>
              </a:rPr>
              <a:t>Random Forest sélectionné • Performance optimale sur R², RMSE, MAE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352916" y="4886325"/>
            <a:ext cx="6172045" cy="876299"/>
          </a:xfrm>
          <a:prstGeom prst="roundRect">
            <a:avLst>
              <a:gd name="adj" fmla="val 26086"/>
            </a:avLst>
          </a:prstGeom>
          <a:gradFill rotWithShape="1">
            <a:gsLst>
              <a:gs pos="0">
                <a:srgbClr val="42A5F5"/>
              </a:gs>
              <a:gs pos="100000">
                <a:srgbClr val="2196F3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619609" y="5162550"/>
            <a:ext cx="266693" cy="3048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029174" y="5124449"/>
            <a:ext cx="5229094" cy="4000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37" b="1">
                <a:solidFill>
                  <a:srgbClr val="FFFFFF"/>
                </a:solidFill>
                <a:latin typeface="Montserrat"/>
              </a:rPr>
              <a:t>Modèle Random Forest précis à 4.1 kWh/jour (≈0.62€/jour) pour la prévision de consommation électrique journalière.</a:t>
            </a: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10067673" y="6362700"/>
            <a:ext cx="133346" cy="1524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277218" y="6353174"/>
            <a:ext cx="1342991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717" b="1">
                <a:solidFill>
                  <a:srgbClr val="757575"/>
                </a:solidFill>
                <a:latin typeface="Montserrat"/>
              </a:rPr>
              <a:t>ENERGY ANALYTICS</a:t>
            </a:r>
          </a:p>
        </p:txBody>
      </p:sp>
      <p:sp>
        <p:nvSpPr>
          <p:cNvPr id="42" name="Espace réservé du numéro de diapositive 41">
            <a:extLst>
              <a:ext uri="{FF2B5EF4-FFF2-40B4-BE49-F238E27FC236}">
                <a16:creationId xmlns:a16="http://schemas.microsoft.com/office/drawing/2014/main" id="{AFD0660F-3EE2-28E6-5076-6E9619B78B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</TotalTime>
  <Words>2038</Words>
  <Application>Microsoft Office PowerPoint</Application>
  <PresentationFormat>Grand écran</PresentationFormat>
  <Paragraphs>509</Paragraphs>
  <Slides>24</Slides>
  <Notes>24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24</vt:i4>
      </vt:variant>
    </vt:vector>
  </HeadingPairs>
  <TitlesOfParts>
    <vt:vector size="30" baseType="lpstr">
      <vt:lpstr>Arial</vt:lpstr>
      <vt:lpstr>Calibri</vt:lpstr>
      <vt:lpstr>Courier New</vt:lpstr>
      <vt:lpstr>Montserrat</vt:lpstr>
      <vt:lpstr>Roboto Slab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>MANI Mohammed Adil</dc:creator>
  <cp:keywords/>
  <dc:description>generated using python-pptx</dc:description>
  <cp:lastModifiedBy>Mani Mohammed Adil</cp:lastModifiedBy>
  <cp:revision>5</cp:revision>
  <dcterms:created xsi:type="dcterms:W3CDTF">2013-01-27T09:14:16Z</dcterms:created>
  <dcterms:modified xsi:type="dcterms:W3CDTF">2026-01-30T22:44:51Z</dcterms:modified>
  <cp:category/>
</cp:coreProperties>
</file>